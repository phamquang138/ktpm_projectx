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F9CC0B-2BBD-4AEE-844D-A7EE5F107D98}" type="datetimeFigureOut">
              <a:rPr lang="vi-VN" smtClean="0"/>
              <a:t>15/06/2026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16127-16DC-408A-8ADC-9649C82A6CDB}" type="slidenum">
              <a:rPr lang="vi-VN" smtClean="0"/>
              <a:t>‹#›</a:t>
            </a:fld>
            <a:endParaRPr lang="vi-VN"/>
          </a:p>
        </p:txBody>
      </p:sp>
    </p:spTree>
    <p:extLst>
      <p:ext uri="{BB962C8B-B14F-4D97-AF65-F5344CB8AC3E}">
        <p14:creationId xmlns:p14="http://schemas.microsoft.com/office/powerpoint/2010/main" val="3036324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Xin chào thầy cô và các bạn. Hôm nay nhóm trình bày về CarHub Garage, một nền tảng dành cho cộng đồng yêu ô tô nhưng không chỉ dừng ở việc đăng bài hay rao bán xe.</a:t>
            </a:r>
          </a:p>
          <a:p>
            <a:endParaRPr lang="vi-VN"/>
          </a:p>
          <a:p>
            <a:r>
              <a:rPr lang="vi-VN"/>
              <a:t>Ý tưởng chính của nhóm là gom những hoạt động vốn đang rời rạc vào một hành trình thống nhất: người dùng có thể xây dựng hồ sơ, chia sẻ kinh nghiệm, quản lý xe đang sở hữu, tạo tin bán, tìm xe theo nhu cầu và trao đổi trực tiếp với người bán.</a:t>
            </a:r>
          </a:p>
          <a:p>
            <a:endParaRPr lang="vi-VN"/>
          </a:p>
          <a:p>
            <a:r>
              <a:rPr lang="vi-VN"/>
              <a:t>Trong phần trình bày, nhóm sẽ đi từ bài toán, chức năng, kiến trúc, dữ liệu, AI, bảo mật cho tới triển khai thực tế. Cuối cùng, nhóm sẽ tổng kết những gì hệ thống đã hoàn thành và hướng phát triển tiếp theo.</a:t>
            </a:r>
          </a:p>
        </p:txBody>
      </p:sp>
      <p:sp>
        <p:nvSpPr>
          <p:cNvPr id="4" name="Slide Number Placeholder 3"/>
          <p:cNvSpPr>
            <a:spLocks noGrp="1"/>
          </p:cNvSpPr>
          <p:nvPr>
            <p:ph type="sldNum" sz="quarter" idx="5"/>
          </p:nvPr>
        </p:nvSpPr>
        <p:spPr/>
        <p:txBody>
          <a:bodyPr/>
          <a:lstStyle/>
          <a:p>
            <a:fld id="{AA616127-16DC-408A-8ADC-9649C82A6CDB}" type="slidenum">
              <a:rPr lang="vi-VN" smtClean="0"/>
              <a:t>1</a:t>
            </a:fld>
            <a:endParaRPr lang="vi-VN"/>
          </a:p>
        </p:txBody>
      </p:sp>
    </p:spTree>
    <p:extLst>
      <p:ext uri="{BB962C8B-B14F-4D97-AF65-F5344CB8AC3E}">
        <p14:creationId xmlns:p14="http://schemas.microsoft.com/office/powerpoint/2010/main" val="1402918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Để phần trình bày dễ theo dõi, nhóm chia nội dung thành sáu phần. Phần đầu tiên là bài toán và tầm nhìn, tức là lý do CarHub được xây dựng và khoảng trống mà sản phẩm muốn giải quyết.</a:t>
            </a:r>
          </a:p>
          <a:p>
            <a:endParaRPr lang="vi-VN"/>
          </a:p>
          <a:p>
            <a:r>
              <a:rPr lang="vi-VN"/>
              <a:t>Sau đó nhóm đi vào các tác nhân và nghiệp vụ chính. Đây là phần giúp nhìn hệ thống từ góc độ người dùng trước khi đi sâu vào giao diện và công nghệ.</a:t>
            </a:r>
          </a:p>
          <a:p>
            <a:endParaRPr lang="vi-VN"/>
          </a:p>
          <a:p>
            <a:r>
              <a:rPr lang="vi-VN"/>
              <a:t>Ba phần tiếp theo tập trung vào trải nghiệm sản phẩm, kiến trúc dữ liệu, AI, bảo mật và triển khai. Phần cuối cùng là kết quả đạt được, hạn chế còn lại và định hướng phát triển. Mạch trình bày này đi từ “tại sao” tới “làm gì”, rồi mới tới “làm như thế nào”.</a:t>
            </a:r>
          </a:p>
        </p:txBody>
      </p:sp>
      <p:sp>
        <p:nvSpPr>
          <p:cNvPr id="4" name="Slide Number Placeholder 3"/>
          <p:cNvSpPr>
            <a:spLocks noGrp="1"/>
          </p:cNvSpPr>
          <p:nvPr>
            <p:ph type="sldNum" sz="quarter" idx="5"/>
          </p:nvPr>
        </p:nvSpPr>
        <p:spPr/>
        <p:txBody>
          <a:bodyPr/>
          <a:lstStyle/>
          <a:p>
            <a:fld id="{AA616127-16DC-408A-8ADC-9649C82A6CDB}" type="slidenum">
              <a:rPr lang="vi-VN" smtClean="0"/>
              <a:t>2</a:t>
            </a:fld>
            <a:endParaRPr lang="vi-VN"/>
          </a:p>
        </p:txBody>
      </p:sp>
    </p:spTree>
    <p:extLst>
      <p:ext uri="{BB962C8B-B14F-4D97-AF65-F5344CB8AC3E}">
        <p14:creationId xmlns:p14="http://schemas.microsoft.com/office/powerpoint/2010/main" val="2300058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bắt đầu từ ba vấn đề khá rõ trong trải nghiệm hiện nay. Thứ nhất, nội dung cộng đồng thường đứng riêng. Một người có thể viết bài rất hay nhưng người đọc khó biết họ đang sở hữu xe gì, có hoạt động lâu dài hay không và mức độ uy tín ra sao.</a:t>
            </a:r>
          </a:p>
          <a:p>
            <a:endParaRPr lang="vi-VN"/>
          </a:p>
          <a:p>
            <a:r>
              <a:rPr lang="vi-VN"/>
              <a:t>Thứ hai, chợ xe thường chỉ tập trung vào tin đăng. Người mua nhìn thấy chiếc xe nhưng thiếu bối cảnh về người bán, lịch sử tương tác và kết nối cộng đồng.</a:t>
            </a:r>
          </a:p>
          <a:p>
            <a:endParaRPr lang="vi-VN"/>
          </a:p>
          <a:p>
            <a:r>
              <a:rPr lang="vi-VN"/>
              <a:t>Thứ ba, tìm kiếm xe vẫn dựa nhiều vào bộ lọc cứng. Người dùng mới đôi khi chỉ biết rằng mình cần xe gia đình khoảng một tỷ đồng, chứ chưa biết phải chọn SUV, MPV hay mẫu xe cụ thể. CarHub nối ba mảnh này lại để tạo trải nghiệm tự nhiên hơn.</a:t>
            </a:r>
          </a:p>
        </p:txBody>
      </p:sp>
      <p:sp>
        <p:nvSpPr>
          <p:cNvPr id="4" name="Slide Number Placeholder 3"/>
          <p:cNvSpPr>
            <a:spLocks noGrp="1"/>
          </p:cNvSpPr>
          <p:nvPr>
            <p:ph type="sldNum" sz="quarter" idx="5"/>
          </p:nvPr>
        </p:nvSpPr>
        <p:spPr/>
        <p:txBody>
          <a:bodyPr/>
          <a:lstStyle/>
          <a:p>
            <a:fld id="{AA616127-16DC-408A-8ADC-9649C82A6CDB}" type="slidenum">
              <a:rPr lang="vi-VN" smtClean="0"/>
              <a:t>3</a:t>
            </a:fld>
            <a:endParaRPr lang="vi-VN"/>
          </a:p>
        </p:txBody>
      </p:sp>
    </p:spTree>
    <p:extLst>
      <p:ext uri="{BB962C8B-B14F-4D97-AF65-F5344CB8AC3E}">
        <p14:creationId xmlns:p14="http://schemas.microsoft.com/office/powerpoint/2010/main" val="2114884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Tầm nhìn của CarHub là tạo ra một hành trình xuyên suốt. Người dùng không cần một ứng dụng để đọc bài, một nơi khác để lưu xe và thêm một nền tảng khác để bán xe.</a:t>
            </a:r>
          </a:p>
          <a:p>
            <a:endParaRPr lang="vi-VN"/>
          </a:p>
          <a:p>
            <a:r>
              <a:rPr lang="vi-VN"/>
              <a:t>Hành trình bắt đầu từ khám phá nội dung. Khi tương tác lâu dài, người dùng xây dựng được hồ sơ, quan hệ theo dõi và đánh giá. Sau đó Garage trở thành nơi quản lý các xe đang sở hữu. Khi có nhu cầu bán, tin Marketplace được tạo trực tiếp từ chiếc xe đó, không phải nhập lại toàn bộ dữ liệu.</a:t>
            </a:r>
          </a:p>
          <a:p>
            <a:endParaRPr lang="vi-VN"/>
          </a:p>
          <a:p>
            <a:r>
              <a:rPr lang="vi-VN"/>
              <a:t>Ở chiều ngược lại, người mua có thể xem tin xe, đánh giá người bán, trò chuyện theo đúng listing và tiếp tục theo dõi nhau trong cộng đồng. Đây chính là vòng lặp giá trị mà nhóm muốn xây dựng.</a:t>
            </a:r>
          </a:p>
        </p:txBody>
      </p:sp>
      <p:sp>
        <p:nvSpPr>
          <p:cNvPr id="4" name="Slide Number Placeholder 3"/>
          <p:cNvSpPr>
            <a:spLocks noGrp="1"/>
          </p:cNvSpPr>
          <p:nvPr>
            <p:ph type="sldNum" sz="quarter" idx="5"/>
          </p:nvPr>
        </p:nvSpPr>
        <p:spPr/>
        <p:txBody>
          <a:bodyPr/>
          <a:lstStyle/>
          <a:p>
            <a:fld id="{AA616127-16DC-408A-8ADC-9649C82A6CDB}" type="slidenum">
              <a:rPr lang="vi-VN" smtClean="0"/>
              <a:t>4</a:t>
            </a:fld>
            <a:endParaRPr lang="vi-VN"/>
          </a:p>
        </p:txBody>
      </p:sp>
    </p:spTree>
    <p:extLst>
      <p:ext uri="{BB962C8B-B14F-4D97-AF65-F5344CB8AC3E}">
        <p14:creationId xmlns:p14="http://schemas.microsoft.com/office/powerpoint/2010/main" val="3062323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Hệ thống có ba nhóm tác nhân chính. Khách được phép xem các nội dung công khai như bài cộng đồng, chuyên đề và tin xe. Những thao tác có ghi dữ liệu hoặc liên quan tới cá nhân sẽ yêu cầu đăng nhập.</a:t>
            </a:r>
          </a:p>
          <a:p>
            <a:endParaRPr lang="vi-VN"/>
          </a:p>
          <a:p>
            <a:r>
              <a:rPr lang="vi-VN"/>
              <a:t>Thành viên là nhóm sử dụng đầy đủ sản phẩm: đăng bài, quản lý Garage, tạo tin bán, lưu xe, bình luận, nhắn tin, nhận thông báo và dùng trợ lý AI.</a:t>
            </a:r>
          </a:p>
          <a:p>
            <a:endParaRPr lang="vi-VN"/>
          </a:p>
          <a:p>
            <a:r>
              <a:rPr lang="vi-VN"/>
              <a:t>Quản trị viên kế thừa quyền thành viên nhưng có thêm các chức năng kiểm duyệt. Việc phân quyền được xử lý ở backend bằng middleware, không chỉ ẩn nút ở giao diện. Cách tách này giúp hệ thống rõ ràng về trách nhiệm và giảm nguy cơ người dùng thường gọi nhầm API quản trị.</a:t>
            </a:r>
          </a:p>
        </p:txBody>
      </p:sp>
      <p:sp>
        <p:nvSpPr>
          <p:cNvPr id="4" name="Slide Number Placeholder 3"/>
          <p:cNvSpPr>
            <a:spLocks noGrp="1"/>
          </p:cNvSpPr>
          <p:nvPr>
            <p:ph type="sldNum" sz="quarter" idx="5"/>
          </p:nvPr>
        </p:nvSpPr>
        <p:spPr/>
        <p:txBody>
          <a:bodyPr/>
          <a:lstStyle/>
          <a:p>
            <a:fld id="{AA616127-16DC-408A-8ADC-9649C82A6CDB}" type="slidenum">
              <a:rPr lang="vi-VN" smtClean="0"/>
              <a:t>5</a:t>
            </a:fld>
            <a:endParaRPr lang="vi-VN"/>
          </a:p>
        </p:txBody>
      </p:sp>
    </p:spTree>
    <p:extLst>
      <p:ext uri="{BB962C8B-B14F-4D97-AF65-F5344CB8AC3E}">
        <p14:creationId xmlns:p14="http://schemas.microsoft.com/office/powerpoint/2010/main" val="4027869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này mô tả một luồng điển hình. Sau khi tạo tài khoản, người dùng có thể hoàn thiện hồ sơ, chọn hãng xe quan tâm và tham gia cộng đồng. Những hoạt động này dần tạo ra mức độ tin cậy cho tài khoản.</a:t>
            </a:r>
          </a:p>
          <a:p>
            <a:endParaRPr lang="vi-VN"/>
          </a:p>
          <a:p>
            <a:r>
              <a:rPr lang="vi-VN"/>
              <a:t>Khi thêm xe vào Garage, người dùng lưu thông tin kỹ thuật và hình ảnh. Nếu muốn bán, họ tạo listing từ chính xe đó. Người mua có thể tìm bằng bộ lọc truyền thống hoặc hỏi chatbot bằng câu tự nhiên.</a:t>
            </a:r>
          </a:p>
          <a:p>
            <a:endParaRPr lang="vi-VN"/>
          </a:p>
          <a:p>
            <a:r>
              <a:rPr lang="vi-VN"/>
              <a:t>Điểm quan trọng nhất nằm ở bước cuối: khi bấm liên hệ, cuộc trò chuyện được gắn với đúng tin xe. Hai bên luôn nhìn thấy chiếc xe đang trao đổi. Ngoài ra, người dùng còn có thể chia sẻ bài cộng đồng hoặc tin Marketplace vào một cuộc trò chuyện đã có.</a:t>
            </a:r>
          </a:p>
        </p:txBody>
      </p:sp>
      <p:sp>
        <p:nvSpPr>
          <p:cNvPr id="4" name="Slide Number Placeholder 3"/>
          <p:cNvSpPr>
            <a:spLocks noGrp="1"/>
          </p:cNvSpPr>
          <p:nvPr>
            <p:ph type="sldNum" sz="quarter" idx="5"/>
          </p:nvPr>
        </p:nvSpPr>
        <p:spPr/>
        <p:txBody>
          <a:bodyPr/>
          <a:lstStyle/>
          <a:p>
            <a:fld id="{AA616127-16DC-408A-8ADC-9649C82A6CDB}" type="slidenum">
              <a:rPr lang="vi-VN" smtClean="0"/>
              <a:t>6</a:t>
            </a:fld>
            <a:endParaRPr lang="vi-VN"/>
          </a:p>
        </p:txBody>
      </p:sp>
    </p:spTree>
    <p:extLst>
      <p:ext uri="{BB962C8B-B14F-4D97-AF65-F5344CB8AC3E}">
        <p14:creationId xmlns:p14="http://schemas.microsoft.com/office/powerpoint/2010/main" val="1782633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tài khoản được thiết kế theo hai lớp. Lớp thứ nhất là xác thực: đăng ký, đăng nhập, đăng xuất và khôi phục mật khẩu. Mật khẩu được hash bằng bcrypt; mã reset được hash, có thời hạn và chỉ dùng một lần.</a:t>
            </a:r>
          </a:p>
          <a:p>
            <a:endParaRPr lang="vi-VN"/>
          </a:p>
          <a:p>
            <a:r>
              <a:rPr lang="vi-VN"/>
              <a:t>Lớp thứ hai là danh tính cộng đồng. Người dùng có avatar, banner, giới thiệu, vị trí và các hãng xe quan tâm. Họ có thể theo dõi và đánh giá nhau. Admin hoặc tài khoản chuyên nghiệp đã xác thực sẽ có huy hiệu riêng.</a:t>
            </a:r>
          </a:p>
          <a:p>
            <a:endParaRPr lang="vi-VN"/>
          </a:p>
          <a:p>
            <a:r>
              <a:rPr lang="vi-VN"/>
              <a:t>Nhóm đã chủ động ẩn các chức năng giao diện chưa có backend thật, ví dụ đăng nhập Google hoặc Apple. Điều này giúp sản phẩm không tạo kỳ vọng sai và chỉ hiển thị những luồng đang hoạt động hoàn chỉnh.</a:t>
            </a:r>
          </a:p>
        </p:txBody>
      </p:sp>
      <p:sp>
        <p:nvSpPr>
          <p:cNvPr id="4" name="Slide Number Placeholder 3"/>
          <p:cNvSpPr>
            <a:spLocks noGrp="1"/>
          </p:cNvSpPr>
          <p:nvPr>
            <p:ph type="sldNum" sz="quarter" idx="5"/>
          </p:nvPr>
        </p:nvSpPr>
        <p:spPr/>
        <p:txBody>
          <a:bodyPr/>
          <a:lstStyle/>
          <a:p>
            <a:fld id="{AA616127-16DC-408A-8ADC-9649C82A6CDB}" type="slidenum">
              <a:rPr lang="vi-VN" smtClean="0"/>
              <a:t>7</a:t>
            </a:fld>
            <a:endParaRPr lang="vi-VN"/>
          </a:p>
        </p:txBody>
      </p:sp>
    </p:spTree>
    <p:extLst>
      <p:ext uri="{BB962C8B-B14F-4D97-AF65-F5344CB8AC3E}">
        <p14:creationId xmlns:p14="http://schemas.microsoft.com/office/powerpoint/2010/main" val="3011204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Cộng đồng là một trụ cột quan trọng vì nó tạo ra nội dung, mối quan hệ và uy tín trước khi phát sinh giao dịch. Mỗi bài có caption, loại nội dung, danh sách ảnh và các chỉ số tương tác.</a:t>
            </a:r>
          </a:p>
          <a:p>
            <a:endParaRPr lang="vi-VN"/>
          </a:p>
          <a:p>
            <a:r>
              <a:rPr lang="vi-VN"/>
              <a:t>Người dùng có thể thích, bình luận, lưu và chia sẻ. Các danh sách bài đã thích hoặc đã lưu được tách riêng để truy cập lại. Tác giả có quyền sửa caption và xóa bài; quản trị viên cũng có quyền xử lý nội dung vi phạm.</a:t>
            </a:r>
          </a:p>
          <a:p>
            <a:endParaRPr lang="vi-VN"/>
          </a:p>
          <a:p>
            <a:r>
              <a:rPr lang="vi-VN"/>
              <a:t>Một cải tiến gần đây là chia sẻ bài vào MessageDock. Người dùng chọn cuộc trò chuyện, hệ thống gửi đoạn trích và đường dẫn mở đúng bài. Nhờ vậy nội dung cộng đồng không đứng riêng mà có thể trở thành chủ đề trao đổi giữa các thành viên.</a:t>
            </a:r>
          </a:p>
        </p:txBody>
      </p:sp>
      <p:sp>
        <p:nvSpPr>
          <p:cNvPr id="4" name="Slide Number Placeholder 3"/>
          <p:cNvSpPr>
            <a:spLocks noGrp="1"/>
          </p:cNvSpPr>
          <p:nvPr>
            <p:ph type="sldNum" sz="quarter" idx="5"/>
          </p:nvPr>
        </p:nvSpPr>
        <p:spPr/>
        <p:txBody>
          <a:bodyPr/>
          <a:lstStyle/>
          <a:p>
            <a:fld id="{AA616127-16DC-408A-8ADC-9649C82A6CDB}" type="slidenum">
              <a:rPr lang="vi-VN" smtClean="0"/>
              <a:t>8</a:t>
            </a:fld>
            <a:endParaRPr lang="vi-VN"/>
          </a:p>
        </p:txBody>
      </p:sp>
    </p:spTree>
    <p:extLst>
      <p:ext uri="{BB962C8B-B14F-4D97-AF65-F5344CB8AC3E}">
        <p14:creationId xmlns:p14="http://schemas.microsoft.com/office/powerpoint/2010/main" val="2367014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Garage được xem là nguồn dữ liệu gốc cho những chiếc xe người dùng đang quản lý. Mỗi xe có thông tin mô tả, hãng, mẫu, năm sản xuất, số kilomet, kiểu thân xe, nhiên liệu, hộp số, trạng thái và danh sách ảnh.</a:t>
            </a:r>
          </a:p>
          <a:p>
            <a:endParaRPr lang="vi-VN"/>
          </a:p>
          <a:p>
            <a:r>
              <a:rPr lang="vi-VN"/>
              <a:t>Người dùng có thể thêm, sửa và xóa xe. Khi muốn bán, họ không cần nhập lại mọi thứ mà tạo listing trực tiếp từ GarageVehicle.</a:t>
            </a:r>
          </a:p>
          <a:p>
            <a:endParaRPr lang="vi-VN"/>
          </a:p>
          <a:p>
            <a:r>
              <a:rPr lang="vi-VN"/>
              <a:t>Ở backend, thao tác xóa xe được đặt trong transaction. Các listing liên quan được xóa trước rồi mới xóa GarageVehicle. Đây là một chi tiết nhỏ nhưng quan trọng, vì nó tránh dữ liệu mồ côi và giữ quan hệ giữa Garage với Marketplace luôn nhất quán.</a:t>
            </a:r>
          </a:p>
        </p:txBody>
      </p:sp>
      <p:sp>
        <p:nvSpPr>
          <p:cNvPr id="4" name="Slide Number Placeholder 3"/>
          <p:cNvSpPr>
            <a:spLocks noGrp="1"/>
          </p:cNvSpPr>
          <p:nvPr>
            <p:ph type="sldNum" sz="quarter" idx="5"/>
          </p:nvPr>
        </p:nvSpPr>
        <p:spPr/>
        <p:txBody>
          <a:bodyPr/>
          <a:lstStyle/>
          <a:p>
            <a:fld id="{AA616127-16DC-408A-8ADC-9649C82A6CDB}" type="slidenum">
              <a:rPr lang="vi-VN" smtClean="0"/>
              <a:t>9</a:t>
            </a:fld>
            <a:endParaRPr lang="vi-VN"/>
          </a:p>
        </p:txBody>
      </p:sp>
    </p:spTree>
    <p:extLst>
      <p:ext uri="{BB962C8B-B14F-4D97-AF65-F5344CB8AC3E}">
        <p14:creationId xmlns:p14="http://schemas.microsoft.com/office/powerpoint/2010/main" val="1202333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Marketplace hiện có catalog 150 tin xe với tiêu đề riêng. Trong đó có 56 mẫu châu Âu và 16 tin thuộc nhóm Exotics. Dữ liệu này được tạo bằng script seed có kiểm tra ảnh, giá và mô tả.</a:t>
            </a:r>
          </a:p>
          <a:p>
            <a:endParaRPr lang="vi-VN"/>
          </a:p>
          <a:p>
            <a:r>
              <a:rPr lang="vi-VN"/>
              <a:t>Người dùng có thể tìm kiếm tự do và lọc theo danh mục, tình trạng, hãng, kiểu xe, nhiên liệu, hộp số và khoảng năm. Kết quả được phân trang 10 tin mỗi trang và có ba cách sắp xếp: mới nhất, xu hướng và cũ nhất.</a:t>
            </a:r>
          </a:p>
          <a:p>
            <a:endParaRPr lang="vi-VN"/>
          </a:p>
          <a:p>
            <a:r>
              <a:rPr lang="vi-VN"/>
              <a:t>Mỗi tin cho phép lưu yêu thích, bình luận, đánh giá người bán, liên hệ và chia sẻ vào tin nhắn. Giá hiển thị trực tiếp bằng VND. Các tin catalog ghi rõ đây là dữ liệu tham khảo, không giả làm tin rao trực tiếp của chủ xe.</a:t>
            </a:r>
          </a:p>
        </p:txBody>
      </p:sp>
      <p:sp>
        <p:nvSpPr>
          <p:cNvPr id="4" name="Slide Number Placeholder 3"/>
          <p:cNvSpPr>
            <a:spLocks noGrp="1"/>
          </p:cNvSpPr>
          <p:nvPr>
            <p:ph type="sldNum" sz="quarter" idx="5"/>
          </p:nvPr>
        </p:nvSpPr>
        <p:spPr/>
        <p:txBody>
          <a:bodyPr/>
          <a:lstStyle/>
          <a:p>
            <a:fld id="{AA616127-16DC-408A-8ADC-9649C82A6CDB}" type="slidenum">
              <a:rPr lang="vi-VN" smtClean="0"/>
              <a:t>10</a:t>
            </a:fld>
            <a:endParaRPr lang="vi-VN"/>
          </a:p>
        </p:txBody>
      </p:sp>
    </p:spTree>
    <p:extLst>
      <p:ext uri="{BB962C8B-B14F-4D97-AF65-F5344CB8AC3E}">
        <p14:creationId xmlns:p14="http://schemas.microsoft.com/office/powerpoint/2010/main" val="1969546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Trang chi tiết tin xe là nơi người dùng chuyển từ khám phá sang quyết định. Phần ảnh hỗ trợ nhiều hình, thumbnail và lightbox. Mũi tên điều hướng được đặt theo chính khung ảnh hiển thị nên ảnh ngang, dọc hoặc vuông đều có vị trí phù hợp.</a:t>
            </a:r>
          </a:p>
          <a:p>
            <a:endParaRPr lang="vi-VN"/>
          </a:p>
          <a:p>
            <a:r>
              <a:rPr lang="vi-VN"/>
              <a:t>Phần thông tin gồm trạng thái, tình trạng xe, tiêu đề, giá, mô tả, vị trí và thông số. Hệ thống có cả mô tả của listing và GarageVehicle, nhưng frontend chỉ hiển thị mô tả thứ hai khi nội dung thực sự khác, tránh lặp hai lần.</a:t>
            </a:r>
          </a:p>
          <a:p>
            <a:endParaRPr lang="vi-VN"/>
          </a:p>
          <a:p>
            <a:r>
              <a:rPr lang="vi-VN"/>
              <a:t>Ba hành động chính là liên hệ người bán, lưu tin và chia sẻ. Khi chia sẻ, tin nhắn chứa tên xe, giá, đoạn mô tả ngắn và nút mở đúng trang Marketplace.</a:t>
            </a:r>
          </a:p>
        </p:txBody>
      </p:sp>
      <p:sp>
        <p:nvSpPr>
          <p:cNvPr id="4" name="Slide Number Placeholder 3"/>
          <p:cNvSpPr>
            <a:spLocks noGrp="1"/>
          </p:cNvSpPr>
          <p:nvPr>
            <p:ph type="sldNum" sz="quarter" idx="5"/>
          </p:nvPr>
        </p:nvSpPr>
        <p:spPr/>
        <p:txBody>
          <a:bodyPr/>
          <a:lstStyle/>
          <a:p>
            <a:fld id="{AA616127-16DC-408A-8ADC-9649C82A6CDB}" type="slidenum">
              <a:rPr lang="vi-VN" smtClean="0"/>
              <a:t>11</a:t>
            </a:fld>
            <a:endParaRPr lang="vi-VN"/>
          </a:p>
        </p:txBody>
      </p:sp>
    </p:spTree>
    <p:extLst>
      <p:ext uri="{BB962C8B-B14F-4D97-AF65-F5344CB8AC3E}">
        <p14:creationId xmlns:p14="http://schemas.microsoft.com/office/powerpoint/2010/main" val="1683378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CarHub hỗ trợ hai loại conversation: trò chuyện trực tiếp giữa hai thành viên và trò chuyện gắn với một listing. Khi người mua bấm “Liên hệ”, backend tìm hoặc tạo cuộc trò chuyện phù hợp.</a:t>
            </a:r>
          </a:p>
          <a:p>
            <a:endParaRPr lang="vi-VN"/>
          </a:p>
          <a:p>
            <a:r>
              <a:rPr lang="vi-VN"/>
              <a:t>Nếu conversation gắn với listing, MessageDock luôn hiển thị thẻ xe ở phía trên. Hai bên không phải hỏi lại đang nói về chiếc nào. Hệ thống tải tối đa 200 tin nhắn gần nhất và đánh dấu đã đọc khi mở.</a:t>
            </a:r>
          </a:p>
          <a:p>
            <a:endParaRPr lang="vi-VN"/>
          </a:p>
          <a:p>
            <a:r>
              <a:rPr lang="vi-VN"/>
              <a:t>Frontend hiện dùng polling năm giây trong lúc dock đang mở. Ngoài tin nhắn chữ, người dùng có thể chia sẻ bài cộng đồng hoặc tin Marketplace. Đường dẫn được render thành nút “Mở bài viết” hoặc “Mở tin xe”, giúp trao đổi nhanh và có ngữ cảnh.</a:t>
            </a:r>
          </a:p>
        </p:txBody>
      </p:sp>
      <p:sp>
        <p:nvSpPr>
          <p:cNvPr id="4" name="Slide Number Placeholder 3"/>
          <p:cNvSpPr>
            <a:spLocks noGrp="1"/>
          </p:cNvSpPr>
          <p:nvPr>
            <p:ph type="sldNum" sz="quarter" idx="5"/>
          </p:nvPr>
        </p:nvSpPr>
        <p:spPr/>
        <p:txBody>
          <a:bodyPr/>
          <a:lstStyle/>
          <a:p>
            <a:fld id="{AA616127-16DC-408A-8ADC-9649C82A6CDB}" type="slidenum">
              <a:rPr lang="vi-VN" smtClean="0"/>
              <a:t>12</a:t>
            </a:fld>
            <a:endParaRPr lang="vi-VN"/>
          </a:p>
        </p:txBody>
      </p:sp>
    </p:spTree>
    <p:extLst>
      <p:ext uri="{BB962C8B-B14F-4D97-AF65-F5344CB8AC3E}">
        <p14:creationId xmlns:p14="http://schemas.microsoft.com/office/powerpoint/2010/main" val="2308810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Thông báo được tạo từ các sự kiện như like, comment, follow, tương tác Marketplace và message. Service thông báo có kiểm tra để không gửi thông báo cho chính người thực hiện hành động.</a:t>
            </a:r>
          </a:p>
          <a:p>
            <a:endParaRPr lang="vi-VN"/>
          </a:p>
          <a:p>
            <a:r>
              <a:rPr lang="vi-VN"/>
              <a:t>Người dùng xem tối đa 50 thông báo gần nhất và có thể đánh dấu tất cả đã đọc. Tuy nhiên, không phải ai cũng muốn nhận mọi loại thông báo, vì vậy trang cài đặt cho phép bật hoặc tắt theo từng nhóm.</a:t>
            </a:r>
          </a:p>
          <a:p>
            <a:endParaRPr lang="vi-VN"/>
          </a:p>
          <a:p>
            <a:r>
              <a:rPr lang="vi-VN"/>
              <a:t>Ngoài thông báo, cài đặt còn gồm theme sáng, tối hoặc theo hệ thống; mật độ giao diện; cỡ chữ; và tùy chọn tự động mở chatbot một lần trong phiên. Các giá trị được lưu theo tài khoản trong PostgreSQL để giữ nhất quán trên nhiều thiết bị.</a:t>
            </a:r>
          </a:p>
        </p:txBody>
      </p:sp>
      <p:sp>
        <p:nvSpPr>
          <p:cNvPr id="4" name="Slide Number Placeholder 3"/>
          <p:cNvSpPr>
            <a:spLocks noGrp="1"/>
          </p:cNvSpPr>
          <p:nvPr>
            <p:ph type="sldNum" sz="quarter" idx="5"/>
          </p:nvPr>
        </p:nvSpPr>
        <p:spPr/>
        <p:txBody>
          <a:bodyPr/>
          <a:lstStyle/>
          <a:p>
            <a:fld id="{AA616127-16DC-408A-8ADC-9649C82A6CDB}" type="slidenum">
              <a:rPr lang="vi-VN" smtClean="0"/>
              <a:t>13</a:t>
            </a:fld>
            <a:endParaRPr lang="vi-VN"/>
          </a:p>
        </p:txBody>
      </p:sp>
    </p:spTree>
    <p:extLst>
      <p:ext uri="{BB962C8B-B14F-4D97-AF65-F5344CB8AC3E}">
        <p14:creationId xmlns:p14="http://schemas.microsoft.com/office/powerpoint/2010/main" val="1465581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Trợ lý AI của CarHub không hoạt động như chatbot trả lời chung chung. Mục tiêu chính là chuyển yêu cầu tiếng Việt thành bộ lọc có cấu trúc rồi truy vấn dữ liệu thật.</a:t>
            </a:r>
          </a:p>
          <a:p>
            <a:endParaRPr lang="vi-VN"/>
          </a:p>
          <a:p>
            <a:r>
              <a:rPr lang="vi-VN"/>
              <a:t>Ví dụ với câu “Tìm 3 mẫu Mercedes đắt nhất”, hệ thống nhận diện alias Mercedes thành Mercedes-Benz, đọc số lượng là ba và phát hiện yêu cầu sắp xếp giá giảm dần. Sau đó Prisma lọc cứng theo hãng, sắp xếp toàn bộ catalog và chỉ trả đúng ba listing.</a:t>
            </a:r>
          </a:p>
          <a:p>
            <a:endParaRPr lang="vi-VN"/>
          </a:p>
          <a:p>
            <a:r>
              <a:rPr lang="vi-VN"/>
              <a:t>Nhóm cũng xử lý các câu như “trên dưới một tỷ rưỡi”, “ba chiếc”, “còn xe Nhật thì sao” hoặc “rẻ hơn”. Giá được hiểu trực tiếp bằng VND, không đổi qua USD. OpenRouter hỗ trợ các trường hợp phức tạp; parser local xử lý nhanh các truy vấn tìm kiếm có cấu trúc.</a:t>
            </a:r>
          </a:p>
        </p:txBody>
      </p:sp>
      <p:sp>
        <p:nvSpPr>
          <p:cNvPr id="4" name="Slide Number Placeholder 3"/>
          <p:cNvSpPr>
            <a:spLocks noGrp="1"/>
          </p:cNvSpPr>
          <p:nvPr>
            <p:ph type="sldNum" sz="quarter" idx="5"/>
          </p:nvPr>
        </p:nvSpPr>
        <p:spPr/>
        <p:txBody>
          <a:bodyPr/>
          <a:lstStyle/>
          <a:p>
            <a:fld id="{AA616127-16DC-408A-8ADC-9649C82A6CDB}" type="slidenum">
              <a:rPr lang="vi-VN" smtClean="0"/>
              <a:t>14</a:t>
            </a:fld>
            <a:endParaRPr lang="vi-VN"/>
          </a:p>
        </p:txBody>
      </p:sp>
    </p:spTree>
    <p:extLst>
      <p:ext uri="{BB962C8B-B14F-4D97-AF65-F5344CB8AC3E}">
        <p14:creationId xmlns:p14="http://schemas.microsoft.com/office/powerpoint/2010/main" val="554736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Một nguyên tắc quan trọng là AI không được phép quyết định dữ liệu cuối cùng. Model chỉ phân tích ý định và trả bộ lọc theo JSON schema. Listing thật luôn do backend truy vấn từ PostgreSQL.</a:t>
            </a:r>
          </a:p>
          <a:p>
            <a:endParaRPr lang="vi-VN"/>
          </a:p>
          <a:p>
            <a:r>
              <a:rPr lang="vi-VN"/>
              <a:t>Sau khi nhận intent, backend áp dụng hard filter. Nếu người dùng yêu cầu Mercedes thì Toyota hoặc Aston Martin không thể lọt vào kết quả chỉ vì có điểm ranking cao. Với “đắt nhất” hoặc “rẻ nhất”, hệ thống sắp xếp trực tiếp theo giá VND.</a:t>
            </a:r>
          </a:p>
          <a:p>
            <a:endParaRPr lang="vi-VN"/>
          </a:p>
          <a:p>
            <a:r>
              <a:rPr lang="vi-VN"/>
              <a:t>Nếu OpenRouter chậm hoặc trả rỗng, parser local vẫn xử lý được nhiều câu hỏi phổ biến. Với đầu vào ảnh, backend kiểm tra protocol, hostname, MIME type, timeout và kích thước trước khi gửi sang model. Những guardrail này giúp AI hữu ích nhưng vẫn nằm trong biên kiểm soát.</a:t>
            </a:r>
          </a:p>
        </p:txBody>
      </p:sp>
      <p:sp>
        <p:nvSpPr>
          <p:cNvPr id="4" name="Slide Number Placeholder 3"/>
          <p:cNvSpPr>
            <a:spLocks noGrp="1"/>
          </p:cNvSpPr>
          <p:nvPr>
            <p:ph type="sldNum" sz="quarter" idx="5"/>
          </p:nvPr>
        </p:nvSpPr>
        <p:spPr/>
        <p:txBody>
          <a:bodyPr/>
          <a:lstStyle/>
          <a:p>
            <a:fld id="{AA616127-16DC-408A-8ADC-9649C82A6CDB}" type="slidenum">
              <a:rPr lang="vi-VN" smtClean="0"/>
              <a:t>15</a:t>
            </a:fld>
            <a:endParaRPr lang="vi-VN"/>
          </a:p>
        </p:txBody>
      </p:sp>
    </p:spTree>
    <p:extLst>
      <p:ext uri="{BB962C8B-B14F-4D97-AF65-F5344CB8AC3E}">
        <p14:creationId xmlns:p14="http://schemas.microsoft.com/office/powerpoint/2010/main" val="326191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Trang quản trị cung cấp dashboard tổng hợp số user, bài viết, GarageVehicle, listing, article, comment, rating và follow. Các biểu đồ ngắn giúp nhìn hoạt động gần đây.</a:t>
            </a:r>
          </a:p>
          <a:p>
            <a:endParaRPr lang="vi-VN"/>
          </a:p>
          <a:p>
            <a:r>
              <a:rPr lang="vi-VN"/>
              <a:t>Admin có thể xác thực tài khoản chuyên nghiệp, thay đổi trạng thái hoặc xóa bài, listing, xe Garage và chuyên đề. Bình luận, đánh giá và quan hệ follow cũng có thể được xử lý khi cần.</a:t>
            </a:r>
          </a:p>
          <a:p>
            <a:endParaRPr lang="vi-VN"/>
          </a:p>
          <a:p>
            <a:r>
              <a:rPr lang="vi-VN"/>
              <a:t>Ban đầu một số khối chỉ hiển thị tám hoặc sáu mục đầu. Nhóm đã bổ sung phân trang độc lập cho từng khu vực để quản trị viên xem được toàn bộ dữ liệu mà giao diện vẫn gọn. Backend còn có ràng buộc không cho admin tự xóa mình và không cho xóa admin cuối cùng.</a:t>
            </a:r>
          </a:p>
        </p:txBody>
      </p:sp>
      <p:sp>
        <p:nvSpPr>
          <p:cNvPr id="4" name="Slide Number Placeholder 3"/>
          <p:cNvSpPr>
            <a:spLocks noGrp="1"/>
          </p:cNvSpPr>
          <p:nvPr>
            <p:ph type="sldNum" sz="quarter" idx="5"/>
          </p:nvPr>
        </p:nvSpPr>
        <p:spPr/>
        <p:txBody>
          <a:bodyPr/>
          <a:lstStyle/>
          <a:p>
            <a:fld id="{AA616127-16DC-408A-8ADC-9649C82A6CDB}" type="slidenum">
              <a:rPr lang="vi-VN" smtClean="0"/>
              <a:t>16</a:t>
            </a:fld>
            <a:endParaRPr lang="vi-VN"/>
          </a:p>
        </p:txBody>
      </p:sp>
    </p:spTree>
    <p:extLst>
      <p:ext uri="{BB962C8B-B14F-4D97-AF65-F5344CB8AC3E}">
        <p14:creationId xmlns:p14="http://schemas.microsoft.com/office/powerpoint/2010/main" val="1237941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kiến trúc, dự án là một npm monorepo gồm frontend và backend. Frontend dùng React 19, Vite và TypeScript. Zustand quản lý các state dùng chung như xác thực, sidebar, settings và MessageDock.</a:t>
            </a:r>
          </a:p>
          <a:p>
            <a:endParaRPr lang="vi-VN"/>
          </a:p>
          <a:p>
            <a:r>
              <a:rPr lang="vi-VN"/>
              <a:t>Backend dùng Express. Luồng xử lý tiêu chuẩn là route, validation, controller, service rồi Prisma. Cách tách này giúp phần HTTP, kiểm tra dữ liệu và nghiệp vụ không trộn vào nhau.</a:t>
            </a:r>
          </a:p>
          <a:p>
            <a:endParaRPr lang="vi-VN"/>
          </a:p>
          <a:p>
            <a:r>
              <a:rPr lang="vi-VN"/>
              <a:t>Dữ liệu nằm trong Neon PostgreSQL. Ảnh production được lưu trên Vercel Blob, database chỉ giữ URL và metadata. OpenRouter là dịch vụ ngoài dành cho AI. Khi deploy, frontend phục vụ ở đường dẫn gốc và backend ở `/api`, vì vậy trình duyệt gọi API cùng domain, đơn giản hơn cho CORS và cấu hình.</a:t>
            </a:r>
          </a:p>
        </p:txBody>
      </p:sp>
      <p:sp>
        <p:nvSpPr>
          <p:cNvPr id="4" name="Slide Number Placeholder 3"/>
          <p:cNvSpPr>
            <a:spLocks noGrp="1"/>
          </p:cNvSpPr>
          <p:nvPr>
            <p:ph type="sldNum" sz="quarter" idx="5"/>
          </p:nvPr>
        </p:nvSpPr>
        <p:spPr/>
        <p:txBody>
          <a:bodyPr/>
          <a:lstStyle/>
          <a:p>
            <a:fld id="{AA616127-16DC-408A-8ADC-9649C82A6CDB}" type="slidenum">
              <a:rPr lang="vi-VN" smtClean="0"/>
              <a:t>17</a:t>
            </a:fld>
            <a:endParaRPr lang="vi-VN"/>
          </a:p>
        </p:txBody>
      </p:sp>
    </p:spTree>
    <p:extLst>
      <p:ext uri="{BB962C8B-B14F-4D97-AF65-F5344CB8AC3E}">
        <p14:creationId xmlns:p14="http://schemas.microsoft.com/office/powerpoint/2010/main" val="1835316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Cấu trúc mã nguồn được tổ chức để người mới vào dự án có thể đoán được nơi cần sửa. Ở frontend, component dùng chung nằm trong `components`, trang trong `pages`, API và upload ảnh nằm trong `lib`, còn state dùng chung nằm trong `store`.</a:t>
            </a:r>
          </a:p>
          <a:p>
            <a:endParaRPr lang="vi-VN"/>
          </a:p>
          <a:p>
            <a:r>
              <a:rPr lang="vi-VN"/>
              <a:t>Ở backend, route định nghĩa endpoint, controller tiếp nhận request, service xử lý nghiệp vụ, middleware đảm nhiệm auth, validation và upload. Prisma schema và migration được đặt riêng để theo dõi thay đổi database.</a:t>
            </a:r>
          </a:p>
          <a:p>
            <a:endParaRPr lang="vi-VN"/>
          </a:p>
          <a:p>
            <a:r>
              <a:rPr lang="vi-VN"/>
              <a:t>Thư mục gốc chứa cấu hình workspace và Vercel multi-service. `note.txt` là tài liệu vận hành chi tiết, README phục vụ giới thiệu và cài đặt, còn PlantUML mô tả use case. Cách tổ chức này hỗ trợ mở rộng mà không phải dồn toàn bộ logic vào vài file lớn.</a:t>
            </a:r>
          </a:p>
        </p:txBody>
      </p:sp>
      <p:sp>
        <p:nvSpPr>
          <p:cNvPr id="4" name="Slide Number Placeholder 3"/>
          <p:cNvSpPr>
            <a:spLocks noGrp="1"/>
          </p:cNvSpPr>
          <p:nvPr>
            <p:ph type="sldNum" sz="quarter" idx="5"/>
          </p:nvPr>
        </p:nvSpPr>
        <p:spPr/>
        <p:txBody>
          <a:bodyPr/>
          <a:lstStyle/>
          <a:p>
            <a:fld id="{AA616127-16DC-408A-8ADC-9649C82A6CDB}" type="slidenum">
              <a:rPr lang="vi-VN" smtClean="0"/>
              <a:t>18</a:t>
            </a:fld>
            <a:endParaRPr lang="vi-VN"/>
          </a:p>
        </p:txBody>
      </p:sp>
    </p:spTree>
    <p:extLst>
      <p:ext uri="{BB962C8B-B14F-4D97-AF65-F5344CB8AC3E}">
        <p14:creationId xmlns:p14="http://schemas.microsoft.com/office/powerpoint/2010/main" val="1608093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Database hiện có 19 model và được chia thành bốn miền. Identity gồm User, Follow, Rating và PasswordResetToken. Community gồm Post, Image và các bảng tương tác, cùng Article.</a:t>
            </a:r>
          </a:p>
          <a:p>
            <a:endParaRPr lang="vi-VN"/>
          </a:p>
          <a:p>
            <a:r>
              <a:rPr lang="vi-VN"/>
              <a:t>Commerce xoay quanh GarageVehicle và VehicleListing. ListingFavorite và ListingComment lưu tương tác trên chợ xe. Model Vehicle cũ vẫn còn để tương thích dữ liệu nhưng luồng chính hiện dùng GarageVehicle.</a:t>
            </a:r>
          </a:p>
          <a:p>
            <a:endParaRPr lang="vi-VN"/>
          </a:p>
          <a:p>
            <a:r>
              <a:rPr lang="vi-VN"/>
              <a:t>Engagement gồm Conversation, Message và Notification. Các quan hệ được thiết kế để một user có thể vừa là người mua, người bán, tác giả nội dung và thành viên cộng đồng. Prisma giúp biểu diễn quan hệ rõ ràng, còn transaction và cascade được dùng ở các thao tác cần bảo toàn tính nhất quán.</a:t>
            </a:r>
          </a:p>
        </p:txBody>
      </p:sp>
      <p:sp>
        <p:nvSpPr>
          <p:cNvPr id="4" name="Slide Number Placeholder 3"/>
          <p:cNvSpPr>
            <a:spLocks noGrp="1"/>
          </p:cNvSpPr>
          <p:nvPr>
            <p:ph type="sldNum" sz="quarter" idx="5"/>
          </p:nvPr>
        </p:nvSpPr>
        <p:spPr/>
        <p:txBody>
          <a:bodyPr/>
          <a:lstStyle/>
          <a:p>
            <a:fld id="{AA616127-16DC-408A-8ADC-9649C82A6CDB}" type="slidenum">
              <a:rPr lang="vi-VN" smtClean="0"/>
              <a:t>19</a:t>
            </a:fld>
            <a:endParaRPr lang="vi-VN"/>
          </a:p>
        </p:txBody>
      </p:sp>
    </p:spTree>
    <p:extLst>
      <p:ext uri="{BB962C8B-B14F-4D97-AF65-F5344CB8AC3E}">
        <p14:creationId xmlns:p14="http://schemas.microsoft.com/office/powerpoint/2010/main" val="3027747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API được chia theo tài nguyên và mức quyền. Nhóm public cho phép đăng nhập, đọc bài, xem xe, chuyên đề và hồ sơ công khai. Một số route dùng optional auth để trả thêm trạng thái like hoặc bookmark nếu người xem đã đăng nhập.</a:t>
            </a:r>
          </a:p>
          <a:p>
            <a:endParaRPr lang="vi-VN"/>
          </a:p>
          <a:p>
            <a:r>
              <a:rPr lang="vi-VN"/>
              <a:t>Nhóm member yêu cầu JWT, bao gồm tạo nội dung, quản lý Garage, listing, tin nhắn, notification, upload và AI. Nhóm admin yêu cầu thêm role ADMIN.</a:t>
            </a:r>
          </a:p>
          <a:p>
            <a:endParaRPr lang="vi-VN"/>
          </a:p>
          <a:p>
            <a:r>
              <a:rPr lang="vi-VN"/>
              <a:t>Mỗi request đi qua validation trước khi vào controller. Controller giữ vai trò mỏng, còn nghiệp vụ nằm trong service. Prisma là lớp truy cập dữ liệu. Cách tổ chức này giúp validation nhất quán, dễ test và hạn chế việc controller vừa xử lý HTTP vừa chứa quá nhiều logic database.</a:t>
            </a:r>
          </a:p>
        </p:txBody>
      </p:sp>
      <p:sp>
        <p:nvSpPr>
          <p:cNvPr id="4" name="Slide Number Placeholder 3"/>
          <p:cNvSpPr>
            <a:spLocks noGrp="1"/>
          </p:cNvSpPr>
          <p:nvPr>
            <p:ph type="sldNum" sz="quarter" idx="5"/>
          </p:nvPr>
        </p:nvSpPr>
        <p:spPr/>
        <p:txBody>
          <a:bodyPr/>
          <a:lstStyle/>
          <a:p>
            <a:fld id="{AA616127-16DC-408A-8ADC-9649C82A6CDB}" type="slidenum">
              <a:rPr lang="vi-VN" smtClean="0"/>
              <a:t>20</a:t>
            </a:fld>
            <a:endParaRPr lang="vi-VN"/>
          </a:p>
        </p:txBody>
      </p:sp>
    </p:spTree>
    <p:extLst>
      <p:ext uri="{BB962C8B-B14F-4D97-AF65-F5344CB8AC3E}">
        <p14:creationId xmlns:p14="http://schemas.microsoft.com/office/powerpoint/2010/main" val="1847268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Bảo mật được triển khai theo nhiều lớp. Ở lớp xác thực, mật khẩu được hash bằng bcrypt và JWT được gửi qua Authorization Bearer. Route quan trọng dùng middleware requireAuth hoặc requireAdmin.</a:t>
            </a:r>
          </a:p>
          <a:p>
            <a:endParaRPr lang="vi-VN"/>
          </a:p>
          <a:p>
            <a:r>
              <a:rPr lang="vi-VN"/>
              <a:t>Ở lớp input, Zod kiểm tra body trước khi controller xử lý. Helmet thêm security headers, CORS chỉ cho phép origin được cấu hình hoặc Vercel origin hợp lệ. Rate limit được bật trên production.</a:t>
            </a:r>
          </a:p>
          <a:p>
            <a:endParaRPr lang="vi-VN"/>
          </a:p>
          <a:p>
            <a:r>
              <a:rPr lang="vi-VN"/>
              <a:t>Quan trọng hơn, quyền không chỉ dựa vào việc đã đăng nhập. Các thao tác sửa và xóa còn kiểm tra owner hoặc ADMIN. Conversation chỉ trả cho participant. Upload ảnh kiểm tra MIME, extension và dung lượng. Hệ thống cũng tránh ghi key, token hoặc mật khẩu vào log.</a:t>
            </a:r>
          </a:p>
        </p:txBody>
      </p:sp>
      <p:sp>
        <p:nvSpPr>
          <p:cNvPr id="4" name="Slide Number Placeholder 3"/>
          <p:cNvSpPr>
            <a:spLocks noGrp="1"/>
          </p:cNvSpPr>
          <p:nvPr>
            <p:ph type="sldNum" sz="quarter" idx="5"/>
          </p:nvPr>
        </p:nvSpPr>
        <p:spPr/>
        <p:txBody>
          <a:bodyPr/>
          <a:lstStyle/>
          <a:p>
            <a:fld id="{AA616127-16DC-408A-8ADC-9649C82A6CDB}" type="slidenum">
              <a:rPr lang="vi-VN" smtClean="0"/>
              <a:t>21</a:t>
            </a:fld>
            <a:endParaRPr lang="vi-VN"/>
          </a:p>
        </p:txBody>
      </p:sp>
    </p:spTree>
    <p:extLst>
      <p:ext uri="{BB962C8B-B14F-4D97-AF65-F5344CB8AC3E}">
        <p14:creationId xmlns:p14="http://schemas.microsoft.com/office/powerpoint/2010/main" val="1480714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Ảnh là phần chiếm dung lượng lớn nhất nên nhóm tách khỏi PostgreSQL. Frontend kiểm tra định dạng và dung lượng ban đầu, sau đó nén ảnh sang WEBP và giới hạn chiều lớn nhất khoảng 1920 pixel.</a:t>
            </a:r>
          </a:p>
          <a:p>
            <a:endParaRPr lang="vi-VN"/>
          </a:p>
          <a:p>
            <a:r>
              <a:rPr lang="vi-VN"/>
              <a:t>Backend nhận file bằng Multer memory storage, kiểm tra lại MIME và dung lượng tối đa bốn megabyte. Khi chạy local, ảnh có thể lưu trong thư mục uploads. Trên production hoặc khi dùng database remote, ảnh được đưa lên Vercel Blob.</a:t>
            </a:r>
          </a:p>
          <a:p>
            <a:endParaRPr lang="vi-VN"/>
          </a:p>
          <a:p>
            <a:r>
              <a:rPr lang="vi-VN"/>
              <a:t>Database chỉ giữ URL và metadata. Cách này phù hợp với serverless vì filesystem production không bền vững, đồng thời tránh làm PostgreSQL phình to. Với catalog, ảnh đại diện được lấy từ Wikipedia hoặc Wikimedia Commons và lưu kèm nguồn để dễ kiểm tra.</a:t>
            </a:r>
          </a:p>
        </p:txBody>
      </p:sp>
      <p:sp>
        <p:nvSpPr>
          <p:cNvPr id="4" name="Slide Number Placeholder 3"/>
          <p:cNvSpPr>
            <a:spLocks noGrp="1"/>
          </p:cNvSpPr>
          <p:nvPr>
            <p:ph type="sldNum" sz="quarter" idx="5"/>
          </p:nvPr>
        </p:nvSpPr>
        <p:spPr/>
        <p:txBody>
          <a:bodyPr/>
          <a:lstStyle/>
          <a:p>
            <a:fld id="{AA616127-16DC-408A-8ADC-9649C82A6CDB}" type="slidenum">
              <a:rPr lang="vi-VN" smtClean="0"/>
              <a:t>22</a:t>
            </a:fld>
            <a:endParaRPr lang="vi-VN"/>
          </a:p>
        </p:txBody>
      </p:sp>
    </p:spTree>
    <p:extLst>
      <p:ext uri="{BB962C8B-B14F-4D97-AF65-F5344CB8AC3E}">
        <p14:creationId xmlns:p14="http://schemas.microsoft.com/office/powerpoint/2010/main" val="26360679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Ở môi trường local, dự án dùng npm workspace. Sau khi cài package, nhóm generate Prisma client, chạy migration và dùng `npm run dev` để khởi động đồng thời frontend với backend.</a:t>
            </a:r>
          </a:p>
          <a:p>
            <a:endParaRPr lang="vi-VN"/>
          </a:p>
          <a:p>
            <a:r>
              <a:rPr lang="vi-VN"/>
              <a:t>Trước khi merge hoặc deploy, quy trình tối thiểu là chạy lint và build. Những script dữ liệu như seed catalog hoặc audit catalog được tách riêng để có thể chạy lại khi cần.</a:t>
            </a:r>
          </a:p>
          <a:p>
            <a:endParaRPr lang="vi-VN"/>
          </a:p>
          <a:p>
            <a:r>
              <a:rPr lang="vi-VN"/>
              <a:t>Production dùng Vercel theo mô hình Services. Frontend phục vụ ở `/`, backend ở `/api`, Neon lưu dữ liệu và Vercel Blob lưu ảnh. Build backend chạy migration deploy. Sau khi triển khai, nhóm gọi `/api/health` để xác nhận service, environment và timestamp hoạt động bình thường.</a:t>
            </a:r>
          </a:p>
        </p:txBody>
      </p:sp>
      <p:sp>
        <p:nvSpPr>
          <p:cNvPr id="4" name="Slide Number Placeholder 3"/>
          <p:cNvSpPr>
            <a:spLocks noGrp="1"/>
          </p:cNvSpPr>
          <p:nvPr>
            <p:ph type="sldNum" sz="quarter" idx="5"/>
          </p:nvPr>
        </p:nvSpPr>
        <p:spPr/>
        <p:txBody>
          <a:bodyPr/>
          <a:lstStyle/>
          <a:p>
            <a:fld id="{AA616127-16DC-408A-8ADC-9649C82A6CDB}" type="slidenum">
              <a:rPr lang="vi-VN" smtClean="0"/>
              <a:t>23</a:t>
            </a:fld>
            <a:endParaRPr lang="vi-VN"/>
          </a:p>
        </p:txBody>
      </p:sp>
    </p:spTree>
    <p:extLst>
      <p:ext uri="{BB962C8B-B14F-4D97-AF65-F5344CB8AC3E}">
        <p14:creationId xmlns:p14="http://schemas.microsoft.com/office/powerpoint/2010/main" val="1331093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Nhìn lại, CarHub đã hoàn thành một hệ thống full-stack tương đối đầy đủ: xác thực, hồ sơ, cộng đồng, Garage, Marketplace, nhắn tin, thông báo, AI, cài đặt và quản trị.</a:t>
            </a:r>
          </a:p>
          <a:p>
            <a:endParaRPr lang="vi-VN"/>
          </a:p>
          <a:p>
            <a:r>
              <a:rPr lang="vi-VN"/>
              <a:t>Về kỹ thuật, hệ thống có 19 model dữ liệu, kiến trúc tách lớp, pipeline ảnh phù hợp production, phân quyền rõ ràng và deploy multi-service. Catalog hiện có 150 tin xe cùng dữ liệu cộng đồng để minh họa và kiểm thử.</a:t>
            </a:r>
          </a:p>
          <a:p>
            <a:endParaRPr lang="vi-VN"/>
          </a:p>
          <a:p>
            <a:r>
              <a:rPr lang="vi-VN"/>
              <a:t>Hướng tiếp theo là nâng độ tin cậy giao dịch bằng xác minh xe, lịch sử bảo dưỡng hoặc tích hợp kiểm định; chuyển messaging sang realtime; và bổ sung recommendation dựa trên hành vi. Thông điệp cuối cùng của nhóm là: CarHub không chỉ hiển thị xe, mà kết nối con người, nội dung và giao dịch quanh chiếc xe đó. Xin cảm ơn và mời thầy cô đặt câu hỏi.</a:t>
            </a:r>
          </a:p>
        </p:txBody>
      </p:sp>
      <p:sp>
        <p:nvSpPr>
          <p:cNvPr id="4" name="Slide Number Placeholder 3"/>
          <p:cNvSpPr>
            <a:spLocks noGrp="1"/>
          </p:cNvSpPr>
          <p:nvPr>
            <p:ph type="sldNum" sz="quarter" idx="5"/>
          </p:nvPr>
        </p:nvSpPr>
        <p:spPr/>
        <p:txBody>
          <a:bodyPr/>
          <a:lstStyle/>
          <a:p>
            <a:fld id="{AA616127-16DC-408A-8ADC-9649C82A6CDB}" type="slidenum">
              <a:rPr lang="vi-VN" smtClean="0"/>
              <a:t>24</a:t>
            </a:fld>
            <a:endParaRPr lang="vi-VN"/>
          </a:p>
        </p:txBody>
      </p:sp>
    </p:spTree>
    <p:extLst>
      <p:ext uri="{BB962C8B-B14F-4D97-AF65-F5344CB8AC3E}">
        <p14:creationId xmlns:p14="http://schemas.microsoft.com/office/powerpoint/2010/main" val="3664183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3EA8-AC59-7BBE-2215-D4FFB30AC0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F457D723-BF6D-C225-7FCE-D3A1549E71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1A9A116-7D45-4BB4-E9E9-03349CA0D444}"/>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5" name="Footer Placeholder 4">
            <a:extLst>
              <a:ext uri="{FF2B5EF4-FFF2-40B4-BE49-F238E27FC236}">
                <a16:creationId xmlns:a16="http://schemas.microsoft.com/office/drawing/2014/main" id="{8E7430D9-DCFE-537E-930F-20944BEDF60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B02BBDB-D0C2-9885-BFC1-5C78843380D7}"/>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2159910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73E1E-A2F4-B2DA-5A80-882432AB53F1}"/>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506DAA01-3F57-4D4C-31A7-1EA3E1B78A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9702F24-6EB1-8724-FB51-72BEB9664204}"/>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5" name="Footer Placeholder 4">
            <a:extLst>
              <a:ext uri="{FF2B5EF4-FFF2-40B4-BE49-F238E27FC236}">
                <a16:creationId xmlns:a16="http://schemas.microsoft.com/office/drawing/2014/main" id="{39B38D8C-B80A-A653-62D2-53E9077C431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0F7507E0-46E4-4977-317A-A0A7665829B0}"/>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1455387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4EE5-6F06-0549-033A-D7AD82FC19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5F733E90-F861-FDCD-E7D7-F2C0B7A93B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F6E7B3-D252-C8E6-DDB7-3FD4FE9E19FA}"/>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5" name="Footer Placeholder 4">
            <a:extLst>
              <a:ext uri="{FF2B5EF4-FFF2-40B4-BE49-F238E27FC236}">
                <a16:creationId xmlns:a16="http://schemas.microsoft.com/office/drawing/2014/main" id="{3D360FBB-2101-483E-9465-66952494F8EF}"/>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ED42930-B2FB-3524-9063-87B2629DC8D8}"/>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3719630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5D87B-FFF7-C44C-DDA6-133C89DA1F70}"/>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4B5EF8F3-4338-0A72-4CAB-178870A4B7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05DCFF31-EB13-EE22-7ECA-23BE83DA28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8E93B6D8-AC4A-ABCD-3CC8-5D1C1FB0F279}"/>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6" name="Footer Placeholder 5">
            <a:extLst>
              <a:ext uri="{FF2B5EF4-FFF2-40B4-BE49-F238E27FC236}">
                <a16:creationId xmlns:a16="http://schemas.microsoft.com/office/drawing/2014/main" id="{5A71D96C-BD5A-9BC0-93D4-CABD1411B346}"/>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9FD6199-D8D7-1439-AF27-47A8CAD34E08}"/>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2200663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C0E2-75D6-389B-B057-317E3D50ACAD}"/>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E1093AE-F1E7-9484-68A7-030E92177E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720874-A648-0FF6-6AED-973B094534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2F7659D3-6919-FC8E-8AC6-AC220F02AE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549FE-4373-DA16-DA9D-D330B9D370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3B03B66D-29AA-E0BF-D86B-009B7A9AF20C}"/>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8" name="Footer Placeholder 7">
            <a:extLst>
              <a:ext uri="{FF2B5EF4-FFF2-40B4-BE49-F238E27FC236}">
                <a16:creationId xmlns:a16="http://schemas.microsoft.com/office/drawing/2014/main" id="{B45CDE96-4F13-5E1E-201A-F92EDCF332DD}"/>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B17EC1D7-AC17-92F1-CA9A-7E98EDCE5337}"/>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322907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0BE5-84B0-4651-1796-2CDC3C164B8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661AD185-7CEE-1F65-DC93-AB282602BA44}"/>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4" name="Footer Placeholder 3">
            <a:extLst>
              <a:ext uri="{FF2B5EF4-FFF2-40B4-BE49-F238E27FC236}">
                <a16:creationId xmlns:a16="http://schemas.microsoft.com/office/drawing/2014/main" id="{FD7ACB91-883F-DC0B-C5D9-3CA06B835C0A}"/>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2283E174-6F49-4BE3-E05C-9E63EFDD068A}"/>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1829441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112613-6A68-6C38-DE6D-21336A073C43}"/>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3" name="Footer Placeholder 2">
            <a:extLst>
              <a:ext uri="{FF2B5EF4-FFF2-40B4-BE49-F238E27FC236}">
                <a16:creationId xmlns:a16="http://schemas.microsoft.com/office/drawing/2014/main" id="{F87AE854-C085-EA1C-D6FA-9501949F7BDA}"/>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5FBBC3B2-0220-B488-4525-A89E63ADFF0D}"/>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1279760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68FDC-3C81-8858-D9DD-CE3EF76A26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755634D3-3E53-BD9C-4F72-CDC664A51A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A3D95096-50BA-7CCE-3C23-5EE51E38F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EBDFE-EBF8-82A0-3226-F152EFE6F1B9}"/>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6" name="Footer Placeholder 5">
            <a:extLst>
              <a:ext uri="{FF2B5EF4-FFF2-40B4-BE49-F238E27FC236}">
                <a16:creationId xmlns:a16="http://schemas.microsoft.com/office/drawing/2014/main" id="{62706E46-E6EF-86DD-7861-4DA2D019046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581B147-F228-AE34-0189-6BE16A1702D5}"/>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3728680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B9209-90F0-1853-EF8E-DF0B4FA935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46E237AD-8E98-F021-2A66-20268D59F2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0689D7F-4718-1E61-C426-0DCC2598B1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40B859-9F13-0AEC-8EF0-1A9B12C93478}"/>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6" name="Footer Placeholder 5">
            <a:extLst>
              <a:ext uri="{FF2B5EF4-FFF2-40B4-BE49-F238E27FC236}">
                <a16:creationId xmlns:a16="http://schemas.microsoft.com/office/drawing/2014/main" id="{EE2C18BC-4252-2D41-1CB5-620E2CDB21D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C1943DAB-CEDF-2D5B-4834-491FC3030BCE}"/>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71080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2F583-5BD5-C7DC-C53F-78AC94E1AAF7}"/>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62087A0-42C3-C1A8-1B53-EE9CE7662F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973AF0D-453E-97BB-9073-636562EBA54A}"/>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5" name="Footer Placeholder 4">
            <a:extLst>
              <a:ext uri="{FF2B5EF4-FFF2-40B4-BE49-F238E27FC236}">
                <a16:creationId xmlns:a16="http://schemas.microsoft.com/office/drawing/2014/main" id="{A9D6CE1C-EBCD-0B0A-BB45-BDBFF917638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63BC6C8-352F-0C1F-2C60-AACF7DCE4162}"/>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329245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C8A970-1B77-ACC4-FF7D-9A812AC945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4038F85-B1E6-2236-64DB-6AB4016F02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06CC99E-8F7C-6A6F-C2B2-29457BAB8C71}"/>
              </a:ext>
            </a:extLst>
          </p:cNvPr>
          <p:cNvSpPr>
            <a:spLocks noGrp="1"/>
          </p:cNvSpPr>
          <p:nvPr>
            <p:ph type="dt" sz="half" idx="10"/>
          </p:nvPr>
        </p:nvSpPr>
        <p:spPr/>
        <p:txBody>
          <a:bodyPr/>
          <a:lstStyle/>
          <a:p>
            <a:fld id="{408E12D8-D0EA-43F0-A5C6-5D59EC4352EE}" type="datetimeFigureOut">
              <a:rPr lang="vi-VN" smtClean="0"/>
              <a:t>15/06/2026</a:t>
            </a:fld>
            <a:endParaRPr lang="vi-VN"/>
          </a:p>
        </p:txBody>
      </p:sp>
      <p:sp>
        <p:nvSpPr>
          <p:cNvPr id="5" name="Footer Placeholder 4">
            <a:extLst>
              <a:ext uri="{FF2B5EF4-FFF2-40B4-BE49-F238E27FC236}">
                <a16:creationId xmlns:a16="http://schemas.microsoft.com/office/drawing/2014/main" id="{93D5700F-F074-44A9-235A-A4CA82A5580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7EC29C27-9E17-C991-3781-5D7FA17BF85A}"/>
              </a:ext>
            </a:extLst>
          </p:cNvPr>
          <p:cNvSpPr>
            <a:spLocks noGrp="1"/>
          </p:cNvSpPr>
          <p:nvPr>
            <p:ph type="sldNum" sz="quarter" idx="12"/>
          </p:nvPr>
        </p:nvSpPr>
        <p:spPr/>
        <p:txBody>
          <a:bodyPr/>
          <a:lstStyle/>
          <a:p>
            <a:fld id="{1416F811-239D-495C-8178-5A3FC96E42F4}" type="slidenum">
              <a:rPr lang="vi-VN" smtClean="0"/>
              <a:t>‹#›</a:t>
            </a:fld>
            <a:endParaRPr lang="vi-VN"/>
          </a:p>
        </p:txBody>
      </p:sp>
    </p:spTree>
    <p:extLst>
      <p:ext uri="{BB962C8B-B14F-4D97-AF65-F5344CB8AC3E}">
        <p14:creationId xmlns:p14="http://schemas.microsoft.com/office/powerpoint/2010/main" val="3284381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621CD-7584-A8AC-38AB-0E77E7A442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6071212-B0FC-BC07-E251-921D8D0329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CEB258C-BB7E-9FB2-8A15-ED765A59A2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8E12D8-D0EA-43F0-A5C6-5D59EC4352EE}" type="datetimeFigureOut">
              <a:rPr lang="vi-VN" smtClean="0"/>
              <a:t>15/06/2026</a:t>
            </a:fld>
            <a:endParaRPr lang="vi-VN"/>
          </a:p>
        </p:txBody>
      </p:sp>
      <p:sp>
        <p:nvSpPr>
          <p:cNvPr id="5" name="Footer Placeholder 4">
            <a:extLst>
              <a:ext uri="{FF2B5EF4-FFF2-40B4-BE49-F238E27FC236}">
                <a16:creationId xmlns:a16="http://schemas.microsoft.com/office/drawing/2014/main" id="{77094778-436B-3A80-586F-D2419AC3D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EC6ADE00-908C-0BB8-86B0-68F9384317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16F811-239D-495C-8178-5A3FC96E42F4}" type="slidenum">
              <a:rPr lang="vi-VN" smtClean="0"/>
              <a:t>‹#›</a:t>
            </a:fld>
            <a:endParaRPr lang="vi-VN"/>
          </a:p>
        </p:txBody>
      </p:sp>
    </p:spTree>
    <p:extLst>
      <p:ext uri="{BB962C8B-B14F-4D97-AF65-F5344CB8AC3E}">
        <p14:creationId xmlns:p14="http://schemas.microsoft.com/office/powerpoint/2010/main" val="2697585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0B6455-88F6-A178-AEE3-A68CB16BE35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0653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E1E1FE-857B-1918-3F66-62F86F8467B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46144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E97B9B-5E38-139D-22B4-89891E827B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98867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DDFEF1-3628-0C31-C16F-449A6F10511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75069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669F47-94DE-663F-CAF2-9D53078E75F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62078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54807D-7FBB-A7CA-C44B-626FCBE97DF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41942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8AFAEA-CCC2-80FE-55D0-8E89B0270F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79667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DE3038-77A2-6B6B-1505-A06D87E310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42877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F144D7-8980-E589-3406-DD33C066E8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89014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AA7B48-71F9-B3BF-95C8-4DEDA84CCD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11465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20BDEB-47AE-68D3-2606-BF637B5BD53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10917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366509-D32E-7664-CDDE-D0A23A365F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84635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C8B98F-ADAC-BC67-6174-78E65D0B8D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89780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ED43EC-F21A-DD8B-0A56-110F0B13113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31932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2D479C-3966-7590-95EB-D18C03E729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10637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F2B0C4-FBBB-F11F-37B8-6B7F58F247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25882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3167F9-4C18-D65A-69B2-671860D0E53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10052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A6595A-6244-1D97-69D4-4A2DD15A40C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67123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B2BBAC-F23B-6CD6-85C8-1DD0AE12F1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06710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3CA0C7-E426-1407-4129-75ABE386EAA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07768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EF39F4-616B-08D8-85EC-61B0C43CC6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71474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4E8DC5-3D4B-7E8B-C89C-EC70ABF13B8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78138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D80C0A-665F-8D90-896E-0A78ECBCE6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9493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801698-E653-AF69-5107-68F3D33CB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64304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3599</Words>
  <Application>Microsoft Office PowerPoint</Application>
  <PresentationFormat>Custom</PresentationFormat>
  <Paragraphs>144</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Pham Duy Quang</dc:creator>
  <cp:lastModifiedBy>Pham Duy Quang</cp:lastModifiedBy>
  <cp:revision>1</cp:revision>
  <dcterms:created xsi:type="dcterms:W3CDTF">2026-06-15T09:34:40Z</dcterms:created>
  <dcterms:modified xsi:type="dcterms:W3CDTF">2026-06-15T09:34:40Z</dcterms:modified>
</cp:coreProperties>
</file>