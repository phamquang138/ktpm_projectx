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C800A7-4383-40AE-A72F-ED50FC61651E}" type="datetimeFigureOut">
              <a:rPr lang="vi-VN" smtClean="0"/>
              <a:t>15/06/2026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5CDD76-AE60-48E6-9B4E-5A36DFFD1C9A}" type="slidenum">
              <a:rPr lang="vi-VN" smtClean="0"/>
              <a:t>‹#›</a:t>
            </a:fld>
            <a:endParaRPr lang="vi-VN"/>
          </a:p>
        </p:txBody>
      </p:sp>
    </p:spTree>
    <p:extLst>
      <p:ext uri="{BB962C8B-B14F-4D97-AF65-F5344CB8AC3E}">
        <p14:creationId xmlns:p14="http://schemas.microsoft.com/office/powerpoint/2010/main" val="1351341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Xin chào thầy cô và các bạn. Hôm nay nhóm trình bày về CarHub Garage, một nền tảng dành cho cộng đồng yêu ô tô nhưng không chỉ dừng ở việc đăng bài hay rao bán xe.</a:t>
            </a:r>
          </a:p>
          <a:p>
            <a:endParaRPr lang="vi-VN"/>
          </a:p>
          <a:p>
            <a:endParaRPr lang="vi-VN"/>
          </a:p>
          <a:p>
            <a:r>
              <a:rPr lang="vi-VN"/>
              <a:t>Ý tưởng chính của nhóm là gom những hoạt động vốn đang rời rạc vào một hành trình thống nhất: người dùng có thể xây dựng hồ sơ, chia sẻ kinh nghiệm, quản lý xe đang sở hữu, tạo tin bán, tìm xe theo nhu cầu và trao đổi trực tiếp với người bán.</a:t>
            </a:r>
          </a:p>
          <a:p>
            <a:endParaRPr lang="vi-VN"/>
          </a:p>
          <a:p>
            <a:endParaRPr lang="vi-VN"/>
          </a:p>
          <a:p>
            <a:r>
              <a:rPr lang="vi-VN"/>
              <a:t>Trong phần trình bày, nhóm sẽ đi từ bài toán, chức năng, kiến trúc, dữ liệu, AI, bảo mật cho tới triển khai thực tế. Cuối cùng, nhóm sẽ tổng kết những gì hệ thống đã hoàn thành và hướng phát triển tiếp theo.</a:t>
            </a:r>
          </a:p>
        </p:txBody>
      </p:sp>
      <p:sp>
        <p:nvSpPr>
          <p:cNvPr id="4" name="Slide Number Placeholder 3"/>
          <p:cNvSpPr>
            <a:spLocks noGrp="1"/>
          </p:cNvSpPr>
          <p:nvPr>
            <p:ph type="sldNum" sz="quarter" idx="5"/>
          </p:nvPr>
        </p:nvSpPr>
        <p:spPr/>
        <p:txBody>
          <a:bodyPr/>
          <a:lstStyle/>
          <a:p>
            <a:fld id="{215CDD76-AE60-48E6-9B4E-5A36DFFD1C9A}" type="slidenum">
              <a:rPr lang="vi-VN" smtClean="0"/>
              <a:t>1</a:t>
            </a:fld>
            <a:endParaRPr lang="vi-VN"/>
          </a:p>
        </p:txBody>
      </p:sp>
    </p:spTree>
    <p:extLst>
      <p:ext uri="{BB962C8B-B14F-4D97-AF65-F5344CB8AC3E}">
        <p14:creationId xmlns:p14="http://schemas.microsoft.com/office/powerpoint/2010/main" val="989359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Để phần trình bày dễ theo dõi, nhóm chia nội dung thành sáu phần. Phần đầu tiên là bài toán và tầm nhìn, tức là lý do CarHub được xây dựng và khoảng trống mà sản phẩm muốn giải quyết.</a:t>
            </a:r>
          </a:p>
          <a:p>
            <a:endParaRPr lang="vi-VN"/>
          </a:p>
          <a:p>
            <a:endParaRPr lang="vi-VN"/>
          </a:p>
          <a:p>
            <a:r>
              <a:rPr lang="vi-VN"/>
              <a:t>Sau đó nhóm đi vào các tác nhân và nghiệp vụ chính. Đây là phần giúp nhìn hệ thống từ góc độ người dùng trước khi đi sâu vào giao diện và công nghệ.</a:t>
            </a:r>
          </a:p>
          <a:p>
            <a:endParaRPr lang="vi-VN"/>
          </a:p>
          <a:p>
            <a:endParaRPr lang="vi-VN"/>
          </a:p>
          <a:p>
            <a:r>
              <a:rPr lang="vi-VN"/>
              <a:t>Ba phần tiếp theo tập trung vào trải nghiệm sản phẩm, kiến trúc dữ liệu, AI, bảo mật và triển khai. Phần cuối cùng là kết quả đạt được, hạn chế còn lại và định hướng phát triển. Mạch trình bày này đi từ “tại sao” tới “làm gì”, rồi mới tới “làm như thế nào”.</a:t>
            </a:r>
          </a:p>
        </p:txBody>
      </p:sp>
      <p:sp>
        <p:nvSpPr>
          <p:cNvPr id="4" name="Slide Number Placeholder 3"/>
          <p:cNvSpPr>
            <a:spLocks noGrp="1"/>
          </p:cNvSpPr>
          <p:nvPr>
            <p:ph type="sldNum" sz="quarter" idx="5"/>
          </p:nvPr>
        </p:nvSpPr>
        <p:spPr/>
        <p:txBody>
          <a:bodyPr/>
          <a:lstStyle/>
          <a:p>
            <a:fld id="{215CDD76-AE60-48E6-9B4E-5A36DFFD1C9A}" type="slidenum">
              <a:rPr lang="vi-VN" smtClean="0"/>
              <a:t>2</a:t>
            </a:fld>
            <a:endParaRPr lang="vi-VN"/>
          </a:p>
        </p:txBody>
      </p:sp>
    </p:spTree>
    <p:extLst>
      <p:ext uri="{BB962C8B-B14F-4D97-AF65-F5344CB8AC3E}">
        <p14:creationId xmlns:p14="http://schemas.microsoft.com/office/powerpoint/2010/main" val="3997569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bắt đầu từ ba vấn đề khá rõ trong trải nghiệm hiện nay. Thứ nhất, nội dung cộng đồng thường đứng riêng. Một người có thể viết bài rất hay nhưng người đọc khó biết họ đang sở hữu xe gì, có hoạt động lâu dài hay không và mức độ uy tín ra sao.</a:t>
            </a:r>
          </a:p>
          <a:p>
            <a:endParaRPr lang="vi-VN"/>
          </a:p>
          <a:p>
            <a:endParaRPr lang="vi-VN"/>
          </a:p>
          <a:p>
            <a:r>
              <a:rPr lang="vi-VN"/>
              <a:t>Thứ hai, chợ xe thường chỉ tập trung vào tin đăng. Người mua nhìn thấy chiếc xe nhưng thiếu bối cảnh về người bán, lịch sử tương tác và kết nối cộng đồng.</a:t>
            </a:r>
          </a:p>
          <a:p>
            <a:endParaRPr lang="vi-VN"/>
          </a:p>
          <a:p>
            <a:endParaRPr lang="vi-VN"/>
          </a:p>
          <a:p>
            <a:r>
              <a:rPr lang="vi-VN"/>
              <a:t>Thứ ba, tìm kiếm xe vẫn dựa nhiều vào bộ lọc cứng. Người dùng mới đôi khi chỉ biết rằng mình cần xe gia đình khoảng một tỷ đồng, chứ chưa biết phải chọn SUV, MPV hay mẫu xe cụ thể. CarHub nối ba mảnh này lại để tạo trải nghiệm tự nhiên hơn.</a:t>
            </a:r>
          </a:p>
        </p:txBody>
      </p:sp>
      <p:sp>
        <p:nvSpPr>
          <p:cNvPr id="4" name="Slide Number Placeholder 3"/>
          <p:cNvSpPr>
            <a:spLocks noGrp="1"/>
          </p:cNvSpPr>
          <p:nvPr>
            <p:ph type="sldNum" sz="quarter" idx="5"/>
          </p:nvPr>
        </p:nvSpPr>
        <p:spPr/>
        <p:txBody>
          <a:bodyPr/>
          <a:lstStyle/>
          <a:p>
            <a:fld id="{215CDD76-AE60-48E6-9B4E-5A36DFFD1C9A}" type="slidenum">
              <a:rPr lang="vi-VN" smtClean="0"/>
              <a:t>3</a:t>
            </a:fld>
            <a:endParaRPr lang="vi-VN"/>
          </a:p>
        </p:txBody>
      </p:sp>
    </p:spTree>
    <p:extLst>
      <p:ext uri="{BB962C8B-B14F-4D97-AF65-F5344CB8AC3E}">
        <p14:creationId xmlns:p14="http://schemas.microsoft.com/office/powerpoint/2010/main" val="2227494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Tầm nhìn của CarHub là tạo ra một hành trình xuyên suốt. Người dùng không cần một ứng dụng để đọc bài, một nơi khác để lưu xe và thêm một nền tảng khác để bán xe.</a:t>
            </a:r>
          </a:p>
          <a:p>
            <a:endParaRPr lang="vi-VN"/>
          </a:p>
          <a:p>
            <a:endParaRPr lang="vi-VN"/>
          </a:p>
          <a:p>
            <a:r>
              <a:rPr lang="vi-VN"/>
              <a:t>Hành trình bắt đầu từ khám phá nội dung. Khi tương tác lâu dài, người dùng xây dựng được hồ sơ, quan hệ theo dõi và đánh giá. Sau đó Garage trở thành nơi quản lý các xe đang sở hữu. Khi có nhu cầu bán, tin Marketplace được tạo trực tiếp từ chiếc xe đó, không phải nhập lại toàn bộ dữ liệu.</a:t>
            </a:r>
          </a:p>
          <a:p>
            <a:endParaRPr lang="vi-VN"/>
          </a:p>
          <a:p>
            <a:endParaRPr lang="vi-VN"/>
          </a:p>
          <a:p>
            <a:r>
              <a:rPr lang="vi-VN"/>
              <a:t>Ở chiều ngược lại, người mua có thể xem tin xe, đánh giá người bán, trò chuyện theo đúng listing và tiếp tục theo dõi nhau trong cộng đồng. Đây chính là vòng lặp giá trị mà nhóm muốn xây dựng.</a:t>
            </a:r>
          </a:p>
        </p:txBody>
      </p:sp>
      <p:sp>
        <p:nvSpPr>
          <p:cNvPr id="4" name="Slide Number Placeholder 3"/>
          <p:cNvSpPr>
            <a:spLocks noGrp="1"/>
          </p:cNvSpPr>
          <p:nvPr>
            <p:ph type="sldNum" sz="quarter" idx="5"/>
          </p:nvPr>
        </p:nvSpPr>
        <p:spPr/>
        <p:txBody>
          <a:bodyPr/>
          <a:lstStyle/>
          <a:p>
            <a:fld id="{215CDD76-AE60-48E6-9B4E-5A36DFFD1C9A}" type="slidenum">
              <a:rPr lang="vi-VN" smtClean="0"/>
              <a:t>4</a:t>
            </a:fld>
            <a:endParaRPr lang="vi-VN"/>
          </a:p>
        </p:txBody>
      </p:sp>
    </p:spTree>
    <p:extLst>
      <p:ext uri="{BB962C8B-B14F-4D97-AF65-F5344CB8AC3E}">
        <p14:creationId xmlns:p14="http://schemas.microsoft.com/office/powerpoint/2010/main" val="2846080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Hệ thống có ba nhóm tác nhân chính. Khách được phép xem các nội dung công khai như bài cộng đồng, chuyên đề và tin xe. Những thao tác có ghi dữ liệu hoặc liên quan tới cá nhân sẽ yêu cầu đăng nhập.</a:t>
            </a:r>
          </a:p>
          <a:p>
            <a:endParaRPr lang="vi-VN"/>
          </a:p>
          <a:p>
            <a:endParaRPr lang="vi-VN"/>
          </a:p>
          <a:p>
            <a:r>
              <a:rPr lang="vi-VN"/>
              <a:t>Thành viên là nhóm sử dụng đầy đủ sản phẩm: đăng bài, quản lý Garage, tạo tin bán, lưu xe, bình luận, nhắn tin, nhận thông báo và dùng trợ lý AI.</a:t>
            </a:r>
          </a:p>
          <a:p>
            <a:endParaRPr lang="vi-VN"/>
          </a:p>
          <a:p>
            <a:endParaRPr lang="vi-VN"/>
          </a:p>
          <a:p>
            <a:r>
              <a:rPr lang="vi-VN"/>
              <a:t>Quản trị viên kế thừa quyền thành viên nhưng có thêm các chức năng kiểm duyệt. Việc phân quyền được xử lý ở backend bằng middleware, không chỉ ẩn nút ở giao diện. Cách tách này giúp hệ thống rõ ràng về trách nhiệm và giảm nguy cơ người dùng thường gọi nhầm API quản trị.</a:t>
            </a:r>
          </a:p>
        </p:txBody>
      </p:sp>
      <p:sp>
        <p:nvSpPr>
          <p:cNvPr id="4" name="Slide Number Placeholder 3"/>
          <p:cNvSpPr>
            <a:spLocks noGrp="1"/>
          </p:cNvSpPr>
          <p:nvPr>
            <p:ph type="sldNum" sz="quarter" idx="5"/>
          </p:nvPr>
        </p:nvSpPr>
        <p:spPr/>
        <p:txBody>
          <a:bodyPr/>
          <a:lstStyle/>
          <a:p>
            <a:fld id="{215CDD76-AE60-48E6-9B4E-5A36DFFD1C9A}" type="slidenum">
              <a:rPr lang="vi-VN" smtClean="0"/>
              <a:t>5</a:t>
            </a:fld>
            <a:endParaRPr lang="vi-VN"/>
          </a:p>
        </p:txBody>
      </p:sp>
    </p:spTree>
    <p:extLst>
      <p:ext uri="{BB962C8B-B14F-4D97-AF65-F5344CB8AC3E}">
        <p14:creationId xmlns:p14="http://schemas.microsoft.com/office/powerpoint/2010/main" val="2847255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này mô tả một luồng điển hình. Sau khi tạo tài khoản, người dùng có thể hoàn thiện hồ sơ, chọn hãng xe quan tâm và tham gia cộng đồng. Những hoạt động này dần tạo ra mức độ tin cậy cho tài khoản.</a:t>
            </a:r>
          </a:p>
          <a:p>
            <a:endParaRPr lang="vi-VN"/>
          </a:p>
          <a:p>
            <a:endParaRPr lang="vi-VN"/>
          </a:p>
          <a:p>
            <a:r>
              <a:rPr lang="vi-VN"/>
              <a:t>Khi thêm xe vào Garage, người dùng lưu thông tin kỹ thuật và hình ảnh. Nếu muốn bán, họ tạo listing từ chính xe đó. Người mua có thể tìm bằng bộ lọc truyền thống hoặc hỏi chatbot bằng câu tự nhiên.</a:t>
            </a:r>
          </a:p>
          <a:p>
            <a:endParaRPr lang="vi-VN"/>
          </a:p>
          <a:p>
            <a:endParaRPr lang="vi-VN"/>
          </a:p>
          <a:p>
            <a:r>
              <a:rPr lang="vi-VN"/>
              <a:t>Điểm quan trọng nhất nằm ở bước cuối: khi bấm liên hệ, cuộc trò chuyện được gắn với đúng tin xe. Hai bên luôn nhìn thấy chiếc xe đang trao đổi. Ngoài ra, người dùng còn có thể chia sẻ bài cộng đồng hoặc tin Marketplace vào một cuộc trò chuyện đã có.</a:t>
            </a:r>
          </a:p>
        </p:txBody>
      </p:sp>
      <p:sp>
        <p:nvSpPr>
          <p:cNvPr id="4" name="Slide Number Placeholder 3"/>
          <p:cNvSpPr>
            <a:spLocks noGrp="1"/>
          </p:cNvSpPr>
          <p:nvPr>
            <p:ph type="sldNum" sz="quarter" idx="5"/>
          </p:nvPr>
        </p:nvSpPr>
        <p:spPr/>
        <p:txBody>
          <a:bodyPr/>
          <a:lstStyle/>
          <a:p>
            <a:fld id="{215CDD76-AE60-48E6-9B4E-5A36DFFD1C9A}" type="slidenum">
              <a:rPr lang="vi-VN" smtClean="0"/>
              <a:t>6</a:t>
            </a:fld>
            <a:endParaRPr lang="vi-VN"/>
          </a:p>
        </p:txBody>
      </p:sp>
    </p:spTree>
    <p:extLst>
      <p:ext uri="{BB962C8B-B14F-4D97-AF65-F5344CB8AC3E}">
        <p14:creationId xmlns:p14="http://schemas.microsoft.com/office/powerpoint/2010/main" val="2413437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tài khoản được thiết kế theo hai lớp. Lớp thứ nhất là xác thực: đăng ký, đăng nhập, đăng xuất và khôi phục mật khẩu. Mật khẩu được hash bằng bcrypt; mã reset được hash, có thời hạn và chỉ dùng một lần.</a:t>
            </a:r>
          </a:p>
          <a:p>
            <a:endParaRPr lang="vi-VN"/>
          </a:p>
          <a:p>
            <a:endParaRPr lang="vi-VN"/>
          </a:p>
          <a:p>
            <a:r>
              <a:rPr lang="vi-VN"/>
              <a:t>Lớp thứ hai là danh tính cộng đồng. Người dùng có avatar, banner, giới thiệu, vị trí và các hãng xe quan tâm. Họ có thể theo dõi và đánh giá nhau. Admin hoặc tài khoản chuyên nghiệp đã xác thực sẽ có huy hiệu riêng.</a:t>
            </a:r>
          </a:p>
          <a:p>
            <a:endParaRPr lang="vi-VN"/>
          </a:p>
          <a:p>
            <a:endParaRPr lang="vi-VN"/>
          </a:p>
          <a:p>
            <a:r>
              <a:rPr lang="vi-VN"/>
              <a:t>Nhóm đã chủ động ẩn các chức năng giao diện chưa có backend thật, ví dụ đăng nhập Google hoặc Apple. Điều này giúp sản phẩm không tạo kỳ vọng sai và chỉ hiển thị những luồng đang hoạt động hoàn chỉnh.</a:t>
            </a:r>
          </a:p>
        </p:txBody>
      </p:sp>
      <p:sp>
        <p:nvSpPr>
          <p:cNvPr id="4" name="Slide Number Placeholder 3"/>
          <p:cNvSpPr>
            <a:spLocks noGrp="1"/>
          </p:cNvSpPr>
          <p:nvPr>
            <p:ph type="sldNum" sz="quarter" idx="5"/>
          </p:nvPr>
        </p:nvSpPr>
        <p:spPr/>
        <p:txBody>
          <a:bodyPr/>
          <a:lstStyle/>
          <a:p>
            <a:fld id="{215CDD76-AE60-48E6-9B4E-5A36DFFD1C9A}" type="slidenum">
              <a:rPr lang="vi-VN" smtClean="0"/>
              <a:t>7</a:t>
            </a:fld>
            <a:endParaRPr lang="vi-VN"/>
          </a:p>
        </p:txBody>
      </p:sp>
    </p:spTree>
    <p:extLst>
      <p:ext uri="{BB962C8B-B14F-4D97-AF65-F5344CB8AC3E}">
        <p14:creationId xmlns:p14="http://schemas.microsoft.com/office/powerpoint/2010/main" val="11061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Cộng đồng là một trụ cột quan trọng vì nó tạo ra nội dung, mối quan hệ và uy tín trước khi phát sinh giao dịch. Mỗi bài có caption, loại nội dung, danh sách ảnh và các chỉ số tương tác.</a:t>
            </a:r>
          </a:p>
          <a:p>
            <a:endParaRPr lang="vi-VN"/>
          </a:p>
          <a:p>
            <a:endParaRPr lang="vi-VN"/>
          </a:p>
          <a:p>
            <a:r>
              <a:rPr lang="vi-VN"/>
              <a:t>Người dùng có thể thích, bình luận, lưu và chia sẻ. Các danh sách bài đã thích hoặc đã lưu được tách riêng để truy cập lại. Tác giả có quyền sửa caption và xóa bài; quản trị viên cũng có quyền xử lý nội dung vi phạm.</a:t>
            </a:r>
          </a:p>
          <a:p>
            <a:endParaRPr lang="vi-VN"/>
          </a:p>
          <a:p>
            <a:endParaRPr lang="vi-VN"/>
          </a:p>
          <a:p>
            <a:r>
              <a:rPr lang="vi-VN"/>
              <a:t>Một cải tiến gần đây là chia sẻ bài vào MessageDock. Người dùng chọn cuộc trò chuyện, hệ thống gửi đoạn trích và đường dẫn mở đúng bài. Nhờ vậy nội dung cộng đồng không đứng riêng mà có thể trở thành chủ đề trao đổi giữa các thành viên.</a:t>
            </a:r>
          </a:p>
        </p:txBody>
      </p:sp>
      <p:sp>
        <p:nvSpPr>
          <p:cNvPr id="4" name="Slide Number Placeholder 3"/>
          <p:cNvSpPr>
            <a:spLocks noGrp="1"/>
          </p:cNvSpPr>
          <p:nvPr>
            <p:ph type="sldNum" sz="quarter" idx="5"/>
          </p:nvPr>
        </p:nvSpPr>
        <p:spPr/>
        <p:txBody>
          <a:bodyPr/>
          <a:lstStyle/>
          <a:p>
            <a:fld id="{215CDD76-AE60-48E6-9B4E-5A36DFFD1C9A}" type="slidenum">
              <a:rPr lang="vi-VN" smtClean="0"/>
              <a:t>8</a:t>
            </a:fld>
            <a:endParaRPr lang="vi-VN"/>
          </a:p>
        </p:txBody>
      </p:sp>
    </p:spTree>
    <p:extLst>
      <p:ext uri="{BB962C8B-B14F-4D97-AF65-F5344CB8AC3E}">
        <p14:creationId xmlns:p14="http://schemas.microsoft.com/office/powerpoint/2010/main" val="4236575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Garage được xem là nguồn dữ liệu gốc cho những chiếc xe người dùng đang quản lý. Mỗi xe có thông tin mô tả, hãng, mẫu, năm sản xuất, số kilomet, kiểu thân xe, nhiên liệu, hộp số, trạng thái và danh sách ảnh.</a:t>
            </a:r>
          </a:p>
          <a:p>
            <a:endParaRPr lang="vi-VN"/>
          </a:p>
          <a:p>
            <a:endParaRPr lang="vi-VN"/>
          </a:p>
          <a:p>
            <a:r>
              <a:rPr lang="vi-VN"/>
              <a:t>Người dùng có thể thêm, sửa và xóa xe. Khi muốn bán, họ không cần nhập lại mọi thứ mà tạo listing trực tiếp từ GarageVehicle.</a:t>
            </a:r>
          </a:p>
          <a:p>
            <a:endParaRPr lang="vi-VN"/>
          </a:p>
          <a:p>
            <a:endParaRPr lang="vi-VN"/>
          </a:p>
          <a:p>
            <a:r>
              <a:rPr lang="vi-VN"/>
              <a:t>Ở backend, thao tác xóa xe được đặt trong transaction. Các listing liên quan được xóa trước rồi mới xóa GarageVehicle. Đây là một chi tiết nhỏ nhưng quan trọng, vì nó tránh dữ liệu mồ côi và giữ quan hệ giữa Garage với Marketplace luôn nhất quán.</a:t>
            </a:r>
          </a:p>
        </p:txBody>
      </p:sp>
      <p:sp>
        <p:nvSpPr>
          <p:cNvPr id="4" name="Slide Number Placeholder 3"/>
          <p:cNvSpPr>
            <a:spLocks noGrp="1"/>
          </p:cNvSpPr>
          <p:nvPr>
            <p:ph type="sldNum" sz="quarter" idx="5"/>
          </p:nvPr>
        </p:nvSpPr>
        <p:spPr/>
        <p:txBody>
          <a:bodyPr/>
          <a:lstStyle/>
          <a:p>
            <a:fld id="{215CDD76-AE60-48E6-9B4E-5A36DFFD1C9A}" type="slidenum">
              <a:rPr lang="vi-VN" smtClean="0"/>
              <a:t>9</a:t>
            </a:fld>
            <a:endParaRPr lang="vi-VN"/>
          </a:p>
        </p:txBody>
      </p:sp>
    </p:spTree>
    <p:extLst>
      <p:ext uri="{BB962C8B-B14F-4D97-AF65-F5344CB8AC3E}">
        <p14:creationId xmlns:p14="http://schemas.microsoft.com/office/powerpoint/2010/main" val="2849679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Marketplace hiện có catalog 150 tin xe với tiêu đề riêng. Trong đó có 56 mẫu châu Âu và 16 tin thuộc nhóm Exotics. Dữ liệu này được tạo bằng script seed có kiểm tra ảnh, giá và mô tả.</a:t>
            </a:r>
          </a:p>
          <a:p>
            <a:endParaRPr lang="vi-VN"/>
          </a:p>
          <a:p>
            <a:endParaRPr lang="vi-VN"/>
          </a:p>
          <a:p>
            <a:r>
              <a:rPr lang="vi-VN"/>
              <a:t>Người dùng có thể tìm kiếm tự do và lọc theo danh mục, tình trạng, hãng, kiểu xe, nhiên liệu, hộp số và khoảng năm. Kết quả được phân trang 10 tin mỗi trang và có ba cách sắp xếp: mới nhất, xu hướng và cũ nhất.</a:t>
            </a:r>
          </a:p>
          <a:p>
            <a:endParaRPr lang="vi-VN"/>
          </a:p>
          <a:p>
            <a:endParaRPr lang="vi-VN"/>
          </a:p>
          <a:p>
            <a:r>
              <a:rPr lang="vi-VN"/>
              <a:t>Mỗi tin cho phép lưu yêu thích, bình luận, đánh giá người bán, liên hệ và chia sẻ vào tin nhắn. Giá hiển thị trực tiếp bằng VND. Các tin catalog ghi rõ đây là dữ liệu tham khảo, không giả làm tin rao trực tiếp của chủ xe.</a:t>
            </a:r>
          </a:p>
        </p:txBody>
      </p:sp>
      <p:sp>
        <p:nvSpPr>
          <p:cNvPr id="4" name="Slide Number Placeholder 3"/>
          <p:cNvSpPr>
            <a:spLocks noGrp="1"/>
          </p:cNvSpPr>
          <p:nvPr>
            <p:ph type="sldNum" sz="quarter" idx="5"/>
          </p:nvPr>
        </p:nvSpPr>
        <p:spPr/>
        <p:txBody>
          <a:bodyPr/>
          <a:lstStyle/>
          <a:p>
            <a:fld id="{215CDD76-AE60-48E6-9B4E-5A36DFFD1C9A}" type="slidenum">
              <a:rPr lang="vi-VN" smtClean="0"/>
              <a:t>10</a:t>
            </a:fld>
            <a:endParaRPr lang="vi-VN"/>
          </a:p>
        </p:txBody>
      </p:sp>
    </p:spTree>
    <p:extLst>
      <p:ext uri="{BB962C8B-B14F-4D97-AF65-F5344CB8AC3E}">
        <p14:creationId xmlns:p14="http://schemas.microsoft.com/office/powerpoint/2010/main" val="459976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Trang chi tiết tin xe là nơi người dùng chuyển từ khám phá sang quyết định. Phần ảnh hỗ trợ nhiều hình, thumbnail và lightbox. Mũi tên điều hướng được đặt theo chính khung ảnh hiển thị nên ảnh ngang, dọc hoặc vuông đều có vị trí phù hợp.</a:t>
            </a:r>
          </a:p>
          <a:p>
            <a:endParaRPr lang="vi-VN"/>
          </a:p>
          <a:p>
            <a:endParaRPr lang="vi-VN"/>
          </a:p>
          <a:p>
            <a:r>
              <a:rPr lang="vi-VN"/>
              <a:t>Phần thông tin gồm trạng thái, tình trạng xe, tiêu đề, giá, mô tả, vị trí và thông số. Hệ thống có cả mô tả của listing và GarageVehicle, nhưng frontend chỉ hiển thị mô tả thứ hai khi nội dung thực sự khác, tránh lặp hai lần.</a:t>
            </a:r>
          </a:p>
          <a:p>
            <a:endParaRPr lang="vi-VN"/>
          </a:p>
          <a:p>
            <a:endParaRPr lang="vi-VN"/>
          </a:p>
          <a:p>
            <a:r>
              <a:rPr lang="vi-VN"/>
              <a:t>Ba hành động chính là liên hệ người bán, lưu tin và chia sẻ. Khi chia sẻ, tin nhắn chứa tên xe, giá, đoạn mô tả ngắn và nút mở đúng trang Marketplace.</a:t>
            </a:r>
          </a:p>
        </p:txBody>
      </p:sp>
      <p:sp>
        <p:nvSpPr>
          <p:cNvPr id="4" name="Slide Number Placeholder 3"/>
          <p:cNvSpPr>
            <a:spLocks noGrp="1"/>
          </p:cNvSpPr>
          <p:nvPr>
            <p:ph type="sldNum" sz="quarter" idx="5"/>
          </p:nvPr>
        </p:nvSpPr>
        <p:spPr/>
        <p:txBody>
          <a:bodyPr/>
          <a:lstStyle/>
          <a:p>
            <a:fld id="{215CDD76-AE60-48E6-9B4E-5A36DFFD1C9A}" type="slidenum">
              <a:rPr lang="vi-VN" smtClean="0"/>
              <a:t>11</a:t>
            </a:fld>
            <a:endParaRPr lang="vi-VN"/>
          </a:p>
        </p:txBody>
      </p:sp>
    </p:spTree>
    <p:extLst>
      <p:ext uri="{BB962C8B-B14F-4D97-AF65-F5344CB8AC3E}">
        <p14:creationId xmlns:p14="http://schemas.microsoft.com/office/powerpoint/2010/main" val="50593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CarHub hỗ trợ hai loại conversation: trò chuyện trực tiếp giữa hai thành viên và trò chuyện gắn với một listing. Khi người mua bấm “Liên hệ”, backend tìm hoặc tạo cuộc trò chuyện phù hợp.</a:t>
            </a:r>
          </a:p>
          <a:p>
            <a:endParaRPr lang="vi-VN"/>
          </a:p>
          <a:p>
            <a:endParaRPr lang="vi-VN"/>
          </a:p>
          <a:p>
            <a:r>
              <a:rPr lang="vi-VN"/>
              <a:t>Nếu conversation gắn với listing, MessageDock luôn hiển thị thẻ xe ở phía trên. Hai bên không phải hỏi lại đang nói về chiếc nào. Hệ thống tải tối đa 200 tin nhắn gần nhất và đánh dấu đã đọc khi mở.</a:t>
            </a:r>
          </a:p>
          <a:p>
            <a:endParaRPr lang="vi-VN"/>
          </a:p>
          <a:p>
            <a:endParaRPr lang="vi-VN"/>
          </a:p>
          <a:p>
            <a:r>
              <a:rPr lang="vi-VN"/>
              <a:t>Frontend hiện dùng polling năm giây trong lúc dock đang mở. Ngoài tin nhắn chữ, người dùng có thể chia sẻ bài cộng đồng hoặc tin Marketplace. Đường dẫn được render thành nút “Mở bài viết” hoặc “Mở tin xe”, giúp trao đổi nhanh và có ngữ cảnh.</a:t>
            </a:r>
          </a:p>
        </p:txBody>
      </p:sp>
      <p:sp>
        <p:nvSpPr>
          <p:cNvPr id="4" name="Slide Number Placeholder 3"/>
          <p:cNvSpPr>
            <a:spLocks noGrp="1"/>
          </p:cNvSpPr>
          <p:nvPr>
            <p:ph type="sldNum" sz="quarter" idx="5"/>
          </p:nvPr>
        </p:nvSpPr>
        <p:spPr/>
        <p:txBody>
          <a:bodyPr/>
          <a:lstStyle/>
          <a:p>
            <a:fld id="{215CDD76-AE60-48E6-9B4E-5A36DFFD1C9A}" type="slidenum">
              <a:rPr lang="vi-VN" smtClean="0"/>
              <a:t>12</a:t>
            </a:fld>
            <a:endParaRPr lang="vi-VN"/>
          </a:p>
        </p:txBody>
      </p:sp>
    </p:spTree>
    <p:extLst>
      <p:ext uri="{BB962C8B-B14F-4D97-AF65-F5344CB8AC3E}">
        <p14:creationId xmlns:p14="http://schemas.microsoft.com/office/powerpoint/2010/main" val="3362274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Thông báo được tạo từ các sự kiện như like, comment, follow, tương tác Marketplace và message. Service thông báo có kiểm tra để không gửi thông báo cho chính người thực hiện hành động.</a:t>
            </a:r>
          </a:p>
          <a:p>
            <a:endParaRPr lang="vi-VN"/>
          </a:p>
          <a:p>
            <a:endParaRPr lang="vi-VN"/>
          </a:p>
          <a:p>
            <a:r>
              <a:rPr lang="vi-VN"/>
              <a:t>Người dùng xem tối đa 50 thông báo gần nhất và có thể đánh dấu tất cả đã đọc. Tuy nhiên, không phải ai cũng muốn nhận mọi loại thông báo, vì vậy trang cài đặt cho phép bật hoặc tắt theo từng nhóm.</a:t>
            </a:r>
          </a:p>
          <a:p>
            <a:endParaRPr lang="vi-VN"/>
          </a:p>
          <a:p>
            <a:endParaRPr lang="vi-VN"/>
          </a:p>
          <a:p>
            <a:r>
              <a:rPr lang="vi-VN"/>
              <a:t>Ngoài thông báo, cài đặt còn gồm theme sáng, tối hoặc theo hệ thống; mật độ giao diện; cỡ chữ; và tùy chọn tự động mở chatbot một lần trong phiên. Các giá trị được lưu theo tài khoản trong PostgreSQL để giữ nhất quán trên nhiều thiết bị.</a:t>
            </a:r>
          </a:p>
        </p:txBody>
      </p:sp>
      <p:sp>
        <p:nvSpPr>
          <p:cNvPr id="4" name="Slide Number Placeholder 3"/>
          <p:cNvSpPr>
            <a:spLocks noGrp="1"/>
          </p:cNvSpPr>
          <p:nvPr>
            <p:ph type="sldNum" sz="quarter" idx="5"/>
          </p:nvPr>
        </p:nvSpPr>
        <p:spPr/>
        <p:txBody>
          <a:bodyPr/>
          <a:lstStyle/>
          <a:p>
            <a:fld id="{215CDD76-AE60-48E6-9B4E-5A36DFFD1C9A}" type="slidenum">
              <a:rPr lang="vi-VN" smtClean="0"/>
              <a:t>13</a:t>
            </a:fld>
            <a:endParaRPr lang="vi-VN"/>
          </a:p>
        </p:txBody>
      </p:sp>
    </p:spTree>
    <p:extLst>
      <p:ext uri="{BB962C8B-B14F-4D97-AF65-F5344CB8AC3E}">
        <p14:creationId xmlns:p14="http://schemas.microsoft.com/office/powerpoint/2010/main" val="2906144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Trợ lý AI của CarHub không hoạt động như chatbot trả lời chung chung. Mục tiêu chính là chuyển yêu cầu tiếng Việt thành bộ lọc có cấu trúc rồi truy vấn dữ liệu thật.</a:t>
            </a:r>
          </a:p>
          <a:p>
            <a:endParaRPr lang="vi-VN"/>
          </a:p>
          <a:p>
            <a:endParaRPr lang="vi-VN"/>
          </a:p>
          <a:p>
            <a:r>
              <a:rPr lang="vi-VN"/>
              <a:t>Ví dụ với câu “Tìm 3 mẫu Mercedes đắt nhất”, hệ thống nhận diện alias Mercedes thành Mercedes-Benz, đọc số lượng là ba và phát hiện yêu cầu sắp xếp giá giảm dần. Sau đó Prisma lọc cứng theo hãng, sắp xếp toàn bộ catalog và chỉ trả đúng ba listing.</a:t>
            </a:r>
          </a:p>
          <a:p>
            <a:endParaRPr lang="vi-VN"/>
          </a:p>
          <a:p>
            <a:endParaRPr lang="vi-VN"/>
          </a:p>
          <a:p>
            <a:r>
              <a:rPr lang="vi-VN"/>
              <a:t>Nhóm cũng xử lý các câu như “trên dưới một tỷ rưỡi”, “ba chiếc”, “còn xe Nhật thì sao” hoặc “rẻ hơn”. Giá được hiểu trực tiếp bằng VND, không đổi qua USD. OpenRouter hỗ trợ các trường hợp phức tạp; parser local xử lý nhanh các truy vấn tìm kiếm có cấu trúc.</a:t>
            </a:r>
          </a:p>
        </p:txBody>
      </p:sp>
      <p:sp>
        <p:nvSpPr>
          <p:cNvPr id="4" name="Slide Number Placeholder 3"/>
          <p:cNvSpPr>
            <a:spLocks noGrp="1"/>
          </p:cNvSpPr>
          <p:nvPr>
            <p:ph type="sldNum" sz="quarter" idx="5"/>
          </p:nvPr>
        </p:nvSpPr>
        <p:spPr/>
        <p:txBody>
          <a:bodyPr/>
          <a:lstStyle/>
          <a:p>
            <a:fld id="{215CDD76-AE60-48E6-9B4E-5A36DFFD1C9A}" type="slidenum">
              <a:rPr lang="vi-VN" smtClean="0"/>
              <a:t>14</a:t>
            </a:fld>
            <a:endParaRPr lang="vi-VN"/>
          </a:p>
        </p:txBody>
      </p:sp>
    </p:spTree>
    <p:extLst>
      <p:ext uri="{BB962C8B-B14F-4D97-AF65-F5344CB8AC3E}">
        <p14:creationId xmlns:p14="http://schemas.microsoft.com/office/powerpoint/2010/main" val="2677825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Một nguyên tắc quan trọng là AI không được phép quyết định dữ liệu cuối cùng. Model chỉ phân tích ý định và trả bộ lọc theo JSON schema. Listing thật luôn do backend truy vấn từ PostgreSQL.</a:t>
            </a:r>
          </a:p>
          <a:p>
            <a:endParaRPr lang="vi-VN"/>
          </a:p>
          <a:p>
            <a:endParaRPr lang="vi-VN"/>
          </a:p>
          <a:p>
            <a:r>
              <a:rPr lang="vi-VN"/>
              <a:t>Sau khi nhận intent, backend áp dụng hard filter. Nếu người dùng yêu cầu Mercedes thì Toyota hoặc Aston Martin không thể lọt vào kết quả chỉ vì có điểm ranking cao. Với “đắt nhất” hoặc “rẻ nhất”, hệ thống sắp xếp trực tiếp theo giá VND.</a:t>
            </a:r>
          </a:p>
          <a:p>
            <a:endParaRPr lang="vi-VN"/>
          </a:p>
          <a:p>
            <a:endParaRPr lang="vi-VN"/>
          </a:p>
          <a:p>
            <a:r>
              <a:rPr lang="vi-VN"/>
              <a:t>Nếu OpenRouter chậm hoặc trả rỗng, parser local vẫn xử lý được nhiều câu hỏi phổ biến. Với đầu vào ảnh, backend kiểm tra protocol, hostname, MIME type, timeout và kích thước trước khi gửi sang model. Những guardrail này giúp AI hữu ích nhưng vẫn nằm trong biên kiểm soát.</a:t>
            </a:r>
          </a:p>
        </p:txBody>
      </p:sp>
      <p:sp>
        <p:nvSpPr>
          <p:cNvPr id="4" name="Slide Number Placeholder 3"/>
          <p:cNvSpPr>
            <a:spLocks noGrp="1"/>
          </p:cNvSpPr>
          <p:nvPr>
            <p:ph type="sldNum" sz="quarter" idx="5"/>
          </p:nvPr>
        </p:nvSpPr>
        <p:spPr/>
        <p:txBody>
          <a:bodyPr/>
          <a:lstStyle/>
          <a:p>
            <a:fld id="{215CDD76-AE60-48E6-9B4E-5A36DFFD1C9A}" type="slidenum">
              <a:rPr lang="vi-VN" smtClean="0"/>
              <a:t>15</a:t>
            </a:fld>
            <a:endParaRPr lang="vi-VN"/>
          </a:p>
        </p:txBody>
      </p:sp>
    </p:spTree>
    <p:extLst>
      <p:ext uri="{BB962C8B-B14F-4D97-AF65-F5344CB8AC3E}">
        <p14:creationId xmlns:p14="http://schemas.microsoft.com/office/powerpoint/2010/main" val="844782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Trang quản trị cung cấp dashboard tổng hợp số user, bài viết, GarageVehicle, listing, article, comment, rating và follow. Các biểu đồ ngắn giúp nhìn hoạt động gần đây.</a:t>
            </a:r>
          </a:p>
          <a:p>
            <a:endParaRPr lang="vi-VN"/>
          </a:p>
          <a:p>
            <a:endParaRPr lang="vi-VN"/>
          </a:p>
          <a:p>
            <a:r>
              <a:rPr lang="vi-VN"/>
              <a:t>Admin có thể xác thực tài khoản chuyên nghiệp, thay đổi trạng thái hoặc xóa bài, listing, xe Garage và chuyên đề. Bình luận, đánh giá và quan hệ follow cũng có thể được xử lý khi cần.</a:t>
            </a:r>
          </a:p>
          <a:p>
            <a:endParaRPr lang="vi-VN"/>
          </a:p>
          <a:p>
            <a:endParaRPr lang="vi-VN"/>
          </a:p>
          <a:p>
            <a:r>
              <a:rPr lang="vi-VN"/>
              <a:t>Ban đầu một số khối chỉ hiển thị tám hoặc sáu mục đầu. Nhóm đã bổ sung phân trang độc lập cho từng khu vực để quản trị viên xem được toàn bộ dữ liệu mà giao diện vẫn gọn. Backend còn có ràng buộc không cho admin tự xóa mình và không cho xóa admin cuối cùng.</a:t>
            </a:r>
          </a:p>
        </p:txBody>
      </p:sp>
      <p:sp>
        <p:nvSpPr>
          <p:cNvPr id="4" name="Slide Number Placeholder 3"/>
          <p:cNvSpPr>
            <a:spLocks noGrp="1"/>
          </p:cNvSpPr>
          <p:nvPr>
            <p:ph type="sldNum" sz="quarter" idx="5"/>
          </p:nvPr>
        </p:nvSpPr>
        <p:spPr/>
        <p:txBody>
          <a:bodyPr/>
          <a:lstStyle/>
          <a:p>
            <a:fld id="{215CDD76-AE60-48E6-9B4E-5A36DFFD1C9A}" type="slidenum">
              <a:rPr lang="vi-VN" smtClean="0"/>
              <a:t>16</a:t>
            </a:fld>
            <a:endParaRPr lang="vi-VN"/>
          </a:p>
        </p:txBody>
      </p:sp>
    </p:spTree>
    <p:extLst>
      <p:ext uri="{BB962C8B-B14F-4D97-AF65-F5344CB8AC3E}">
        <p14:creationId xmlns:p14="http://schemas.microsoft.com/office/powerpoint/2010/main" val="3688211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kiến trúc, dự án là một npm monorepo gồm frontend và backend. Frontend dùng React 19, Vite và TypeScript. Zustand quản lý các state dùng chung như xác thực, sidebar, settings và MessageDock.</a:t>
            </a:r>
          </a:p>
          <a:p>
            <a:endParaRPr lang="vi-VN"/>
          </a:p>
          <a:p>
            <a:endParaRPr lang="vi-VN"/>
          </a:p>
          <a:p>
            <a:r>
              <a:rPr lang="vi-VN"/>
              <a:t>Backend dùng Express. Luồng xử lý tiêu chuẩn là route, validation, controller, service rồi Prisma. Cách tách này giúp phần HTTP, kiểm tra dữ liệu và nghiệp vụ không trộn vào nhau.</a:t>
            </a:r>
          </a:p>
          <a:p>
            <a:endParaRPr lang="vi-VN"/>
          </a:p>
          <a:p>
            <a:endParaRPr lang="vi-VN"/>
          </a:p>
          <a:p>
            <a:r>
              <a:rPr lang="vi-VN"/>
              <a:t>Dữ liệu nằm trong Neon PostgreSQL. Ảnh production được lưu trên Vercel Blob, database chỉ giữ URL và metadata. OpenRouter là dịch vụ ngoài dành cho AI. Khi deploy, frontend phục vụ ở đường dẫn gốc và backend ở `/api`, vì vậy trình duyệt gọi API cùng domain, đơn giản hơn cho CORS và cấu hình.</a:t>
            </a:r>
          </a:p>
        </p:txBody>
      </p:sp>
      <p:sp>
        <p:nvSpPr>
          <p:cNvPr id="4" name="Slide Number Placeholder 3"/>
          <p:cNvSpPr>
            <a:spLocks noGrp="1"/>
          </p:cNvSpPr>
          <p:nvPr>
            <p:ph type="sldNum" sz="quarter" idx="5"/>
          </p:nvPr>
        </p:nvSpPr>
        <p:spPr/>
        <p:txBody>
          <a:bodyPr/>
          <a:lstStyle/>
          <a:p>
            <a:fld id="{215CDD76-AE60-48E6-9B4E-5A36DFFD1C9A}" type="slidenum">
              <a:rPr lang="vi-VN" smtClean="0"/>
              <a:t>17</a:t>
            </a:fld>
            <a:endParaRPr lang="vi-VN"/>
          </a:p>
        </p:txBody>
      </p:sp>
    </p:spTree>
    <p:extLst>
      <p:ext uri="{BB962C8B-B14F-4D97-AF65-F5344CB8AC3E}">
        <p14:creationId xmlns:p14="http://schemas.microsoft.com/office/powerpoint/2010/main" val="8446296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Cấu trúc mã nguồn được tổ chức để người mới vào dự án có thể đoán được nơi cần sửa. Ở frontend, component dùng chung nằm trong `components`, trang trong `pages`, API và upload ảnh nằm trong `lib`, còn state dùng chung nằm trong `store`.</a:t>
            </a:r>
          </a:p>
          <a:p>
            <a:endParaRPr lang="vi-VN"/>
          </a:p>
          <a:p>
            <a:endParaRPr lang="vi-VN"/>
          </a:p>
          <a:p>
            <a:r>
              <a:rPr lang="vi-VN"/>
              <a:t>Ở backend, route định nghĩa endpoint, controller tiếp nhận request, service xử lý nghiệp vụ, middleware đảm nhiệm auth, validation và upload. Prisma schema và migration được đặt riêng để theo dõi thay đổi database.</a:t>
            </a:r>
          </a:p>
          <a:p>
            <a:endParaRPr lang="vi-VN"/>
          </a:p>
          <a:p>
            <a:endParaRPr lang="vi-VN"/>
          </a:p>
          <a:p>
            <a:r>
              <a:rPr lang="vi-VN"/>
              <a:t>Thư mục gốc chứa cấu hình workspace và Vercel multi-service. `note.txt` là tài liệu vận hành chi tiết, README phục vụ giới thiệu và cài đặt, còn PlantUML mô tả use case. Cách tổ chức này hỗ trợ mở rộng mà không phải dồn toàn bộ logic vào vài file lớn.</a:t>
            </a:r>
          </a:p>
        </p:txBody>
      </p:sp>
      <p:sp>
        <p:nvSpPr>
          <p:cNvPr id="4" name="Slide Number Placeholder 3"/>
          <p:cNvSpPr>
            <a:spLocks noGrp="1"/>
          </p:cNvSpPr>
          <p:nvPr>
            <p:ph type="sldNum" sz="quarter" idx="5"/>
          </p:nvPr>
        </p:nvSpPr>
        <p:spPr/>
        <p:txBody>
          <a:bodyPr/>
          <a:lstStyle/>
          <a:p>
            <a:fld id="{215CDD76-AE60-48E6-9B4E-5A36DFFD1C9A}" type="slidenum">
              <a:rPr lang="vi-VN" smtClean="0"/>
              <a:t>18</a:t>
            </a:fld>
            <a:endParaRPr lang="vi-VN"/>
          </a:p>
        </p:txBody>
      </p:sp>
    </p:spTree>
    <p:extLst>
      <p:ext uri="{BB962C8B-B14F-4D97-AF65-F5344CB8AC3E}">
        <p14:creationId xmlns:p14="http://schemas.microsoft.com/office/powerpoint/2010/main" val="2138340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Database hiện có 19 model và được chia thành bốn miền. Identity gồm User, Follow, Rating và PasswordResetToken. Community gồm Post, Image và các bảng tương tác, cùng Article.</a:t>
            </a:r>
          </a:p>
          <a:p>
            <a:endParaRPr lang="vi-VN"/>
          </a:p>
          <a:p>
            <a:endParaRPr lang="vi-VN"/>
          </a:p>
          <a:p>
            <a:r>
              <a:rPr lang="vi-VN"/>
              <a:t>Commerce xoay quanh GarageVehicle và VehicleListing. ListingFavorite và ListingComment lưu tương tác trên chợ xe. Model Vehicle cũ vẫn còn để tương thích dữ liệu nhưng luồng chính hiện dùng GarageVehicle.</a:t>
            </a:r>
          </a:p>
          <a:p>
            <a:endParaRPr lang="vi-VN"/>
          </a:p>
          <a:p>
            <a:endParaRPr lang="vi-VN"/>
          </a:p>
          <a:p>
            <a:r>
              <a:rPr lang="vi-VN"/>
              <a:t>Engagement gồm Conversation, Message và Notification. Các quan hệ được thiết kế để một user có thể vừa là người mua, người bán, tác giả nội dung và thành viên cộng đồng. Prisma giúp biểu diễn quan hệ rõ ràng, còn transaction và cascade được dùng ở các thao tác cần bảo toàn tính nhất quán.</a:t>
            </a:r>
          </a:p>
        </p:txBody>
      </p:sp>
      <p:sp>
        <p:nvSpPr>
          <p:cNvPr id="4" name="Slide Number Placeholder 3"/>
          <p:cNvSpPr>
            <a:spLocks noGrp="1"/>
          </p:cNvSpPr>
          <p:nvPr>
            <p:ph type="sldNum" sz="quarter" idx="5"/>
          </p:nvPr>
        </p:nvSpPr>
        <p:spPr/>
        <p:txBody>
          <a:bodyPr/>
          <a:lstStyle/>
          <a:p>
            <a:fld id="{215CDD76-AE60-48E6-9B4E-5A36DFFD1C9A}" type="slidenum">
              <a:rPr lang="vi-VN" smtClean="0"/>
              <a:t>19</a:t>
            </a:fld>
            <a:endParaRPr lang="vi-VN"/>
          </a:p>
        </p:txBody>
      </p:sp>
    </p:spTree>
    <p:extLst>
      <p:ext uri="{BB962C8B-B14F-4D97-AF65-F5344CB8AC3E}">
        <p14:creationId xmlns:p14="http://schemas.microsoft.com/office/powerpoint/2010/main" val="4372979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API được chia theo tài nguyên và mức quyền. Nhóm public cho phép đăng nhập, đọc bài, xem xe, chuyên đề và hồ sơ công khai. Một số route dùng optional auth để trả thêm trạng thái like hoặc bookmark nếu người xem đã đăng nhập.</a:t>
            </a:r>
          </a:p>
          <a:p>
            <a:endParaRPr lang="vi-VN"/>
          </a:p>
          <a:p>
            <a:endParaRPr lang="vi-VN"/>
          </a:p>
          <a:p>
            <a:r>
              <a:rPr lang="vi-VN"/>
              <a:t>Nhóm member yêu cầu JWT, bao gồm tạo nội dung, quản lý Garage, listing, tin nhắn, notification, upload và AI. Nhóm admin yêu cầu thêm role ADMIN.</a:t>
            </a:r>
          </a:p>
          <a:p>
            <a:endParaRPr lang="vi-VN"/>
          </a:p>
          <a:p>
            <a:endParaRPr lang="vi-VN"/>
          </a:p>
          <a:p>
            <a:r>
              <a:rPr lang="vi-VN"/>
              <a:t>Mỗi request đi qua validation trước khi vào controller. Controller giữ vai trò mỏng, còn nghiệp vụ nằm trong service. Prisma là lớp truy cập dữ liệu. Cách tổ chức này giúp validation nhất quán, dễ test và hạn chế việc controller vừa xử lý HTTP vừa chứa quá nhiều logic database.</a:t>
            </a:r>
          </a:p>
        </p:txBody>
      </p:sp>
      <p:sp>
        <p:nvSpPr>
          <p:cNvPr id="4" name="Slide Number Placeholder 3"/>
          <p:cNvSpPr>
            <a:spLocks noGrp="1"/>
          </p:cNvSpPr>
          <p:nvPr>
            <p:ph type="sldNum" sz="quarter" idx="5"/>
          </p:nvPr>
        </p:nvSpPr>
        <p:spPr/>
        <p:txBody>
          <a:bodyPr/>
          <a:lstStyle/>
          <a:p>
            <a:fld id="{215CDD76-AE60-48E6-9B4E-5A36DFFD1C9A}" type="slidenum">
              <a:rPr lang="vi-VN" smtClean="0"/>
              <a:t>20</a:t>
            </a:fld>
            <a:endParaRPr lang="vi-VN"/>
          </a:p>
        </p:txBody>
      </p:sp>
    </p:spTree>
    <p:extLst>
      <p:ext uri="{BB962C8B-B14F-4D97-AF65-F5344CB8AC3E}">
        <p14:creationId xmlns:p14="http://schemas.microsoft.com/office/powerpoint/2010/main" val="797121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Bảo mật được triển khai theo nhiều lớp. Ở lớp xác thực, mật khẩu được hash bằng bcrypt và JWT được gửi qua Authorization Bearer. Route quan trọng dùng middleware requireAuth hoặc requireAdmin.</a:t>
            </a:r>
          </a:p>
          <a:p>
            <a:endParaRPr lang="vi-VN"/>
          </a:p>
          <a:p>
            <a:endParaRPr lang="vi-VN"/>
          </a:p>
          <a:p>
            <a:r>
              <a:rPr lang="vi-VN"/>
              <a:t>Ở lớp input, Zod kiểm tra body trước khi controller xử lý. Helmet thêm security headers, CORS chỉ cho phép origin được cấu hình hoặc Vercel origin hợp lệ. Rate limit được bật trên production.</a:t>
            </a:r>
          </a:p>
          <a:p>
            <a:endParaRPr lang="vi-VN"/>
          </a:p>
          <a:p>
            <a:endParaRPr lang="vi-VN"/>
          </a:p>
          <a:p>
            <a:r>
              <a:rPr lang="vi-VN"/>
              <a:t>Quan trọng hơn, quyền không chỉ dựa vào việc đã đăng nhập. Các thao tác sửa và xóa còn kiểm tra owner hoặc ADMIN. Conversation chỉ trả cho participant. Upload ảnh kiểm tra MIME, extension và dung lượng. Hệ thống cũng tránh ghi key, token hoặc mật khẩu vào log.</a:t>
            </a:r>
          </a:p>
        </p:txBody>
      </p:sp>
      <p:sp>
        <p:nvSpPr>
          <p:cNvPr id="4" name="Slide Number Placeholder 3"/>
          <p:cNvSpPr>
            <a:spLocks noGrp="1"/>
          </p:cNvSpPr>
          <p:nvPr>
            <p:ph type="sldNum" sz="quarter" idx="5"/>
          </p:nvPr>
        </p:nvSpPr>
        <p:spPr/>
        <p:txBody>
          <a:bodyPr/>
          <a:lstStyle/>
          <a:p>
            <a:fld id="{215CDD76-AE60-48E6-9B4E-5A36DFFD1C9A}" type="slidenum">
              <a:rPr lang="vi-VN" smtClean="0"/>
              <a:t>21</a:t>
            </a:fld>
            <a:endParaRPr lang="vi-VN"/>
          </a:p>
        </p:txBody>
      </p:sp>
    </p:spTree>
    <p:extLst>
      <p:ext uri="{BB962C8B-B14F-4D97-AF65-F5344CB8AC3E}">
        <p14:creationId xmlns:p14="http://schemas.microsoft.com/office/powerpoint/2010/main" val="3820274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Ảnh là phần chiếm dung lượng lớn nhất nên nhóm tách khỏi PostgreSQL. Frontend kiểm tra định dạng và dung lượng ban đầu, sau đó nén ảnh sang WEBP và giới hạn chiều lớn nhất khoảng 1920 pixel.</a:t>
            </a:r>
          </a:p>
          <a:p>
            <a:endParaRPr lang="vi-VN"/>
          </a:p>
          <a:p>
            <a:endParaRPr lang="vi-VN"/>
          </a:p>
          <a:p>
            <a:r>
              <a:rPr lang="vi-VN"/>
              <a:t>Backend nhận file bằng Multer memory storage, kiểm tra lại MIME và dung lượng tối đa bốn megabyte. Khi chạy local, ảnh có thể lưu trong thư mục uploads. Trên production hoặc khi dùng database remote, ảnh được đưa lên Vercel Blob.</a:t>
            </a:r>
          </a:p>
          <a:p>
            <a:endParaRPr lang="vi-VN"/>
          </a:p>
          <a:p>
            <a:endParaRPr lang="vi-VN"/>
          </a:p>
          <a:p>
            <a:r>
              <a:rPr lang="vi-VN"/>
              <a:t>Database chỉ giữ URL và metadata. Cách này phù hợp với serverless vì filesystem production không bền vững, đồng thời tránh làm PostgreSQL phình to. Với catalog, ảnh đại diện được lấy từ Wikipedia hoặc Wikimedia Commons và lưu kèm nguồn để dễ kiểm tra.</a:t>
            </a:r>
          </a:p>
        </p:txBody>
      </p:sp>
      <p:sp>
        <p:nvSpPr>
          <p:cNvPr id="4" name="Slide Number Placeholder 3"/>
          <p:cNvSpPr>
            <a:spLocks noGrp="1"/>
          </p:cNvSpPr>
          <p:nvPr>
            <p:ph type="sldNum" sz="quarter" idx="5"/>
          </p:nvPr>
        </p:nvSpPr>
        <p:spPr/>
        <p:txBody>
          <a:bodyPr/>
          <a:lstStyle/>
          <a:p>
            <a:fld id="{215CDD76-AE60-48E6-9B4E-5A36DFFD1C9A}" type="slidenum">
              <a:rPr lang="vi-VN" smtClean="0"/>
              <a:t>22</a:t>
            </a:fld>
            <a:endParaRPr lang="vi-VN"/>
          </a:p>
        </p:txBody>
      </p:sp>
    </p:spTree>
    <p:extLst>
      <p:ext uri="{BB962C8B-B14F-4D97-AF65-F5344CB8AC3E}">
        <p14:creationId xmlns:p14="http://schemas.microsoft.com/office/powerpoint/2010/main" val="2066753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Ở môi trường local, dự án dùng npm workspace. Sau khi cài package, nhóm generate Prisma client, chạy migration và dùng `npm run dev` để khởi động đồng thời frontend với backend.</a:t>
            </a:r>
          </a:p>
          <a:p>
            <a:endParaRPr lang="vi-VN"/>
          </a:p>
          <a:p>
            <a:endParaRPr lang="vi-VN"/>
          </a:p>
          <a:p>
            <a:r>
              <a:rPr lang="vi-VN"/>
              <a:t>Trước khi merge hoặc deploy, quy trình tối thiểu là chạy lint và build. Những script dữ liệu như seed catalog hoặc audit catalog được tách riêng để có thể chạy lại khi cần.</a:t>
            </a:r>
          </a:p>
          <a:p>
            <a:endParaRPr lang="vi-VN"/>
          </a:p>
          <a:p>
            <a:endParaRPr lang="vi-VN"/>
          </a:p>
          <a:p>
            <a:r>
              <a:rPr lang="vi-VN"/>
              <a:t>Production dùng Vercel theo mô hình Services. Frontend phục vụ ở `/`, backend ở `/api`, Neon lưu dữ liệu và Vercel Blob lưu ảnh. Build backend chạy migration deploy. Sau khi triển khai, nhóm gọi `/api/health` để xác nhận service, environment và timestamp hoạt động bình thường.</a:t>
            </a:r>
          </a:p>
        </p:txBody>
      </p:sp>
      <p:sp>
        <p:nvSpPr>
          <p:cNvPr id="4" name="Slide Number Placeholder 3"/>
          <p:cNvSpPr>
            <a:spLocks noGrp="1"/>
          </p:cNvSpPr>
          <p:nvPr>
            <p:ph type="sldNum" sz="quarter" idx="5"/>
          </p:nvPr>
        </p:nvSpPr>
        <p:spPr/>
        <p:txBody>
          <a:bodyPr/>
          <a:lstStyle/>
          <a:p>
            <a:fld id="{215CDD76-AE60-48E6-9B4E-5A36DFFD1C9A}" type="slidenum">
              <a:rPr lang="vi-VN" smtClean="0"/>
              <a:t>23</a:t>
            </a:fld>
            <a:endParaRPr lang="vi-VN"/>
          </a:p>
        </p:txBody>
      </p:sp>
    </p:spTree>
    <p:extLst>
      <p:ext uri="{BB962C8B-B14F-4D97-AF65-F5344CB8AC3E}">
        <p14:creationId xmlns:p14="http://schemas.microsoft.com/office/powerpoint/2010/main" val="2443487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Nhìn lại, CarHub đã hoàn thành một hệ thống full-stack tương đối đầy đủ: xác thực, hồ sơ, cộng đồng, Garage, Marketplace, nhắn tin, thông báo, AI, cài đặt và quản trị.</a:t>
            </a:r>
          </a:p>
          <a:p>
            <a:endParaRPr lang="vi-VN"/>
          </a:p>
          <a:p>
            <a:endParaRPr lang="vi-VN"/>
          </a:p>
          <a:p>
            <a:r>
              <a:rPr lang="vi-VN"/>
              <a:t>Về kỹ thuật, hệ thống có 19 model dữ liệu, kiến trúc tách lớp, pipeline ảnh phù hợp production, phân quyền rõ ràng và deploy multi-service. Catalog hiện có 150 tin xe cùng dữ liệu cộng đồng để minh họa và kiểm thử.</a:t>
            </a:r>
          </a:p>
          <a:p>
            <a:endParaRPr lang="vi-VN"/>
          </a:p>
          <a:p>
            <a:endParaRPr lang="vi-VN"/>
          </a:p>
          <a:p>
            <a:r>
              <a:rPr lang="vi-VN"/>
              <a:t>Hướng tiếp theo là nâng độ tin cậy giao dịch bằng xác minh xe, lịch sử bảo dưỡng hoặc tích hợp kiểm định; chuyển messaging sang realtime; và bổ sung recommendation dựa trên hành vi. Thông điệp cuối cùng của nhóm là: CarHub không chỉ hiển thị xe, mà kết nối con người, nội dung và giao dịch quanh chiếc xe đó. Xin cảm ơn và mời thầy cô đặt câu hỏi.</a:t>
            </a:r>
          </a:p>
        </p:txBody>
      </p:sp>
      <p:sp>
        <p:nvSpPr>
          <p:cNvPr id="4" name="Slide Number Placeholder 3"/>
          <p:cNvSpPr>
            <a:spLocks noGrp="1"/>
          </p:cNvSpPr>
          <p:nvPr>
            <p:ph type="sldNum" sz="quarter" idx="5"/>
          </p:nvPr>
        </p:nvSpPr>
        <p:spPr/>
        <p:txBody>
          <a:bodyPr/>
          <a:lstStyle/>
          <a:p>
            <a:fld id="{215CDD76-AE60-48E6-9B4E-5A36DFFD1C9A}" type="slidenum">
              <a:rPr lang="vi-VN" smtClean="0"/>
              <a:t>24</a:t>
            </a:fld>
            <a:endParaRPr lang="vi-VN"/>
          </a:p>
        </p:txBody>
      </p:sp>
    </p:spTree>
    <p:extLst>
      <p:ext uri="{BB962C8B-B14F-4D97-AF65-F5344CB8AC3E}">
        <p14:creationId xmlns:p14="http://schemas.microsoft.com/office/powerpoint/2010/main" val="3990021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A0097-D194-3018-55F9-929D945C31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310925E-AC21-6513-DE9A-4363E3B1C3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DD7326CF-8776-AC7A-409F-C91215612894}"/>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5" name="Footer Placeholder 4">
            <a:extLst>
              <a:ext uri="{FF2B5EF4-FFF2-40B4-BE49-F238E27FC236}">
                <a16:creationId xmlns:a16="http://schemas.microsoft.com/office/drawing/2014/main" id="{DF89C5E9-DB96-3363-908B-E5C2ADC0EA3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BBEEC1D-8B6F-4DB9-5C1A-1AF9CFA87256}"/>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2982517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DA08-1DE8-5FDA-5372-ECBFA19931F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754B1D10-2D19-2150-AF75-792B8E4EB8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576AED8-0350-514F-FDB6-EB2D1544B605}"/>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5" name="Footer Placeholder 4">
            <a:extLst>
              <a:ext uri="{FF2B5EF4-FFF2-40B4-BE49-F238E27FC236}">
                <a16:creationId xmlns:a16="http://schemas.microsoft.com/office/drawing/2014/main" id="{FA36BB28-3979-1912-4861-3DA811058DF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D754798-494F-27B6-3319-B9899E681CFF}"/>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1673367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54FBD-12A1-40A1-F3D2-F1F838F978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0C69A8AB-958E-2C87-E4F5-F7DF79E065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0C2091-CA33-D6F7-968F-A38BFAB6D594}"/>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5" name="Footer Placeholder 4">
            <a:extLst>
              <a:ext uri="{FF2B5EF4-FFF2-40B4-BE49-F238E27FC236}">
                <a16:creationId xmlns:a16="http://schemas.microsoft.com/office/drawing/2014/main" id="{6E3C2BCF-0ABA-15B0-D60C-F77685BC1C0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4647766-D43C-89D9-CD92-30A9981A9A34}"/>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3558758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29C6-9C99-A748-616D-0D5BA67B1FE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08AD22CB-B477-CB5F-6F0C-951BDAA7DD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5CEABA0F-70C4-7B63-DB75-08B01464A0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A9F861BF-FD7F-9FC5-EF5B-1555037D6FD8}"/>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6" name="Footer Placeholder 5">
            <a:extLst>
              <a:ext uri="{FF2B5EF4-FFF2-40B4-BE49-F238E27FC236}">
                <a16:creationId xmlns:a16="http://schemas.microsoft.com/office/drawing/2014/main" id="{B0040C5B-EF39-E5A6-C206-1105769A9C6B}"/>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451849F-BEB5-8B52-97D6-55AA4F36B8F0}"/>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3884687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0E588-E204-8057-32A5-47E73274701B}"/>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0D4CCB88-EA62-B84C-A848-0C647205E3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AB8543-5231-66FA-A0E7-350380889F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975923CA-6598-8692-0561-6B88E87077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C84F1F-0E8E-1072-F584-B03E868456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48C28299-FAF0-594F-A13F-FB5AD1FC70D5}"/>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8" name="Footer Placeholder 7">
            <a:extLst>
              <a:ext uri="{FF2B5EF4-FFF2-40B4-BE49-F238E27FC236}">
                <a16:creationId xmlns:a16="http://schemas.microsoft.com/office/drawing/2014/main" id="{92D8C508-DEE6-5DE8-9F8D-6E47539F5DC5}"/>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D5B9F944-59D4-7626-B3EB-17ADDF0795CE}"/>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3930954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AD3CC-D490-6A27-31F8-27B372E02A8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2D06D13D-82DC-E65F-AB03-B2B3D6874B37}"/>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4" name="Footer Placeholder 3">
            <a:extLst>
              <a:ext uri="{FF2B5EF4-FFF2-40B4-BE49-F238E27FC236}">
                <a16:creationId xmlns:a16="http://schemas.microsoft.com/office/drawing/2014/main" id="{D0357B92-BB11-F649-32C5-CFC550596AE2}"/>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113958FE-4041-D94E-68BD-D59A9BC54493}"/>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177463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507E71-824D-8D31-124E-991185A88DE1}"/>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3" name="Footer Placeholder 2">
            <a:extLst>
              <a:ext uri="{FF2B5EF4-FFF2-40B4-BE49-F238E27FC236}">
                <a16:creationId xmlns:a16="http://schemas.microsoft.com/office/drawing/2014/main" id="{C6B19AAD-C9FA-9FA0-7AB9-694CA7F1CBD1}"/>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92340A96-6A89-B80A-2883-225E9D59200D}"/>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552868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849C-9401-D64F-7F07-89060D2C4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70A7B250-3127-EE05-28E3-0B03C68A38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E164CDF7-EBFE-F0DD-440A-D296CAE5A8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8EE407-3652-46E8-09A5-2268DF85A55A}"/>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6" name="Footer Placeholder 5">
            <a:extLst>
              <a:ext uri="{FF2B5EF4-FFF2-40B4-BE49-F238E27FC236}">
                <a16:creationId xmlns:a16="http://schemas.microsoft.com/office/drawing/2014/main" id="{4C950D3F-1A13-B9FB-C20F-61FAF0490F8C}"/>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6BE93D02-1BF2-CB3C-2669-653F750EA29B}"/>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3980442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71BE0-2429-0A85-B774-138136757F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2DF62D22-9CAF-1C06-EDDE-46B0F16EE4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BE075D2D-3F16-9219-FA00-CCA6F9943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3953EF-6E37-B074-E7DA-FD6B9CBF08F1}"/>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6" name="Footer Placeholder 5">
            <a:extLst>
              <a:ext uri="{FF2B5EF4-FFF2-40B4-BE49-F238E27FC236}">
                <a16:creationId xmlns:a16="http://schemas.microsoft.com/office/drawing/2014/main" id="{91CFEA14-3F7C-84AD-A840-9505B394C8E3}"/>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C8D4A63D-62E9-B6B4-6C17-BF95B413B485}"/>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370620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D78B8-1FD8-B66C-A781-7AFD6F4A83A1}"/>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512B224F-9AE4-7C3A-E924-E022B2C647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C116C81-3883-802B-4495-A5EEA29CBF85}"/>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5" name="Footer Placeholder 4">
            <a:extLst>
              <a:ext uri="{FF2B5EF4-FFF2-40B4-BE49-F238E27FC236}">
                <a16:creationId xmlns:a16="http://schemas.microsoft.com/office/drawing/2014/main" id="{0BDF1B3D-BAF8-A196-1B4D-9EF6BA5F5DC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E78266B-CF5B-D9C0-FF22-7F6D45C1F91F}"/>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198455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AF4D9A-AEE2-B801-40FA-AC98EE2DFF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92DCF9A-D844-F486-081F-38F3510CB3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CE8CA19-9B79-C133-6EEB-9832B06B3F72}"/>
              </a:ext>
            </a:extLst>
          </p:cNvPr>
          <p:cNvSpPr>
            <a:spLocks noGrp="1"/>
          </p:cNvSpPr>
          <p:nvPr>
            <p:ph type="dt" sz="half" idx="10"/>
          </p:nvPr>
        </p:nvSpPr>
        <p:spPr/>
        <p:txBody>
          <a:bodyPr/>
          <a:lstStyle/>
          <a:p>
            <a:fld id="{A8B42937-0E2B-4549-B5F0-C4809D78064C}" type="datetimeFigureOut">
              <a:rPr lang="vi-VN" smtClean="0"/>
              <a:t>15/06/2026</a:t>
            </a:fld>
            <a:endParaRPr lang="vi-VN"/>
          </a:p>
        </p:txBody>
      </p:sp>
      <p:sp>
        <p:nvSpPr>
          <p:cNvPr id="5" name="Footer Placeholder 4">
            <a:extLst>
              <a:ext uri="{FF2B5EF4-FFF2-40B4-BE49-F238E27FC236}">
                <a16:creationId xmlns:a16="http://schemas.microsoft.com/office/drawing/2014/main" id="{0F326A8B-DDB4-355C-788C-C051E0C0430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A34AD67-146A-DE3C-47C6-25B00F0AD842}"/>
              </a:ext>
            </a:extLst>
          </p:cNvPr>
          <p:cNvSpPr>
            <a:spLocks noGrp="1"/>
          </p:cNvSpPr>
          <p:nvPr>
            <p:ph type="sldNum" sz="quarter" idx="12"/>
          </p:nvPr>
        </p:nvSpPr>
        <p:spPr/>
        <p:txBody>
          <a:bodyPr/>
          <a:lstStyle/>
          <a:p>
            <a:fld id="{5A06FAB9-386E-4F1C-8790-83308EEAF7E1}" type="slidenum">
              <a:rPr lang="vi-VN" smtClean="0"/>
              <a:t>‹#›</a:t>
            </a:fld>
            <a:endParaRPr lang="vi-VN"/>
          </a:p>
        </p:txBody>
      </p:sp>
    </p:spTree>
    <p:extLst>
      <p:ext uri="{BB962C8B-B14F-4D97-AF65-F5344CB8AC3E}">
        <p14:creationId xmlns:p14="http://schemas.microsoft.com/office/powerpoint/2010/main" val="1785594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30C68F-B732-A288-EB19-EF5891A306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346B4D02-D698-9DAA-9D70-7D00120163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405B003-CDB8-F9AF-F185-F86EDAF777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42937-0E2B-4549-B5F0-C4809D78064C}" type="datetimeFigureOut">
              <a:rPr lang="vi-VN" smtClean="0"/>
              <a:t>15/06/2026</a:t>
            </a:fld>
            <a:endParaRPr lang="vi-VN"/>
          </a:p>
        </p:txBody>
      </p:sp>
      <p:sp>
        <p:nvSpPr>
          <p:cNvPr id="5" name="Footer Placeholder 4">
            <a:extLst>
              <a:ext uri="{FF2B5EF4-FFF2-40B4-BE49-F238E27FC236}">
                <a16:creationId xmlns:a16="http://schemas.microsoft.com/office/drawing/2014/main" id="{C7B0F9CF-39AE-2DFC-D164-44FC2435A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E18E6091-862C-8E9C-C7C4-54AE1437F3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06FAB9-386E-4F1C-8790-83308EEAF7E1}" type="slidenum">
              <a:rPr lang="vi-VN" smtClean="0"/>
              <a:t>‹#›</a:t>
            </a:fld>
            <a:endParaRPr lang="vi-VN"/>
          </a:p>
        </p:txBody>
      </p:sp>
    </p:spTree>
    <p:extLst>
      <p:ext uri="{BB962C8B-B14F-4D97-AF65-F5344CB8AC3E}">
        <p14:creationId xmlns:p14="http://schemas.microsoft.com/office/powerpoint/2010/main" val="558447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99117796-64E1-DE30-6E91-3156243A6141}"/>
              </a:ext>
            </a:extLst>
          </p:cNvPr>
          <p:cNvSpPr/>
          <p:nvPr/>
        </p:nvSpPr>
        <p:spPr>
          <a:xfrm>
            <a:off x="9555545" y="0"/>
            <a:ext cx="2636455" cy="3192996"/>
          </a:xfrm>
          <a:prstGeom prst="ellipse">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E480C705-856A-4B91-A073-1771E0DFCE46}"/>
              </a:ext>
            </a:extLst>
          </p:cNvPr>
          <p:cNvSpPr/>
          <p:nvPr/>
        </p:nvSpPr>
        <p:spPr>
          <a:xfrm>
            <a:off x="10134278" y="0"/>
            <a:ext cx="2057722" cy="2568279"/>
          </a:xfrm>
          <a:prstGeom prst="ellipse">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D9ABF63E-D813-0041-9CEE-FC9E51144764}"/>
              </a:ext>
            </a:extLst>
          </p:cNvPr>
          <p:cNvSpPr/>
          <p:nvPr/>
        </p:nvSpPr>
        <p:spPr>
          <a:xfrm>
            <a:off x="758785" y="652482"/>
            <a:ext cx="295797" cy="319299"/>
          </a:xfrm>
          <a:prstGeom prst="roundRect">
            <a:avLst/>
          </a:prstGeom>
          <a:solidFill>
            <a:srgbClr val="9B9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2E2D3BA1-5374-E0DB-8485-FACD6380AB75}"/>
              </a:ext>
            </a:extLst>
          </p:cNvPr>
          <p:cNvSpPr/>
          <p:nvPr/>
        </p:nvSpPr>
        <p:spPr>
          <a:xfrm>
            <a:off x="8349848" y="1334789"/>
            <a:ext cx="3469190" cy="16255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34EE10BC-2E04-038A-4BA6-F84E57BC50B1}"/>
              </a:ext>
            </a:extLst>
          </p:cNvPr>
          <p:cNvSpPr/>
          <p:nvPr/>
        </p:nvSpPr>
        <p:spPr>
          <a:xfrm>
            <a:off x="8356278" y="1341731"/>
            <a:ext cx="3456330" cy="333182"/>
          </a:xfrm>
          <a:prstGeom prst="rect">
            <a:avLst/>
          </a:prstGeom>
          <a:noFill/>
          <a:ln w="6430" cap="flat" cmpd="sng" algn="ctr">
            <a:solidFill>
              <a:srgbClr val="C0CAF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A3FACC7A-4276-E57E-BE05-F4391FC9EED5}"/>
              </a:ext>
            </a:extLst>
          </p:cNvPr>
          <p:cNvSpPr/>
          <p:nvPr/>
        </p:nvSpPr>
        <p:spPr>
          <a:xfrm>
            <a:off x="8459164" y="1473615"/>
            <a:ext cx="57873" cy="62472"/>
          </a:xfrm>
          <a:prstGeom prst="ellipse">
            <a:avLst/>
          </a:prstGeom>
          <a:solidFill>
            <a:srgbClr val="F8514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7943449A-2AF1-9A71-71DB-244F8CC51989}"/>
              </a:ext>
            </a:extLst>
          </p:cNvPr>
          <p:cNvSpPr/>
          <p:nvPr/>
        </p:nvSpPr>
        <p:spPr>
          <a:xfrm>
            <a:off x="8562050" y="1473615"/>
            <a:ext cx="57873" cy="62472"/>
          </a:xfrm>
          <a:prstGeom prst="ellipse">
            <a:avLst/>
          </a:prstGeom>
          <a:solidFill>
            <a:srgbClr val="D299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Shape 8">
            <a:extLst>
              <a:ext uri="{FF2B5EF4-FFF2-40B4-BE49-F238E27FC236}">
                <a16:creationId xmlns:a16="http://schemas.microsoft.com/office/drawing/2014/main" id="{07364D2D-7E33-EC6F-A617-5565B6764D80}"/>
              </a:ext>
            </a:extLst>
          </p:cNvPr>
          <p:cNvSpPr/>
          <p:nvPr/>
        </p:nvSpPr>
        <p:spPr>
          <a:xfrm>
            <a:off x="8664937" y="1473615"/>
            <a:ext cx="57873" cy="62472"/>
          </a:xfrm>
          <a:prstGeom prst="ellipse">
            <a:avLst/>
          </a:prstGeom>
          <a:solidFill>
            <a:srgbClr val="3FB9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TML Shape 9">
            <a:extLst>
              <a:ext uri="{FF2B5EF4-FFF2-40B4-BE49-F238E27FC236}">
                <a16:creationId xmlns:a16="http://schemas.microsoft.com/office/drawing/2014/main" id="{D0AE4B47-E5D9-76AD-593D-93F506CD02E6}"/>
              </a:ext>
            </a:extLst>
          </p:cNvPr>
          <p:cNvSpPr/>
          <p:nvPr/>
        </p:nvSpPr>
        <p:spPr>
          <a:xfrm>
            <a:off x="8356278" y="1674913"/>
            <a:ext cx="3456330" cy="1278500"/>
          </a:xfrm>
          <a:prstGeom prst="rect">
            <a:avLst/>
          </a:prstGeom>
          <a:solidFill>
            <a:srgbClr val="C0CAF5">
              <a:alpha val="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HTML Shape 10">
            <a:extLst>
              <a:ext uri="{FF2B5EF4-FFF2-40B4-BE49-F238E27FC236}">
                <a16:creationId xmlns:a16="http://schemas.microsoft.com/office/drawing/2014/main" id="{9BA25042-E1A9-2B0E-D221-0B30B61327B6}"/>
              </a:ext>
            </a:extLst>
          </p:cNvPr>
          <p:cNvSpPr/>
          <p:nvPr/>
        </p:nvSpPr>
        <p:spPr>
          <a:xfrm>
            <a:off x="8356278" y="1674913"/>
            <a:ext cx="1724950" cy="635779"/>
          </a:xfrm>
          <a:prstGeom prst="rect">
            <a:avLst/>
          </a:prstGeom>
          <a:solidFill>
            <a:srgbClr val="24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HTML Shape 11">
            <a:extLst>
              <a:ext uri="{FF2B5EF4-FFF2-40B4-BE49-F238E27FC236}">
                <a16:creationId xmlns:a16="http://schemas.microsoft.com/office/drawing/2014/main" id="{24BA34E7-A0DD-9A6E-A550-6F724A535153}"/>
              </a:ext>
            </a:extLst>
          </p:cNvPr>
          <p:cNvSpPr/>
          <p:nvPr/>
        </p:nvSpPr>
        <p:spPr>
          <a:xfrm>
            <a:off x="10087658" y="1674913"/>
            <a:ext cx="1724950" cy="635779"/>
          </a:xfrm>
          <a:prstGeom prst="rect">
            <a:avLst/>
          </a:prstGeom>
          <a:solidFill>
            <a:srgbClr val="24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HTML Shape 12">
            <a:extLst>
              <a:ext uri="{FF2B5EF4-FFF2-40B4-BE49-F238E27FC236}">
                <a16:creationId xmlns:a16="http://schemas.microsoft.com/office/drawing/2014/main" id="{4859EDC7-14C1-4C85-22AB-A2DDD1B084D2}"/>
              </a:ext>
            </a:extLst>
          </p:cNvPr>
          <p:cNvSpPr/>
          <p:nvPr/>
        </p:nvSpPr>
        <p:spPr>
          <a:xfrm>
            <a:off x="8356278" y="2317634"/>
            <a:ext cx="1724950" cy="635779"/>
          </a:xfrm>
          <a:prstGeom prst="rect">
            <a:avLst/>
          </a:prstGeom>
          <a:solidFill>
            <a:srgbClr val="24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HTML Shape 13">
            <a:extLst>
              <a:ext uri="{FF2B5EF4-FFF2-40B4-BE49-F238E27FC236}">
                <a16:creationId xmlns:a16="http://schemas.microsoft.com/office/drawing/2014/main" id="{21E10EEB-10E3-EB39-9401-E7CFAED52488}"/>
              </a:ext>
            </a:extLst>
          </p:cNvPr>
          <p:cNvSpPr/>
          <p:nvPr/>
        </p:nvSpPr>
        <p:spPr>
          <a:xfrm>
            <a:off x="10087658" y="2317634"/>
            <a:ext cx="1724950" cy="635779"/>
          </a:xfrm>
          <a:prstGeom prst="rect">
            <a:avLst/>
          </a:prstGeom>
          <a:solidFill>
            <a:srgbClr val="24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HTML Shape 14">
            <a:extLst>
              <a:ext uri="{FF2B5EF4-FFF2-40B4-BE49-F238E27FC236}">
                <a16:creationId xmlns:a16="http://schemas.microsoft.com/office/drawing/2014/main" id="{841FF253-E322-0BD8-852A-263A6763B89A}"/>
              </a:ext>
            </a:extLst>
          </p:cNvPr>
          <p:cNvSpPr/>
          <p:nvPr/>
        </p:nvSpPr>
        <p:spPr>
          <a:xfrm>
            <a:off x="758785" y="3846779"/>
            <a:ext cx="270076" cy="291535"/>
          </a:xfrm>
          <a:prstGeom prst="ellipse">
            <a:avLst/>
          </a:prstGeom>
          <a:solidFill>
            <a:srgbClr val="9B9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HTML Text 15">
            <a:extLst>
              <a:ext uri="{FF2B5EF4-FFF2-40B4-BE49-F238E27FC236}">
                <a16:creationId xmlns:a16="http://schemas.microsoft.com/office/drawing/2014/main" id="{363E1A22-2F17-ECCF-649E-96C28281A345}"/>
              </a:ext>
            </a:extLst>
          </p:cNvPr>
          <p:cNvSpPr txBox="1"/>
          <p:nvPr/>
        </p:nvSpPr>
        <p:spPr>
          <a:xfrm>
            <a:off x="758785" y="444243"/>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ĐỒ ÁN KỸ THUẬT PHẦN MỀM · 2026</a:t>
            </a:r>
          </a:p>
        </p:txBody>
      </p:sp>
      <p:sp>
        <p:nvSpPr>
          <p:cNvPr id="17" name="HTML Text 16">
            <a:extLst>
              <a:ext uri="{FF2B5EF4-FFF2-40B4-BE49-F238E27FC236}">
                <a16:creationId xmlns:a16="http://schemas.microsoft.com/office/drawing/2014/main" id="{0D2670B5-FE68-EFA6-C756-9A55DD40AF88}"/>
              </a:ext>
            </a:extLst>
          </p:cNvPr>
          <p:cNvSpPr txBox="1"/>
          <p:nvPr/>
        </p:nvSpPr>
        <p:spPr>
          <a:xfrm>
            <a:off x="758785" y="652482"/>
            <a:ext cx="317500" cy="276999"/>
          </a:xfrm>
          <a:prstGeom prst="rect">
            <a:avLst/>
          </a:prstGeom>
          <a:noFill/>
        </p:spPr>
        <p:txBody>
          <a:bodyPr vert="horz" wrap="square" lIns="0" tIns="0" rIns="0" bIns="0" rtlCol="0">
            <a:noAutofit/>
          </a:bodyPr>
          <a:lstStyle/>
          <a:p>
            <a:r>
              <a:rPr lang="vi-VN" sz="800" b="1">
                <a:solidFill>
                  <a:srgbClr val="FFFFFF"/>
                </a:solidFill>
                <a:latin typeface="Aptos" panose="020B0004020202020204" pitchFamily="34" charset="0"/>
              </a:rPr>
              <a:t>CH</a:t>
            </a:r>
          </a:p>
        </p:txBody>
      </p:sp>
      <p:sp>
        <p:nvSpPr>
          <p:cNvPr id="18" name="HTML Text 17">
            <a:extLst>
              <a:ext uri="{FF2B5EF4-FFF2-40B4-BE49-F238E27FC236}">
                <a16:creationId xmlns:a16="http://schemas.microsoft.com/office/drawing/2014/main" id="{DDC7BF7F-7CB4-754A-B6B5-A0093853D54E}"/>
              </a:ext>
            </a:extLst>
          </p:cNvPr>
          <p:cNvSpPr txBox="1"/>
          <p:nvPr/>
        </p:nvSpPr>
        <p:spPr>
          <a:xfrm>
            <a:off x="1138177" y="739899"/>
            <a:ext cx="927100" cy="276999"/>
          </a:xfrm>
          <a:prstGeom prst="rect">
            <a:avLst/>
          </a:prstGeom>
          <a:noFill/>
        </p:spPr>
        <p:txBody>
          <a:bodyPr vert="horz" wrap="square" lIns="0" tIns="0" rIns="0" bIns="0" rtlCol="0">
            <a:noAutofit/>
          </a:bodyPr>
          <a:lstStyle/>
          <a:p>
            <a:r>
              <a:rPr lang="vi-VN" sz="700" b="1">
                <a:solidFill>
                  <a:srgbClr val="C0CAF5"/>
                </a:solidFill>
                <a:latin typeface="Aptos" panose="020B0004020202020204" pitchFamily="34" charset="0"/>
              </a:rPr>
              <a:t>CARHUB GARAGE</a:t>
            </a:r>
          </a:p>
        </p:txBody>
      </p:sp>
      <p:sp>
        <p:nvSpPr>
          <p:cNvPr id="19" name="HTML Text 18">
            <a:extLst>
              <a:ext uri="{FF2B5EF4-FFF2-40B4-BE49-F238E27FC236}">
                <a16:creationId xmlns:a16="http://schemas.microsoft.com/office/drawing/2014/main" id="{A7B79D20-793A-9D67-15A9-6ED217923DE2}"/>
              </a:ext>
            </a:extLst>
          </p:cNvPr>
          <p:cNvSpPr txBox="1"/>
          <p:nvPr/>
        </p:nvSpPr>
        <p:spPr>
          <a:xfrm>
            <a:off x="758785" y="1152255"/>
            <a:ext cx="7226300" cy="276999"/>
          </a:xfrm>
          <a:prstGeom prst="rect">
            <a:avLst/>
          </a:prstGeom>
          <a:noFill/>
        </p:spPr>
        <p:txBody>
          <a:bodyPr vert="horz" wrap="square" lIns="0" tIns="0" rIns="0" bIns="0" rtlCol="0">
            <a:noAutofit/>
          </a:bodyPr>
          <a:lstStyle/>
          <a:p>
            <a:r>
              <a:rPr lang="vi-VN" sz="3700" b="1" dirty="0">
                <a:solidFill>
                  <a:srgbClr val="C0CAF5"/>
                </a:solidFill>
                <a:latin typeface="Aptos" panose="020B0004020202020204" pitchFamily="34" charset="0"/>
              </a:rPr>
              <a:t>Mua bán.
Kết nối.
Chia sẻ đam mê.</a:t>
            </a:r>
          </a:p>
        </p:txBody>
      </p:sp>
      <p:sp>
        <p:nvSpPr>
          <p:cNvPr id="20" name="HTML Text 19">
            <a:extLst>
              <a:ext uri="{FF2B5EF4-FFF2-40B4-BE49-F238E27FC236}">
                <a16:creationId xmlns:a16="http://schemas.microsoft.com/office/drawing/2014/main" id="{EC0894A1-915A-E6A9-5868-924009F840E2}"/>
              </a:ext>
            </a:extLst>
          </p:cNvPr>
          <p:cNvSpPr txBox="1"/>
          <p:nvPr/>
        </p:nvSpPr>
        <p:spPr>
          <a:xfrm>
            <a:off x="758785" y="3073584"/>
            <a:ext cx="4521200" cy="276999"/>
          </a:xfrm>
          <a:prstGeom prst="rect">
            <a:avLst/>
          </a:prstGeom>
          <a:noFill/>
        </p:spPr>
        <p:txBody>
          <a:bodyPr vert="horz" wrap="square" lIns="0" tIns="0" rIns="0" bIns="0" rtlCol="0">
            <a:noAutofit/>
          </a:bodyPr>
          <a:lstStyle/>
          <a:p>
            <a:r>
              <a:rPr lang="vi-VN" sz="1000">
                <a:solidFill>
                  <a:srgbClr val="A9B1D6"/>
                </a:solidFill>
                <a:latin typeface="Aptos" panose="020B0004020202020204" pitchFamily="34" charset="0"/>
              </a:rPr>
              <a:t>Nền tảng full-stack kết hợp cộng đồng ô tô, Garage cá nhân, Marketplace và trợ lý tìm xe bằng AI.</a:t>
            </a:r>
          </a:p>
        </p:txBody>
      </p:sp>
      <p:sp>
        <p:nvSpPr>
          <p:cNvPr id="21" name="HTML Text 20">
            <a:extLst>
              <a:ext uri="{FF2B5EF4-FFF2-40B4-BE49-F238E27FC236}">
                <a16:creationId xmlns:a16="http://schemas.microsoft.com/office/drawing/2014/main" id="{2B51FC2E-8A81-6C60-51CB-74A60ACB5365}"/>
              </a:ext>
            </a:extLst>
          </p:cNvPr>
          <p:cNvSpPr txBox="1"/>
          <p:nvPr/>
        </p:nvSpPr>
        <p:spPr>
          <a:xfrm>
            <a:off x="8819266" y="1463203"/>
            <a:ext cx="609600" cy="276999"/>
          </a:xfrm>
          <a:prstGeom prst="rect">
            <a:avLst/>
          </a:prstGeom>
          <a:noFill/>
        </p:spPr>
        <p:txBody>
          <a:bodyPr vert="horz" wrap="square" lIns="0" tIns="0" rIns="0" bIns="0" rtlCol="0">
            <a:noAutofit/>
          </a:bodyPr>
          <a:lstStyle/>
          <a:p>
            <a:r>
              <a:rPr lang="vi-VN" sz="500" b="1">
                <a:solidFill>
                  <a:srgbClr val="565F89"/>
                </a:solidFill>
                <a:latin typeface="Consolas" panose="020B0609020204030204" pitchFamily="49" charset="0"/>
              </a:rPr>
              <a:t>carhub.production</a:t>
            </a:r>
          </a:p>
        </p:txBody>
      </p:sp>
      <p:sp>
        <p:nvSpPr>
          <p:cNvPr id="22" name="HTML Text 21">
            <a:extLst>
              <a:ext uri="{FF2B5EF4-FFF2-40B4-BE49-F238E27FC236}">
                <a16:creationId xmlns:a16="http://schemas.microsoft.com/office/drawing/2014/main" id="{467E0987-9154-C995-14EE-32CA264C1489}"/>
              </a:ext>
            </a:extLst>
          </p:cNvPr>
          <p:cNvSpPr txBox="1"/>
          <p:nvPr/>
        </p:nvSpPr>
        <p:spPr>
          <a:xfrm>
            <a:off x="8510608" y="1841504"/>
            <a:ext cx="1447800" cy="276999"/>
          </a:xfrm>
          <a:prstGeom prst="rect">
            <a:avLst/>
          </a:prstGeom>
          <a:noFill/>
        </p:spPr>
        <p:txBody>
          <a:bodyPr vert="horz" wrap="square" lIns="0" tIns="0" rIns="0" bIns="0" rtlCol="0">
            <a:noAutofit/>
          </a:bodyPr>
          <a:lstStyle/>
          <a:p>
            <a:r>
              <a:rPr lang="vi-VN" sz="500" b="1">
                <a:solidFill>
                  <a:srgbClr val="565F89"/>
                </a:solidFill>
                <a:latin typeface="Consolas" panose="020B0609020204030204" pitchFamily="49" charset="0"/>
              </a:rPr>
              <a:t>FRONTEND</a:t>
            </a:r>
          </a:p>
        </p:txBody>
      </p:sp>
      <p:sp>
        <p:nvSpPr>
          <p:cNvPr id="23" name="HTML Text 22">
            <a:extLst>
              <a:ext uri="{FF2B5EF4-FFF2-40B4-BE49-F238E27FC236}">
                <a16:creationId xmlns:a16="http://schemas.microsoft.com/office/drawing/2014/main" id="{F85376E5-89ED-F8F5-1948-092AC751B55F}"/>
              </a:ext>
            </a:extLst>
          </p:cNvPr>
          <p:cNvSpPr txBox="1"/>
          <p:nvPr/>
        </p:nvSpPr>
        <p:spPr>
          <a:xfrm>
            <a:off x="8510608" y="1966447"/>
            <a:ext cx="14478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React 19</a:t>
            </a:r>
          </a:p>
        </p:txBody>
      </p:sp>
      <p:sp>
        <p:nvSpPr>
          <p:cNvPr id="24" name="HTML Text 23">
            <a:extLst>
              <a:ext uri="{FF2B5EF4-FFF2-40B4-BE49-F238E27FC236}">
                <a16:creationId xmlns:a16="http://schemas.microsoft.com/office/drawing/2014/main" id="{83F327CE-9DB9-2D08-94C8-1AE743CD5D1B}"/>
              </a:ext>
            </a:extLst>
          </p:cNvPr>
          <p:cNvSpPr txBox="1"/>
          <p:nvPr/>
        </p:nvSpPr>
        <p:spPr>
          <a:xfrm>
            <a:off x="10241987" y="1841504"/>
            <a:ext cx="1447800" cy="276999"/>
          </a:xfrm>
          <a:prstGeom prst="rect">
            <a:avLst/>
          </a:prstGeom>
          <a:noFill/>
        </p:spPr>
        <p:txBody>
          <a:bodyPr vert="horz" wrap="square" lIns="0" tIns="0" rIns="0" bIns="0" rtlCol="0">
            <a:noAutofit/>
          </a:bodyPr>
          <a:lstStyle/>
          <a:p>
            <a:r>
              <a:rPr lang="vi-VN" sz="500" b="1">
                <a:solidFill>
                  <a:srgbClr val="565F89"/>
                </a:solidFill>
                <a:latin typeface="Consolas" panose="020B0609020204030204" pitchFamily="49" charset="0"/>
              </a:rPr>
              <a:t>BACKEND</a:t>
            </a:r>
          </a:p>
        </p:txBody>
      </p:sp>
      <p:sp>
        <p:nvSpPr>
          <p:cNvPr id="25" name="HTML Text 24">
            <a:extLst>
              <a:ext uri="{FF2B5EF4-FFF2-40B4-BE49-F238E27FC236}">
                <a16:creationId xmlns:a16="http://schemas.microsoft.com/office/drawing/2014/main" id="{BE91C9F6-EA27-AA52-8ED8-408A8D0595C4}"/>
              </a:ext>
            </a:extLst>
          </p:cNvPr>
          <p:cNvSpPr txBox="1"/>
          <p:nvPr/>
        </p:nvSpPr>
        <p:spPr>
          <a:xfrm>
            <a:off x="10241987" y="1966447"/>
            <a:ext cx="14478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Express + Prisma</a:t>
            </a:r>
          </a:p>
        </p:txBody>
      </p:sp>
      <p:sp>
        <p:nvSpPr>
          <p:cNvPr id="26" name="HTML Text 25">
            <a:extLst>
              <a:ext uri="{FF2B5EF4-FFF2-40B4-BE49-F238E27FC236}">
                <a16:creationId xmlns:a16="http://schemas.microsoft.com/office/drawing/2014/main" id="{2AE4750A-EE97-637A-A97F-AA7CE2AD7310}"/>
              </a:ext>
            </a:extLst>
          </p:cNvPr>
          <p:cNvSpPr txBox="1"/>
          <p:nvPr/>
        </p:nvSpPr>
        <p:spPr>
          <a:xfrm>
            <a:off x="8510608" y="2484225"/>
            <a:ext cx="1447800" cy="276999"/>
          </a:xfrm>
          <a:prstGeom prst="rect">
            <a:avLst/>
          </a:prstGeom>
          <a:noFill/>
        </p:spPr>
        <p:txBody>
          <a:bodyPr vert="horz" wrap="square" lIns="0" tIns="0" rIns="0" bIns="0" rtlCol="0">
            <a:noAutofit/>
          </a:bodyPr>
          <a:lstStyle/>
          <a:p>
            <a:r>
              <a:rPr lang="vi-VN" sz="500" b="1">
                <a:solidFill>
                  <a:srgbClr val="565F89"/>
                </a:solidFill>
                <a:latin typeface="Consolas" panose="020B0609020204030204" pitchFamily="49" charset="0"/>
              </a:rPr>
              <a:t>DATA</a:t>
            </a:r>
          </a:p>
        </p:txBody>
      </p:sp>
      <p:sp>
        <p:nvSpPr>
          <p:cNvPr id="27" name="HTML Text 26">
            <a:extLst>
              <a:ext uri="{FF2B5EF4-FFF2-40B4-BE49-F238E27FC236}">
                <a16:creationId xmlns:a16="http://schemas.microsoft.com/office/drawing/2014/main" id="{28CA53C9-1DDA-DBAB-FD82-D8D6636C3CF4}"/>
              </a:ext>
            </a:extLst>
          </p:cNvPr>
          <p:cNvSpPr txBox="1"/>
          <p:nvPr/>
        </p:nvSpPr>
        <p:spPr>
          <a:xfrm>
            <a:off x="8510608" y="2609168"/>
            <a:ext cx="1447800" cy="276999"/>
          </a:xfrm>
          <a:prstGeom prst="rect">
            <a:avLst/>
          </a:prstGeom>
          <a:noFill/>
        </p:spPr>
        <p:txBody>
          <a:bodyPr vert="horz" wrap="square" lIns="0" tIns="0" rIns="0" bIns="0" rtlCol="0">
            <a:noAutofit/>
          </a:bodyPr>
          <a:lstStyle/>
          <a:p>
            <a:r>
              <a:rPr lang="vi-VN" sz="800" b="1" dirty="0">
                <a:solidFill>
                  <a:srgbClr val="C0CAF5"/>
                </a:solidFill>
                <a:latin typeface="Aptos" panose="020B0004020202020204" pitchFamily="34" charset="0"/>
              </a:rPr>
              <a:t>Neon PostgreSQL</a:t>
            </a:r>
          </a:p>
        </p:txBody>
      </p:sp>
      <p:sp>
        <p:nvSpPr>
          <p:cNvPr id="28" name="HTML Text 27">
            <a:extLst>
              <a:ext uri="{FF2B5EF4-FFF2-40B4-BE49-F238E27FC236}">
                <a16:creationId xmlns:a16="http://schemas.microsoft.com/office/drawing/2014/main" id="{0CC250DE-C87C-6941-A160-431C9B8147B0}"/>
              </a:ext>
            </a:extLst>
          </p:cNvPr>
          <p:cNvSpPr txBox="1"/>
          <p:nvPr/>
        </p:nvSpPr>
        <p:spPr>
          <a:xfrm>
            <a:off x="10241987" y="2484225"/>
            <a:ext cx="1447800" cy="276999"/>
          </a:xfrm>
          <a:prstGeom prst="rect">
            <a:avLst/>
          </a:prstGeom>
          <a:noFill/>
        </p:spPr>
        <p:txBody>
          <a:bodyPr vert="horz" wrap="square" lIns="0" tIns="0" rIns="0" bIns="0" rtlCol="0">
            <a:noAutofit/>
          </a:bodyPr>
          <a:lstStyle/>
          <a:p>
            <a:r>
              <a:rPr lang="vi-VN" sz="500" b="1">
                <a:solidFill>
                  <a:srgbClr val="565F89"/>
                </a:solidFill>
                <a:latin typeface="Consolas" panose="020B0609020204030204" pitchFamily="49" charset="0"/>
              </a:rPr>
              <a:t>AI</a:t>
            </a:r>
          </a:p>
        </p:txBody>
      </p:sp>
      <p:sp>
        <p:nvSpPr>
          <p:cNvPr id="29" name="HTML Text 28">
            <a:extLst>
              <a:ext uri="{FF2B5EF4-FFF2-40B4-BE49-F238E27FC236}">
                <a16:creationId xmlns:a16="http://schemas.microsoft.com/office/drawing/2014/main" id="{C6AF072D-C434-018F-F821-86CD47EE8B90}"/>
              </a:ext>
            </a:extLst>
          </p:cNvPr>
          <p:cNvSpPr txBox="1"/>
          <p:nvPr/>
        </p:nvSpPr>
        <p:spPr>
          <a:xfrm>
            <a:off x="10241987" y="2609168"/>
            <a:ext cx="14478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OpenRouter</a:t>
            </a:r>
          </a:p>
        </p:txBody>
      </p:sp>
      <p:sp>
        <p:nvSpPr>
          <p:cNvPr id="30" name="HTML Text 29">
            <a:extLst>
              <a:ext uri="{FF2B5EF4-FFF2-40B4-BE49-F238E27FC236}">
                <a16:creationId xmlns:a16="http://schemas.microsoft.com/office/drawing/2014/main" id="{5C709CA6-7328-7C64-0163-1893EB5EBB66}"/>
              </a:ext>
            </a:extLst>
          </p:cNvPr>
          <p:cNvSpPr txBox="1"/>
          <p:nvPr/>
        </p:nvSpPr>
        <p:spPr>
          <a:xfrm>
            <a:off x="780809" y="3846779"/>
            <a:ext cx="270076" cy="276999"/>
          </a:xfrm>
          <a:prstGeom prst="rect">
            <a:avLst/>
          </a:prstGeom>
          <a:noFill/>
        </p:spPr>
        <p:txBody>
          <a:bodyPr vert="horz" wrap="square" lIns="0" tIns="0" rIns="0" bIns="0" rtlCol="0">
            <a:noAutofit/>
          </a:bodyPr>
          <a:lstStyle/>
          <a:p>
            <a:r>
              <a:rPr lang="vi-VN" sz="600" b="1">
                <a:solidFill>
                  <a:srgbClr val="FFFFFF"/>
                </a:solidFill>
                <a:latin typeface="Aptos" panose="020B0004020202020204" pitchFamily="34" charset="0"/>
              </a:rPr>
              <a:t>CH</a:t>
            </a:r>
          </a:p>
        </p:txBody>
      </p:sp>
      <p:sp>
        <p:nvSpPr>
          <p:cNvPr id="31" name="HTML Text 30">
            <a:extLst>
              <a:ext uri="{FF2B5EF4-FFF2-40B4-BE49-F238E27FC236}">
                <a16:creationId xmlns:a16="http://schemas.microsoft.com/office/drawing/2014/main" id="{506E8FA2-1847-5103-2F0D-9C638FDBB9CC}"/>
              </a:ext>
            </a:extLst>
          </p:cNvPr>
          <p:cNvSpPr txBox="1"/>
          <p:nvPr/>
        </p:nvSpPr>
        <p:spPr>
          <a:xfrm>
            <a:off x="1106025" y="3837127"/>
            <a:ext cx="11938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Nhóm phát triển CarHub</a:t>
            </a:r>
          </a:p>
        </p:txBody>
      </p:sp>
      <p:sp>
        <p:nvSpPr>
          <p:cNvPr id="32" name="HTML Text 31">
            <a:extLst>
              <a:ext uri="{FF2B5EF4-FFF2-40B4-BE49-F238E27FC236}">
                <a16:creationId xmlns:a16="http://schemas.microsoft.com/office/drawing/2014/main" id="{B5773D55-5707-DCBC-6381-1604ECA2F97C}"/>
              </a:ext>
            </a:extLst>
          </p:cNvPr>
          <p:cNvSpPr txBox="1"/>
          <p:nvPr/>
        </p:nvSpPr>
        <p:spPr>
          <a:xfrm>
            <a:off x="1106025" y="4014780"/>
            <a:ext cx="11938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Product &amp; System Presentation</a:t>
            </a:r>
          </a:p>
        </p:txBody>
      </p:sp>
      <p:sp>
        <p:nvSpPr>
          <p:cNvPr id="33" name="HTML Text 32">
            <a:extLst>
              <a:ext uri="{FF2B5EF4-FFF2-40B4-BE49-F238E27FC236}">
                <a16:creationId xmlns:a16="http://schemas.microsoft.com/office/drawing/2014/main" id="{0A08A8A1-7088-9175-78EC-885FE41BE054}"/>
              </a:ext>
            </a:extLst>
          </p:cNvPr>
          <p:cNvSpPr txBox="1"/>
          <p:nvPr/>
        </p:nvSpPr>
        <p:spPr>
          <a:xfrm>
            <a:off x="450127" y="4292432"/>
            <a:ext cx="13716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S: presenter · F: fullscreen · O: overview</a:t>
            </a:r>
          </a:p>
        </p:txBody>
      </p:sp>
      <p:sp>
        <p:nvSpPr>
          <p:cNvPr id="34" name="TextBox 33">
            <a:extLst>
              <a:ext uri="{FF2B5EF4-FFF2-40B4-BE49-F238E27FC236}">
                <a16:creationId xmlns:a16="http://schemas.microsoft.com/office/drawing/2014/main" id="{03381D59-C95A-E7D1-2E48-C0A483BFB658}"/>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1 / 24</a:t>
            </a:r>
          </a:p>
        </p:txBody>
      </p:sp>
    </p:spTree>
    <p:extLst>
      <p:ext uri="{BB962C8B-B14F-4D97-AF65-F5344CB8AC3E}">
        <p14:creationId xmlns:p14="http://schemas.microsoft.com/office/powerpoint/2010/main" val="1640423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1E8F9D4B-70FB-288C-723B-6A0620F5AB0D}"/>
              </a:ext>
            </a:extLst>
          </p:cNvPr>
          <p:cNvSpPr/>
          <p:nvPr/>
        </p:nvSpPr>
        <p:spPr>
          <a:xfrm>
            <a:off x="756739" y="3023368"/>
            <a:ext cx="5488329" cy="62818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BAC2DFD6-96B6-1F09-30E8-1482CCE31F04}"/>
              </a:ext>
            </a:extLst>
          </p:cNvPr>
          <p:cNvSpPr/>
          <p:nvPr/>
        </p:nvSpPr>
        <p:spPr>
          <a:xfrm>
            <a:off x="6328663" y="3023368"/>
            <a:ext cx="5488329" cy="62818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446A52BD-7AA0-3268-A446-472FBDB2FD80}"/>
              </a:ext>
            </a:extLst>
          </p:cNvPr>
          <p:cNvSpPr/>
          <p:nvPr/>
        </p:nvSpPr>
        <p:spPr>
          <a:xfrm>
            <a:off x="756739" y="3741792"/>
            <a:ext cx="5488329" cy="62818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1DB8B65D-84D5-92FA-6C26-4F28A7F69CCC}"/>
              </a:ext>
            </a:extLst>
          </p:cNvPr>
          <p:cNvSpPr/>
          <p:nvPr/>
        </p:nvSpPr>
        <p:spPr>
          <a:xfrm>
            <a:off x="6328663" y="3741792"/>
            <a:ext cx="5488329" cy="62818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B3A50BD5-8431-8CC5-D829-A0CE4B3DEBF7}"/>
              </a:ext>
            </a:extLst>
          </p:cNvPr>
          <p:cNvSpPr/>
          <p:nvPr/>
        </p:nvSpPr>
        <p:spPr>
          <a:xfrm>
            <a:off x="756739" y="4460216"/>
            <a:ext cx="5488329" cy="62818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694DBEAF-BF85-25C8-16CC-046F0A822EE3}"/>
              </a:ext>
            </a:extLst>
          </p:cNvPr>
          <p:cNvSpPr/>
          <p:nvPr/>
        </p:nvSpPr>
        <p:spPr>
          <a:xfrm>
            <a:off x="6328663" y="4460216"/>
            <a:ext cx="5488329" cy="62818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FB894F3C-1E5E-6006-7CE2-3B7FFC9F861E}"/>
              </a:ext>
            </a:extLst>
          </p:cNvPr>
          <p:cNvSpPr txBox="1"/>
          <p:nvPr/>
        </p:nvSpPr>
        <p:spPr>
          <a:xfrm>
            <a:off x="756739" y="1769596"/>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LỘ TRÌNH TRÌNH BÀY</a:t>
            </a:r>
          </a:p>
        </p:txBody>
      </p:sp>
      <p:sp>
        <p:nvSpPr>
          <p:cNvPr id="9" name="HTML Text 8">
            <a:extLst>
              <a:ext uri="{FF2B5EF4-FFF2-40B4-BE49-F238E27FC236}">
                <a16:creationId xmlns:a16="http://schemas.microsoft.com/office/drawing/2014/main" id="{02C618BE-7082-5354-587C-148730C05842}"/>
              </a:ext>
            </a:extLst>
          </p:cNvPr>
          <p:cNvSpPr txBox="1"/>
          <p:nvPr/>
        </p:nvSpPr>
        <p:spPr>
          <a:xfrm>
            <a:off x="756739" y="1977835"/>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Sáu phần, một câu chuyện sản phẩm hoàn chỉnh</a:t>
            </a:r>
          </a:p>
        </p:txBody>
      </p:sp>
      <p:sp>
        <p:nvSpPr>
          <p:cNvPr id="10" name="HTML Text 9">
            <a:extLst>
              <a:ext uri="{FF2B5EF4-FFF2-40B4-BE49-F238E27FC236}">
                <a16:creationId xmlns:a16="http://schemas.microsoft.com/office/drawing/2014/main" id="{5E2AA168-F245-6D0E-2BBA-A75E10E7FEF5}"/>
              </a:ext>
            </a:extLst>
          </p:cNvPr>
          <p:cNvSpPr txBox="1"/>
          <p:nvPr/>
        </p:nvSpPr>
        <p:spPr>
          <a:xfrm>
            <a:off x="891777" y="3278461"/>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01</a:t>
            </a:r>
          </a:p>
        </p:txBody>
      </p:sp>
      <p:sp>
        <p:nvSpPr>
          <p:cNvPr id="11" name="HTML Text 10">
            <a:extLst>
              <a:ext uri="{FF2B5EF4-FFF2-40B4-BE49-F238E27FC236}">
                <a16:creationId xmlns:a16="http://schemas.microsoft.com/office/drawing/2014/main" id="{4DACE164-2D5D-A010-DFD8-72B06BA067B3}"/>
              </a:ext>
            </a:extLst>
          </p:cNvPr>
          <p:cNvSpPr txBox="1"/>
          <p:nvPr/>
        </p:nvSpPr>
        <p:spPr>
          <a:xfrm>
            <a:off x="1226157" y="3155253"/>
            <a:ext cx="4914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Bài toán &amp; tầm nhìn</a:t>
            </a:r>
          </a:p>
        </p:txBody>
      </p:sp>
      <p:sp>
        <p:nvSpPr>
          <p:cNvPr id="12" name="HTML Text 11">
            <a:extLst>
              <a:ext uri="{FF2B5EF4-FFF2-40B4-BE49-F238E27FC236}">
                <a16:creationId xmlns:a16="http://schemas.microsoft.com/office/drawing/2014/main" id="{3FFAF344-450F-7082-AD59-8DA18591AE78}"/>
              </a:ext>
            </a:extLst>
          </p:cNvPr>
          <p:cNvSpPr txBox="1"/>
          <p:nvPr/>
        </p:nvSpPr>
        <p:spPr>
          <a:xfrm>
            <a:off x="1226157" y="3371735"/>
            <a:ext cx="4914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Vì sao cần CarHub?</a:t>
            </a:r>
          </a:p>
        </p:txBody>
      </p:sp>
      <p:sp>
        <p:nvSpPr>
          <p:cNvPr id="13" name="HTML Text 12">
            <a:extLst>
              <a:ext uri="{FF2B5EF4-FFF2-40B4-BE49-F238E27FC236}">
                <a16:creationId xmlns:a16="http://schemas.microsoft.com/office/drawing/2014/main" id="{29C99BF0-BB43-1AAD-FC2E-E35F51773510}"/>
              </a:ext>
            </a:extLst>
          </p:cNvPr>
          <p:cNvSpPr txBox="1"/>
          <p:nvPr/>
        </p:nvSpPr>
        <p:spPr>
          <a:xfrm>
            <a:off x="6463701" y="3278461"/>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02</a:t>
            </a:r>
          </a:p>
        </p:txBody>
      </p:sp>
      <p:sp>
        <p:nvSpPr>
          <p:cNvPr id="14" name="HTML Text 13">
            <a:extLst>
              <a:ext uri="{FF2B5EF4-FFF2-40B4-BE49-F238E27FC236}">
                <a16:creationId xmlns:a16="http://schemas.microsoft.com/office/drawing/2014/main" id="{19C2A450-0DE4-DDCF-4391-3401C1B8171D}"/>
              </a:ext>
            </a:extLst>
          </p:cNvPr>
          <p:cNvSpPr txBox="1"/>
          <p:nvPr/>
        </p:nvSpPr>
        <p:spPr>
          <a:xfrm>
            <a:off x="6798081" y="3155253"/>
            <a:ext cx="4914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Người dùng &amp; nghiệp vụ</a:t>
            </a:r>
          </a:p>
        </p:txBody>
      </p:sp>
      <p:sp>
        <p:nvSpPr>
          <p:cNvPr id="15" name="HTML Text 14">
            <a:extLst>
              <a:ext uri="{FF2B5EF4-FFF2-40B4-BE49-F238E27FC236}">
                <a16:creationId xmlns:a16="http://schemas.microsoft.com/office/drawing/2014/main" id="{3B934A06-F095-196F-1081-091D9C30F3D5}"/>
              </a:ext>
            </a:extLst>
          </p:cNvPr>
          <p:cNvSpPr txBox="1"/>
          <p:nvPr/>
        </p:nvSpPr>
        <p:spPr>
          <a:xfrm>
            <a:off x="6798081" y="3371735"/>
            <a:ext cx="4914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Ai dùng và dùng thế nào?</a:t>
            </a:r>
          </a:p>
        </p:txBody>
      </p:sp>
      <p:sp>
        <p:nvSpPr>
          <p:cNvPr id="16" name="HTML Text 15">
            <a:extLst>
              <a:ext uri="{FF2B5EF4-FFF2-40B4-BE49-F238E27FC236}">
                <a16:creationId xmlns:a16="http://schemas.microsoft.com/office/drawing/2014/main" id="{A471321C-E437-8B69-7D60-A11D1F93B3CB}"/>
              </a:ext>
            </a:extLst>
          </p:cNvPr>
          <p:cNvSpPr txBox="1"/>
          <p:nvPr/>
        </p:nvSpPr>
        <p:spPr>
          <a:xfrm>
            <a:off x="891777" y="3996885"/>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03</a:t>
            </a:r>
          </a:p>
        </p:txBody>
      </p:sp>
      <p:sp>
        <p:nvSpPr>
          <p:cNvPr id="17" name="HTML Text 16">
            <a:extLst>
              <a:ext uri="{FF2B5EF4-FFF2-40B4-BE49-F238E27FC236}">
                <a16:creationId xmlns:a16="http://schemas.microsoft.com/office/drawing/2014/main" id="{E4130CC0-040C-B54B-4D89-B3BC9585806B}"/>
              </a:ext>
            </a:extLst>
          </p:cNvPr>
          <p:cNvSpPr txBox="1"/>
          <p:nvPr/>
        </p:nvSpPr>
        <p:spPr>
          <a:xfrm>
            <a:off x="1226157" y="3873677"/>
            <a:ext cx="4914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Trải nghiệm sản phẩm</a:t>
            </a:r>
          </a:p>
        </p:txBody>
      </p:sp>
      <p:sp>
        <p:nvSpPr>
          <p:cNvPr id="18" name="HTML Text 17">
            <a:extLst>
              <a:ext uri="{FF2B5EF4-FFF2-40B4-BE49-F238E27FC236}">
                <a16:creationId xmlns:a16="http://schemas.microsoft.com/office/drawing/2014/main" id="{C0FDF961-1FDA-17C4-E2B4-4ED4A0FB3525}"/>
              </a:ext>
            </a:extLst>
          </p:cNvPr>
          <p:cNvSpPr txBox="1"/>
          <p:nvPr/>
        </p:nvSpPr>
        <p:spPr>
          <a:xfrm>
            <a:off x="1226157" y="4090158"/>
            <a:ext cx="4914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Cộng đồng, Garage, chợ xe</a:t>
            </a:r>
          </a:p>
        </p:txBody>
      </p:sp>
      <p:sp>
        <p:nvSpPr>
          <p:cNvPr id="19" name="HTML Text 18">
            <a:extLst>
              <a:ext uri="{FF2B5EF4-FFF2-40B4-BE49-F238E27FC236}">
                <a16:creationId xmlns:a16="http://schemas.microsoft.com/office/drawing/2014/main" id="{3C5AB9C6-6E51-779E-5A86-3F53581BB7E7}"/>
              </a:ext>
            </a:extLst>
          </p:cNvPr>
          <p:cNvSpPr txBox="1"/>
          <p:nvPr/>
        </p:nvSpPr>
        <p:spPr>
          <a:xfrm>
            <a:off x="6463701" y="3996885"/>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04</a:t>
            </a:r>
          </a:p>
        </p:txBody>
      </p:sp>
      <p:sp>
        <p:nvSpPr>
          <p:cNvPr id="20" name="HTML Text 19">
            <a:extLst>
              <a:ext uri="{FF2B5EF4-FFF2-40B4-BE49-F238E27FC236}">
                <a16:creationId xmlns:a16="http://schemas.microsoft.com/office/drawing/2014/main" id="{5CDE8657-462F-99A2-725B-0CDF888BE003}"/>
              </a:ext>
            </a:extLst>
          </p:cNvPr>
          <p:cNvSpPr txBox="1"/>
          <p:nvPr/>
        </p:nvSpPr>
        <p:spPr>
          <a:xfrm>
            <a:off x="6798081" y="3873677"/>
            <a:ext cx="4914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Kiến trúc &amp; dữ liệu</a:t>
            </a:r>
          </a:p>
        </p:txBody>
      </p:sp>
      <p:sp>
        <p:nvSpPr>
          <p:cNvPr id="21" name="HTML Text 20">
            <a:extLst>
              <a:ext uri="{FF2B5EF4-FFF2-40B4-BE49-F238E27FC236}">
                <a16:creationId xmlns:a16="http://schemas.microsoft.com/office/drawing/2014/main" id="{EFC59068-A06C-4A69-AF8C-AE747369E175}"/>
              </a:ext>
            </a:extLst>
          </p:cNvPr>
          <p:cNvSpPr txBox="1"/>
          <p:nvPr/>
        </p:nvSpPr>
        <p:spPr>
          <a:xfrm>
            <a:off x="6798081" y="4090158"/>
            <a:ext cx="4914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Hệ thống được tổ chức ra sao?</a:t>
            </a:r>
          </a:p>
        </p:txBody>
      </p:sp>
      <p:sp>
        <p:nvSpPr>
          <p:cNvPr id="22" name="HTML Text 21">
            <a:extLst>
              <a:ext uri="{FF2B5EF4-FFF2-40B4-BE49-F238E27FC236}">
                <a16:creationId xmlns:a16="http://schemas.microsoft.com/office/drawing/2014/main" id="{86C0BAC9-5C0C-14D0-83DF-6E10936FAAC5}"/>
              </a:ext>
            </a:extLst>
          </p:cNvPr>
          <p:cNvSpPr txBox="1"/>
          <p:nvPr/>
        </p:nvSpPr>
        <p:spPr>
          <a:xfrm>
            <a:off x="891777" y="4715309"/>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05</a:t>
            </a:r>
          </a:p>
        </p:txBody>
      </p:sp>
      <p:sp>
        <p:nvSpPr>
          <p:cNvPr id="23" name="HTML Text 22">
            <a:extLst>
              <a:ext uri="{FF2B5EF4-FFF2-40B4-BE49-F238E27FC236}">
                <a16:creationId xmlns:a16="http://schemas.microsoft.com/office/drawing/2014/main" id="{D897AA93-72ED-BAE3-B521-3480005A6F67}"/>
              </a:ext>
            </a:extLst>
          </p:cNvPr>
          <p:cNvSpPr txBox="1"/>
          <p:nvPr/>
        </p:nvSpPr>
        <p:spPr>
          <a:xfrm>
            <a:off x="1226157" y="4592101"/>
            <a:ext cx="4914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AI, bảo mật, vận hành</a:t>
            </a:r>
          </a:p>
        </p:txBody>
      </p:sp>
      <p:sp>
        <p:nvSpPr>
          <p:cNvPr id="24" name="HTML Text 23">
            <a:extLst>
              <a:ext uri="{FF2B5EF4-FFF2-40B4-BE49-F238E27FC236}">
                <a16:creationId xmlns:a16="http://schemas.microsoft.com/office/drawing/2014/main" id="{9EAC3B75-BC8C-BFB6-DD26-1310959020BB}"/>
              </a:ext>
            </a:extLst>
          </p:cNvPr>
          <p:cNvSpPr txBox="1"/>
          <p:nvPr/>
        </p:nvSpPr>
        <p:spPr>
          <a:xfrm>
            <a:off x="1226157" y="4808582"/>
            <a:ext cx="4914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Điểm kỹ thuật nổi bật</a:t>
            </a:r>
          </a:p>
        </p:txBody>
      </p:sp>
      <p:sp>
        <p:nvSpPr>
          <p:cNvPr id="25" name="HTML Text 24">
            <a:extLst>
              <a:ext uri="{FF2B5EF4-FFF2-40B4-BE49-F238E27FC236}">
                <a16:creationId xmlns:a16="http://schemas.microsoft.com/office/drawing/2014/main" id="{6C542090-E319-FD33-45B9-B47CC3EF0D3F}"/>
              </a:ext>
            </a:extLst>
          </p:cNvPr>
          <p:cNvSpPr txBox="1"/>
          <p:nvPr/>
        </p:nvSpPr>
        <p:spPr>
          <a:xfrm>
            <a:off x="6463701" y="4715309"/>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06</a:t>
            </a:r>
          </a:p>
        </p:txBody>
      </p:sp>
      <p:sp>
        <p:nvSpPr>
          <p:cNvPr id="26" name="HTML Text 25">
            <a:extLst>
              <a:ext uri="{FF2B5EF4-FFF2-40B4-BE49-F238E27FC236}">
                <a16:creationId xmlns:a16="http://schemas.microsoft.com/office/drawing/2014/main" id="{EE4409FD-3C23-6CF2-5152-B4E83FB950A0}"/>
              </a:ext>
            </a:extLst>
          </p:cNvPr>
          <p:cNvSpPr txBox="1"/>
          <p:nvPr/>
        </p:nvSpPr>
        <p:spPr>
          <a:xfrm>
            <a:off x="6798081" y="4592101"/>
            <a:ext cx="4914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Kết quả &amp; định hướng</a:t>
            </a:r>
          </a:p>
        </p:txBody>
      </p:sp>
      <p:sp>
        <p:nvSpPr>
          <p:cNvPr id="27" name="HTML Text 26">
            <a:extLst>
              <a:ext uri="{FF2B5EF4-FFF2-40B4-BE49-F238E27FC236}">
                <a16:creationId xmlns:a16="http://schemas.microsoft.com/office/drawing/2014/main" id="{604F399E-6CC0-7DFF-5329-C722C28C3CC4}"/>
              </a:ext>
            </a:extLst>
          </p:cNvPr>
          <p:cNvSpPr txBox="1"/>
          <p:nvPr/>
        </p:nvSpPr>
        <p:spPr>
          <a:xfrm>
            <a:off x="6798081" y="4808582"/>
            <a:ext cx="4914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Giá trị và bước tiếp theo</a:t>
            </a:r>
          </a:p>
        </p:txBody>
      </p:sp>
      <p:sp>
        <p:nvSpPr>
          <p:cNvPr id="28" name="TextBox 27">
            <a:extLst>
              <a:ext uri="{FF2B5EF4-FFF2-40B4-BE49-F238E27FC236}">
                <a16:creationId xmlns:a16="http://schemas.microsoft.com/office/drawing/2014/main" id="{D3882833-A5EC-EDBE-67A4-43CD0C1B274E}"/>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2 / 24</a:t>
            </a:r>
          </a:p>
        </p:txBody>
      </p:sp>
    </p:spTree>
    <p:extLst>
      <p:ext uri="{BB962C8B-B14F-4D97-AF65-F5344CB8AC3E}">
        <p14:creationId xmlns:p14="http://schemas.microsoft.com/office/powerpoint/2010/main" val="325073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03AC5D6A-0CFF-BC6A-36AD-8181C8916182}"/>
              </a:ext>
            </a:extLst>
          </p:cNvPr>
          <p:cNvSpPr/>
          <p:nvPr/>
        </p:nvSpPr>
        <p:spPr>
          <a:xfrm>
            <a:off x="749149" y="3130307"/>
            <a:ext cx="3609553" cy="1215378"/>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AF774BAC-28FA-AE87-C27C-E16671B28E8A}"/>
              </a:ext>
            </a:extLst>
          </p:cNvPr>
          <p:cNvSpPr/>
          <p:nvPr/>
        </p:nvSpPr>
        <p:spPr>
          <a:xfrm>
            <a:off x="4474449" y="3130307"/>
            <a:ext cx="3609552" cy="1215378"/>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983E8225-B958-6773-4707-1D0B0E5A5374}"/>
              </a:ext>
            </a:extLst>
          </p:cNvPr>
          <p:cNvSpPr/>
          <p:nvPr/>
        </p:nvSpPr>
        <p:spPr>
          <a:xfrm>
            <a:off x="8199748" y="3130307"/>
            <a:ext cx="3609553" cy="1215378"/>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89CABBC6-4910-7451-A447-008975E1F2E1}"/>
              </a:ext>
            </a:extLst>
          </p:cNvPr>
          <p:cNvSpPr/>
          <p:nvPr/>
        </p:nvSpPr>
        <p:spPr>
          <a:xfrm>
            <a:off x="749149" y="4581689"/>
            <a:ext cx="11060253" cy="413658"/>
          </a:xfrm>
          <a:prstGeom prst="rect">
            <a:avLst/>
          </a:prstGeom>
          <a:noFill/>
          <a:ln w="25722" cap="flat" cmpd="sng" algn="ctr">
            <a:solidFill>
              <a:srgbClr val="A9B1D6"/>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Text 5">
            <a:extLst>
              <a:ext uri="{FF2B5EF4-FFF2-40B4-BE49-F238E27FC236}">
                <a16:creationId xmlns:a16="http://schemas.microsoft.com/office/drawing/2014/main" id="{14AB3831-D0B6-4BF3-287A-5C3FC4E93AFB}"/>
              </a:ext>
            </a:extLst>
          </p:cNvPr>
          <p:cNvSpPr txBox="1"/>
          <p:nvPr/>
        </p:nvSpPr>
        <p:spPr>
          <a:xfrm>
            <a:off x="749149" y="1862653"/>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01 · BỐI CẢNH</a:t>
            </a:r>
          </a:p>
        </p:txBody>
      </p:sp>
      <p:sp>
        <p:nvSpPr>
          <p:cNvPr id="7" name="HTML Text 6">
            <a:extLst>
              <a:ext uri="{FF2B5EF4-FFF2-40B4-BE49-F238E27FC236}">
                <a16:creationId xmlns:a16="http://schemas.microsoft.com/office/drawing/2014/main" id="{285F0C60-03C9-8C3F-B326-04A5EF864885}"/>
              </a:ext>
            </a:extLst>
          </p:cNvPr>
          <p:cNvSpPr txBox="1"/>
          <p:nvPr/>
        </p:nvSpPr>
        <p:spPr>
          <a:xfrm>
            <a:off x="749149" y="2084775"/>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Trải nghiệm ô tô đang bị chia nhỏ trên nhiều nền tảng</a:t>
            </a:r>
          </a:p>
        </p:txBody>
      </p:sp>
      <p:sp>
        <p:nvSpPr>
          <p:cNvPr id="8" name="HTML Text 7">
            <a:extLst>
              <a:ext uri="{FF2B5EF4-FFF2-40B4-BE49-F238E27FC236}">
                <a16:creationId xmlns:a16="http://schemas.microsoft.com/office/drawing/2014/main" id="{165B864B-8313-446D-BCBC-BF914D2DCD9B}"/>
              </a:ext>
            </a:extLst>
          </p:cNvPr>
          <p:cNvSpPr txBox="1"/>
          <p:nvPr/>
        </p:nvSpPr>
        <p:spPr>
          <a:xfrm>
            <a:off x="922769" y="3359370"/>
            <a:ext cx="114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01</a:t>
            </a:r>
          </a:p>
        </p:txBody>
      </p:sp>
      <p:sp>
        <p:nvSpPr>
          <p:cNvPr id="9" name="HTML Text 8">
            <a:extLst>
              <a:ext uri="{FF2B5EF4-FFF2-40B4-BE49-F238E27FC236}">
                <a16:creationId xmlns:a16="http://schemas.microsoft.com/office/drawing/2014/main" id="{C7E78F7F-6A71-CB3A-BD2E-A14F15196248}"/>
              </a:ext>
            </a:extLst>
          </p:cNvPr>
          <p:cNvSpPr txBox="1"/>
          <p:nvPr/>
        </p:nvSpPr>
        <p:spPr>
          <a:xfrm>
            <a:off x="922769" y="3592554"/>
            <a:ext cx="3289300" cy="276999"/>
          </a:xfrm>
          <a:prstGeom prst="rect">
            <a:avLst/>
          </a:prstGeom>
          <a:noFill/>
        </p:spPr>
        <p:txBody>
          <a:bodyPr vert="horz" wrap="square" lIns="0" tIns="0" rIns="0" bIns="0" rtlCol="0">
            <a:noAutofit/>
          </a:bodyPr>
          <a:lstStyle/>
          <a:p>
            <a:r>
              <a:rPr lang="vi-VN" sz="1000" b="1">
                <a:solidFill>
                  <a:srgbClr val="C0CAF5"/>
                </a:solidFill>
                <a:latin typeface="Aptos" panose="020B0004020202020204" pitchFamily="34" charset="0"/>
              </a:rPr>
              <a:t>Nội dung thiếu ngữ cảnh</a:t>
            </a:r>
          </a:p>
        </p:txBody>
      </p:sp>
      <p:sp>
        <p:nvSpPr>
          <p:cNvPr id="10" name="HTML Text 9">
            <a:extLst>
              <a:ext uri="{FF2B5EF4-FFF2-40B4-BE49-F238E27FC236}">
                <a16:creationId xmlns:a16="http://schemas.microsoft.com/office/drawing/2014/main" id="{ED9A5E51-9F7C-25E2-DB86-7BD03BFD16DE}"/>
              </a:ext>
            </a:extLst>
          </p:cNvPr>
          <p:cNvSpPr txBox="1"/>
          <p:nvPr/>
        </p:nvSpPr>
        <p:spPr>
          <a:xfrm>
            <a:off x="922769" y="3835500"/>
            <a:ext cx="3289300" cy="276999"/>
          </a:xfrm>
          <a:prstGeom prst="rect">
            <a:avLst/>
          </a:prstGeom>
          <a:noFill/>
        </p:spPr>
        <p:txBody>
          <a:bodyPr vert="horz" wrap="square" lIns="0" tIns="0" rIns="0" bIns="0" rtlCol="0">
            <a:noAutofit/>
          </a:bodyPr>
          <a:lstStyle/>
          <a:p>
            <a:r>
              <a:rPr lang="vi-VN" sz="800">
                <a:solidFill>
                  <a:srgbClr val="A9B1D6"/>
                </a:solidFill>
                <a:latin typeface="Aptos" panose="020B0004020202020204" pitchFamily="34" charset="0"/>
              </a:rPr>
              <a:t>Bài chia sẻ, đánh giá xe và hồ sơ người viết thường không kết nối với tài sản hoặc tin bán thực tế.</a:t>
            </a:r>
          </a:p>
        </p:txBody>
      </p:sp>
      <p:sp>
        <p:nvSpPr>
          <p:cNvPr id="11" name="HTML Text 10">
            <a:extLst>
              <a:ext uri="{FF2B5EF4-FFF2-40B4-BE49-F238E27FC236}">
                <a16:creationId xmlns:a16="http://schemas.microsoft.com/office/drawing/2014/main" id="{4B95E46A-4EA0-86F6-609D-84F2BEF51CB6}"/>
              </a:ext>
            </a:extLst>
          </p:cNvPr>
          <p:cNvSpPr txBox="1"/>
          <p:nvPr/>
        </p:nvSpPr>
        <p:spPr>
          <a:xfrm>
            <a:off x="4648069" y="3359370"/>
            <a:ext cx="114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02</a:t>
            </a:r>
          </a:p>
        </p:txBody>
      </p:sp>
      <p:sp>
        <p:nvSpPr>
          <p:cNvPr id="12" name="HTML Text 11">
            <a:extLst>
              <a:ext uri="{FF2B5EF4-FFF2-40B4-BE49-F238E27FC236}">
                <a16:creationId xmlns:a16="http://schemas.microsoft.com/office/drawing/2014/main" id="{7C77B186-057E-E784-9EB6-2CE0ABE52403}"/>
              </a:ext>
            </a:extLst>
          </p:cNvPr>
          <p:cNvSpPr txBox="1"/>
          <p:nvPr/>
        </p:nvSpPr>
        <p:spPr>
          <a:xfrm>
            <a:off x="4648069" y="3592554"/>
            <a:ext cx="3289300" cy="276999"/>
          </a:xfrm>
          <a:prstGeom prst="rect">
            <a:avLst/>
          </a:prstGeom>
          <a:noFill/>
        </p:spPr>
        <p:txBody>
          <a:bodyPr vert="horz" wrap="square" lIns="0" tIns="0" rIns="0" bIns="0" rtlCol="0">
            <a:noAutofit/>
          </a:bodyPr>
          <a:lstStyle/>
          <a:p>
            <a:r>
              <a:rPr lang="vi-VN" sz="1000" b="1">
                <a:solidFill>
                  <a:srgbClr val="C0CAF5"/>
                </a:solidFill>
                <a:latin typeface="Aptos" panose="020B0004020202020204" pitchFamily="34" charset="0"/>
              </a:rPr>
              <a:t>Mua bán thiếu tin cậy</a:t>
            </a:r>
          </a:p>
        </p:txBody>
      </p:sp>
      <p:sp>
        <p:nvSpPr>
          <p:cNvPr id="13" name="HTML Text 12">
            <a:extLst>
              <a:ext uri="{FF2B5EF4-FFF2-40B4-BE49-F238E27FC236}">
                <a16:creationId xmlns:a16="http://schemas.microsoft.com/office/drawing/2014/main" id="{C4598FA5-2B4A-80FF-2B5E-6742C200968B}"/>
              </a:ext>
            </a:extLst>
          </p:cNvPr>
          <p:cNvSpPr txBox="1"/>
          <p:nvPr/>
        </p:nvSpPr>
        <p:spPr>
          <a:xfrm>
            <a:off x="4648069" y="3835500"/>
            <a:ext cx="3289300" cy="276999"/>
          </a:xfrm>
          <a:prstGeom prst="rect">
            <a:avLst/>
          </a:prstGeom>
          <a:noFill/>
        </p:spPr>
        <p:txBody>
          <a:bodyPr vert="horz" wrap="square" lIns="0" tIns="0" rIns="0" bIns="0" rtlCol="0">
            <a:noAutofit/>
          </a:bodyPr>
          <a:lstStyle/>
          <a:p>
            <a:r>
              <a:rPr lang="vi-VN" sz="800">
                <a:solidFill>
                  <a:srgbClr val="A9B1D6"/>
                </a:solidFill>
                <a:latin typeface="Aptos" panose="020B0004020202020204" pitchFamily="34" charset="0"/>
              </a:rPr>
              <a:t>Người mua khó đánh giá người bán, lịch sử hoạt động và mức độ uy tín trong cộng đồng.</a:t>
            </a:r>
          </a:p>
        </p:txBody>
      </p:sp>
      <p:sp>
        <p:nvSpPr>
          <p:cNvPr id="14" name="HTML Text 13">
            <a:extLst>
              <a:ext uri="{FF2B5EF4-FFF2-40B4-BE49-F238E27FC236}">
                <a16:creationId xmlns:a16="http://schemas.microsoft.com/office/drawing/2014/main" id="{230F00D1-881C-CEC5-151F-3F624F6C0A82}"/>
              </a:ext>
            </a:extLst>
          </p:cNvPr>
          <p:cNvSpPr txBox="1"/>
          <p:nvPr/>
        </p:nvSpPr>
        <p:spPr>
          <a:xfrm>
            <a:off x="8373369" y="3359370"/>
            <a:ext cx="114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03</a:t>
            </a:r>
          </a:p>
        </p:txBody>
      </p:sp>
      <p:sp>
        <p:nvSpPr>
          <p:cNvPr id="15" name="HTML Text 14">
            <a:extLst>
              <a:ext uri="{FF2B5EF4-FFF2-40B4-BE49-F238E27FC236}">
                <a16:creationId xmlns:a16="http://schemas.microsoft.com/office/drawing/2014/main" id="{6CBD54FD-55E7-BF40-DE0E-672E4AC33300}"/>
              </a:ext>
            </a:extLst>
          </p:cNvPr>
          <p:cNvSpPr txBox="1"/>
          <p:nvPr/>
        </p:nvSpPr>
        <p:spPr>
          <a:xfrm>
            <a:off x="8373369" y="3592554"/>
            <a:ext cx="3289300" cy="276999"/>
          </a:xfrm>
          <a:prstGeom prst="rect">
            <a:avLst/>
          </a:prstGeom>
          <a:noFill/>
        </p:spPr>
        <p:txBody>
          <a:bodyPr vert="horz" wrap="square" lIns="0" tIns="0" rIns="0" bIns="0" rtlCol="0">
            <a:noAutofit/>
          </a:bodyPr>
          <a:lstStyle/>
          <a:p>
            <a:r>
              <a:rPr lang="vi-VN" sz="1000" b="1">
                <a:solidFill>
                  <a:srgbClr val="C0CAF5"/>
                </a:solidFill>
                <a:latin typeface="Aptos" panose="020B0004020202020204" pitchFamily="34" charset="0"/>
              </a:rPr>
              <a:t>Tìm xe còn máy móc</a:t>
            </a:r>
          </a:p>
        </p:txBody>
      </p:sp>
      <p:sp>
        <p:nvSpPr>
          <p:cNvPr id="16" name="HTML Text 15">
            <a:extLst>
              <a:ext uri="{FF2B5EF4-FFF2-40B4-BE49-F238E27FC236}">
                <a16:creationId xmlns:a16="http://schemas.microsoft.com/office/drawing/2014/main" id="{0D1344B2-6B8F-0598-2411-F27001834BFE}"/>
              </a:ext>
            </a:extLst>
          </p:cNvPr>
          <p:cNvSpPr txBox="1"/>
          <p:nvPr/>
        </p:nvSpPr>
        <p:spPr>
          <a:xfrm>
            <a:off x="8373369" y="3835500"/>
            <a:ext cx="3289300" cy="276999"/>
          </a:xfrm>
          <a:prstGeom prst="rect">
            <a:avLst/>
          </a:prstGeom>
          <a:noFill/>
        </p:spPr>
        <p:txBody>
          <a:bodyPr vert="horz" wrap="square" lIns="0" tIns="0" rIns="0" bIns="0" rtlCol="0">
            <a:noAutofit/>
          </a:bodyPr>
          <a:lstStyle/>
          <a:p>
            <a:r>
              <a:rPr lang="vi-VN" sz="800">
                <a:solidFill>
                  <a:srgbClr val="A9B1D6"/>
                </a:solidFill>
                <a:latin typeface="Aptos" panose="020B0004020202020204" pitchFamily="34" charset="0"/>
              </a:rPr>
              <a:t>Bộ lọc truyền thống yêu cầu người dùng biết chính xác hãng, kiểu xe, năm và khoảng giá.</a:t>
            </a:r>
          </a:p>
        </p:txBody>
      </p:sp>
      <p:sp>
        <p:nvSpPr>
          <p:cNvPr id="17" name="HTML Text 16">
            <a:extLst>
              <a:ext uri="{FF2B5EF4-FFF2-40B4-BE49-F238E27FC236}">
                <a16:creationId xmlns:a16="http://schemas.microsoft.com/office/drawing/2014/main" id="{595427E9-A512-8474-D85C-6CB3049040F2}"/>
              </a:ext>
            </a:extLst>
          </p:cNvPr>
          <p:cNvSpPr txBox="1"/>
          <p:nvPr/>
        </p:nvSpPr>
        <p:spPr>
          <a:xfrm>
            <a:off x="916339" y="4727456"/>
            <a:ext cx="3810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Cơ hội:</a:t>
            </a:r>
          </a:p>
        </p:txBody>
      </p:sp>
      <p:sp>
        <p:nvSpPr>
          <p:cNvPr id="18" name="TextBox 17">
            <a:extLst>
              <a:ext uri="{FF2B5EF4-FFF2-40B4-BE49-F238E27FC236}">
                <a16:creationId xmlns:a16="http://schemas.microsoft.com/office/drawing/2014/main" id="{E8BEEB51-6439-CAC9-D672-7908518EEB5D}"/>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3 / 24</a:t>
            </a:r>
          </a:p>
        </p:txBody>
      </p:sp>
    </p:spTree>
    <p:extLst>
      <p:ext uri="{BB962C8B-B14F-4D97-AF65-F5344CB8AC3E}">
        <p14:creationId xmlns:p14="http://schemas.microsoft.com/office/powerpoint/2010/main" val="3895403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2AA4FC58-DF70-9A3C-A92F-1C5914015081}"/>
              </a:ext>
            </a:extLst>
          </p:cNvPr>
          <p:cNvSpPr/>
          <p:nvPr/>
        </p:nvSpPr>
        <p:spPr>
          <a:xfrm>
            <a:off x="720490" y="3339305"/>
            <a:ext cx="2534273" cy="91245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C581222B-F158-4C2E-BCB0-B457EA7563F2}"/>
              </a:ext>
            </a:extLst>
          </p:cNvPr>
          <p:cNvSpPr/>
          <p:nvPr/>
        </p:nvSpPr>
        <p:spPr>
          <a:xfrm>
            <a:off x="3562416" y="3339305"/>
            <a:ext cx="2534374" cy="91245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C160C34E-6CF3-2F03-7F8E-1D200CD785E7}"/>
              </a:ext>
            </a:extLst>
          </p:cNvPr>
          <p:cNvSpPr/>
          <p:nvPr/>
        </p:nvSpPr>
        <p:spPr>
          <a:xfrm>
            <a:off x="6404443" y="3339305"/>
            <a:ext cx="2534273" cy="912456"/>
          </a:xfrm>
          <a:prstGeom prst="roundRect">
            <a:avLst/>
          </a:prstGeom>
          <a:noFill/>
          <a:ln w="6430" cap="flat" cmpd="sng" algn="ctr">
            <a:solidFill>
              <a:srgbClr val="7AA2F7"/>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D36910A9-1AC1-0173-DAF1-B9130E94C4F2}"/>
              </a:ext>
            </a:extLst>
          </p:cNvPr>
          <p:cNvSpPr/>
          <p:nvPr/>
        </p:nvSpPr>
        <p:spPr>
          <a:xfrm>
            <a:off x="9246370" y="3339305"/>
            <a:ext cx="2534373" cy="91245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Text 5">
            <a:extLst>
              <a:ext uri="{FF2B5EF4-FFF2-40B4-BE49-F238E27FC236}">
                <a16:creationId xmlns:a16="http://schemas.microsoft.com/office/drawing/2014/main" id="{EF72AEB0-2135-749C-1D76-7DEC29DEB8DF}"/>
              </a:ext>
            </a:extLst>
          </p:cNvPr>
          <p:cNvSpPr txBox="1"/>
          <p:nvPr/>
        </p:nvSpPr>
        <p:spPr>
          <a:xfrm>
            <a:off x="720490" y="2071651"/>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02 · TẦM NHÌN SẢN PHẨM</a:t>
            </a:r>
          </a:p>
        </p:txBody>
      </p:sp>
      <p:sp>
        <p:nvSpPr>
          <p:cNvPr id="7" name="HTML Text 6">
            <a:extLst>
              <a:ext uri="{FF2B5EF4-FFF2-40B4-BE49-F238E27FC236}">
                <a16:creationId xmlns:a16="http://schemas.microsoft.com/office/drawing/2014/main" id="{F3DBCC4F-F798-742F-BC5D-231CAA0377FF}"/>
              </a:ext>
            </a:extLst>
          </p:cNvPr>
          <p:cNvSpPr txBox="1"/>
          <p:nvPr/>
        </p:nvSpPr>
        <p:spPr>
          <a:xfrm>
            <a:off x="720490" y="2293773"/>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Một tài khoản, một Garage, một hành trình xuyên suốt</a:t>
            </a:r>
          </a:p>
        </p:txBody>
      </p:sp>
      <p:sp>
        <p:nvSpPr>
          <p:cNvPr id="8" name="HTML Text 7">
            <a:extLst>
              <a:ext uri="{FF2B5EF4-FFF2-40B4-BE49-F238E27FC236}">
                <a16:creationId xmlns:a16="http://schemas.microsoft.com/office/drawing/2014/main" id="{D34D8140-9228-02B0-1CAA-97BC3C1FDD88}"/>
              </a:ext>
            </a:extLst>
          </p:cNvPr>
          <p:cNvSpPr txBox="1"/>
          <p:nvPr/>
        </p:nvSpPr>
        <p:spPr>
          <a:xfrm>
            <a:off x="842667" y="3512838"/>
            <a:ext cx="23114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Khám phá</a:t>
            </a:r>
          </a:p>
        </p:txBody>
      </p:sp>
      <p:sp>
        <p:nvSpPr>
          <p:cNvPr id="9" name="HTML Text 8">
            <a:extLst>
              <a:ext uri="{FF2B5EF4-FFF2-40B4-BE49-F238E27FC236}">
                <a16:creationId xmlns:a16="http://schemas.microsoft.com/office/drawing/2014/main" id="{5D0D99DB-3703-A842-F2B4-643CF9A28CDB}"/>
              </a:ext>
            </a:extLst>
          </p:cNvPr>
          <p:cNvSpPr txBox="1"/>
          <p:nvPr/>
        </p:nvSpPr>
        <p:spPr>
          <a:xfrm>
            <a:off x="842667" y="3693311"/>
            <a:ext cx="23114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Feed &amp; chuyên đề</a:t>
            </a:r>
          </a:p>
        </p:txBody>
      </p:sp>
      <p:sp>
        <p:nvSpPr>
          <p:cNvPr id="10" name="HTML Text 9">
            <a:extLst>
              <a:ext uri="{FF2B5EF4-FFF2-40B4-BE49-F238E27FC236}">
                <a16:creationId xmlns:a16="http://schemas.microsoft.com/office/drawing/2014/main" id="{0E6E6D00-6A1C-D66C-84BC-320DE2797BCE}"/>
              </a:ext>
            </a:extLst>
          </p:cNvPr>
          <p:cNvSpPr txBox="1"/>
          <p:nvPr/>
        </p:nvSpPr>
        <p:spPr>
          <a:xfrm>
            <a:off x="842667" y="3948730"/>
            <a:ext cx="23114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Học hỏi từ cộng đồng</a:t>
            </a:r>
          </a:p>
        </p:txBody>
      </p:sp>
      <p:sp>
        <p:nvSpPr>
          <p:cNvPr id="11" name="HTML Text 10">
            <a:extLst>
              <a:ext uri="{FF2B5EF4-FFF2-40B4-BE49-F238E27FC236}">
                <a16:creationId xmlns:a16="http://schemas.microsoft.com/office/drawing/2014/main" id="{4186801B-9123-BC1F-F1BC-76A6D8DBC9BA}"/>
              </a:ext>
            </a:extLst>
          </p:cNvPr>
          <p:cNvSpPr txBox="1"/>
          <p:nvPr/>
        </p:nvSpPr>
        <p:spPr>
          <a:xfrm>
            <a:off x="3331927" y="3339305"/>
            <a:ext cx="177800" cy="276999"/>
          </a:xfrm>
          <a:prstGeom prst="rect">
            <a:avLst/>
          </a:prstGeom>
          <a:noFill/>
        </p:spPr>
        <p:txBody>
          <a:bodyPr vert="horz" wrap="square" lIns="0" tIns="0" rIns="0" bIns="0" rtlCol="0">
            <a:noAutofit/>
          </a:bodyPr>
          <a:lstStyle/>
          <a:p>
            <a:r>
              <a:rPr lang="vi-VN" sz="1200" i="1">
                <a:solidFill>
                  <a:srgbClr val="7AA2F7"/>
                </a:solidFill>
                <a:latin typeface="Aptos" panose="020B0004020202020204" pitchFamily="34" charset="0"/>
              </a:rPr>
              <a:t>→</a:t>
            </a:r>
          </a:p>
        </p:txBody>
      </p:sp>
      <p:sp>
        <p:nvSpPr>
          <p:cNvPr id="12" name="HTML Text 11">
            <a:extLst>
              <a:ext uri="{FF2B5EF4-FFF2-40B4-BE49-F238E27FC236}">
                <a16:creationId xmlns:a16="http://schemas.microsoft.com/office/drawing/2014/main" id="{9E601247-4BCC-ADF5-2F62-9299182369AA}"/>
              </a:ext>
            </a:extLst>
          </p:cNvPr>
          <p:cNvSpPr txBox="1"/>
          <p:nvPr/>
        </p:nvSpPr>
        <p:spPr>
          <a:xfrm>
            <a:off x="3684593" y="3512838"/>
            <a:ext cx="23114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Xây dựng</a:t>
            </a:r>
          </a:p>
        </p:txBody>
      </p:sp>
      <p:sp>
        <p:nvSpPr>
          <p:cNvPr id="13" name="HTML Text 12">
            <a:extLst>
              <a:ext uri="{FF2B5EF4-FFF2-40B4-BE49-F238E27FC236}">
                <a16:creationId xmlns:a16="http://schemas.microsoft.com/office/drawing/2014/main" id="{49C96C77-5542-554A-B46D-849B5243F810}"/>
              </a:ext>
            </a:extLst>
          </p:cNvPr>
          <p:cNvSpPr txBox="1"/>
          <p:nvPr/>
        </p:nvSpPr>
        <p:spPr>
          <a:xfrm>
            <a:off x="3684593" y="3693311"/>
            <a:ext cx="23114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Hồ sơ &amp; uy tín</a:t>
            </a:r>
          </a:p>
        </p:txBody>
      </p:sp>
      <p:sp>
        <p:nvSpPr>
          <p:cNvPr id="14" name="HTML Text 13">
            <a:extLst>
              <a:ext uri="{FF2B5EF4-FFF2-40B4-BE49-F238E27FC236}">
                <a16:creationId xmlns:a16="http://schemas.microsoft.com/office/drawing/2014/main" id="{860B0C5D-2793-CD70-6DC9-3506C050705E}"/>
              </a:ext>
            </a:extLst>
          </p:cNvPr>
          <p:cNvSpPr txBox="1"/>
          <p:nvPr/>
        </p:nvSpPr>
        <p:spPr>
          <a:xfrm>
            <a:off x="3684593" y="3948730"/>
            <a:ext cx="23114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Theo dõi, đánh giá, verified</a:t>
            </a:r>
          </a:p>
        </p:txBody>
      </p:sp>
      <p:sp>
        <p:nvSpPr>
          <p:cNvPr id="15" name="HTML Text 14">
            <a:extLst>
              <a:ext uri="{FF2B5EF4-FFF2-40B4-BE49-F238E27FC236}">
                <a16:creationId xmlns:a16="http://schemas.microsoft.com/office/drawing/2014/main" id="{C7D2D357-437D-995C-80BB-6A57E80DD615}"/>
              </a:ext>
            </a:extLst>
          </p:cNvPr>
          <p:cNvSpPr txBox="1"/>
          <p:nvPr/>
        </p:nvSpPr>
        <p:spPr>
          <a:xfrm>
            <a:off x="6173954" y="3339305"/>
            <a:ext cx="177800" cy="276999"/>
          </a:xfrm>
          <a:prstGeom prst="rect">
            <a:avLst/>
          </a:prstGeom>
          <a:noFill/>
        </p:spPr>
        <p:txBody>
          <a:bodyPr vert="horz" wrap="square" lIns="0" tIns="0" rIns="0" bIns="0" rtlCol="0">
            <a:noAutofit/>
          </a:bodyPr>
          <a:lstStyle/>
          <a:p>
            <a:r>
              <a:rPr lang="vi-VN" sz="1200" i="1">
                <a:solidFill>
                  <a:srgbClr val="7AA2F7"/>
                </a:solidFill>
                <a:latin typeface="Aptos" panose="020B0004020202020204" pitchFamily="34" charset="0"/>
              </a:rPr>
              <a:t>→</a:t>
            </a:r>
          </a:p>
        </p:txBody>
      </p:sp>
      <p:sp>
        <p:nvSpPr>
          <p:cNvPr id="16" name="HTML Text 15">
            <a:extLst>
              <a:ext uri="{FF2B5EF4-FFF2-40B4-BE49-F238E27FC236}">
                <a16:creationId xmlns:a16="http://schemas.microsoft.com/office/drawing/2014/main" id="{70E1585F-B622-4AE4-A399-52B488512BCD}"/>
              </a:ext>
            </a:extLst>
          </p:cNvPr>
          <p:cNvSpPr txBox="1"/>
          <p:nvPr/>
        </p:nvSpPr>
        <p:spPr>
          <a:xfrm>
            <a:off x="6526620" y="3512838"/>
            <a:ext cx="23114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Quản lý</a:t>
            </a:r>
          </a:p>
        </p:txBody>
      </p:sp>
      <p:sp>
        <p:nvSpPr>
          <p:cNvPr id="17" name="HTML Text 16">
            <a:extLst>
              <a:ext uri="{FF2B5EF4-FFF2-40B4-BE49-F238E27FC236}">
                <a16:creationId xmlns:a16="http://schemas.microsoft.com/office/drawing/2014/main" id="{4B8B247B-34B0-50BF-7414-4DF15A51F2D7}"/>
              </a:ext>
            </a:extLst>
          </p:cNvPr>
          <p:cNvSpPr txBox="1"/>
          <p:nvPr/>
        </p:nvSpPr>
        <p:spPr>
          <a:xfrm>
            <a:off x="6526620" y="3693311"/>
            <a:ext cx="23114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Garage cá nhân</a:t>
            </a:r>
          </a:p>
        </p:txBody>
      </p:sp>
      <p:sp>
        <p:nvSpPr>
          <p:cNvPr id="18" name="HTML Text 17">
            <a:extLst>
              <a:ext uri="{FF2B5EF4-FFF2-40B4-BE49-F238E27FC236}">
                <a16:creationId xmlns:a16="http://schemas.microsoft.com/office/drawing/2014/main" id="{D02D9C56-3D4B-1198-7095-1F90C684285F}"/>
              </a:ext>
            </a:extLst>
          </p:cNvPr>
          <p:cNvSpPr txBox="1"/>
          <p:nvPr/>
        </p:nvSpPr>
        <p:spPr>
          <a:xfrm>
            <a:off x="6526620" y="3948730"/>
            <a:ext cx="23114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Tài sản xe và hình ảnh</a:t>
            </a:r>
          </a:p>
        </p:txBody>
      </p:sp>
      <p:sp>
        <p:nvSpPr>
          <p:cNvPr id="19" name="HTML Text 18">
            <a:extLst>
              <a:ext uri="{FF2B5EF4-FFF2-40B4-BE49-F238E27FC236}">
                <a16:creationId xmlns:a16="http://schemas.microsoft.com/office/drawing/2014/main" id="{C0E221E5-5A7B-8566-54C6-C135C14EB35F}"/>
              </a:ext>
            </a:extLst>
          </p:cNvPr>
          <p:cNvSpPr txBox="1"/>
          <p:nvPr/>
        </p:nvSpPr>
        <p:spPr>
          <a:xfrm>
            <a:off x="9015881" y="3339305"/>
            <a:ext cx="177800" cy="276999"/>
          </a:xfrm>
          <a:prstGeom prst="rect">
            <a:avLst/>
          </a:prstGeom>
          <a:noFill/>
        </p:spPr>
        <p:txBody>
          <a:bodyPr vert="horz" wrap="square" lIns="0" tIns="0" rIns="0" bIns="0" rtlCol="0">
            <a:noAutofit/>
          </a:bodyPr>
          <a:lstStyle/>
          <a:p>
            <a:r>
              <a:rPr lang="vi-VN" sz="1200" i="1">
                <a:solidFill>
                  <a:srgbClr val="7AA2F7"/>
                </a:solidFill>
                <a:latin typeface="Aptos" panose="020B0004020202020204" pitchFamily="34" charset="0"/>
              </a:rPr>
              <a:t>→</a:t>
            </a:r>
          </a:p>
        </p:txBody>
      </p:sp>
      <p:sp>
        <p:nvSpPr>
          <p:cNvPr id="20" name="HTML Text 19">
            <a:extLst>
              <a:ext uri="{FF2B5EF4-FFF2-40B4-BE49-F238E27FC236}">
                <a16:creationId xmlns:a16="http://schemas.microsoft.com/office/drawing/2014/main" id="{784C4C4D-012B-C7A3-09D4-5EC819E973C1}"/>
              </a:ext>
            </a:extLst>
          </p:cNvPr>
          <p:cNvSpPr txBox="1"/>
          <p:nvPr/>
        </p:nvSpPr>
        <p:spPr>
          <a:xfrm>
            <a:off x="9368547" y="3512838"/>
            <a:ext cx="23114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Giao dịch</a:t>
            </a:r>
          </a:p>
        </p:txBody>
      </p:sp>
      <p:sp>
        <p:nvSpPr>
          <p:cNvPr id="21" name="HTML Text 20">
            <a:extLst>
              <a:ext uri="{FF2B5EF4-FFF2-40B4-BE49-F238E27FC236}">
                <a16:creationId xmlns:a16="http://schemas.microsoft.com/office/drawing/2014/main" id="{74271B9C-2051-4B6C-7F8D-2A969A79ADC5}"/>
              </a:ext>
            </a:extLst>
          </p:cNvPr>
          <p:cNvSpPr txBox="1"/>
          <p:nvPr/>
        </p:nvSpPr>
        <p:spPr>
          <a:xfrm>
            <a:off x="9368547" y="3693311"/>
            <a:ext cx="23114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Marketplace</a:t>
            </a:r>
          </a:p>
        </p:txBody>
      </p:sp>
      <p:sp>
        <p:nvSpPr>
          <p:cNvPr id="22" name="HTML Text 21">
            <a:extLst>
              <a:ext uri="{FF2B5EF4-FFF2-40B4-BE49-F238E27FC236}">
                <a16:creationId xmlns:a16="http://schemas.microsoft.com/office/drawing/2014/main" id="{601D7EA8-1876-D964-A79A-ECA5F22593BD}"/>
              </a:ext>
            </a:extLst>
          </p:cNvPr>
          <p:cNvSpPr txBox="1"/>
          <p:nvPr/>
        </p:nvSpPr>
        <p:spPr>
          <a:xfrm>
            <a:off x="9368547" y="3948730"/>
            <a:ext cx="23114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Tìm kiếm, liên hệ, nhắn tin</a:t>
            </a:r>
          </a:p>
        </p:txBody>
      </p:sp>
      <p:sp>
        <p:nvSpPr>
          <p:cNvPr id="23" name="HTML Text 22">
            <a:extLst>
              <a:ext uri="{FF2B5EF4-FFF2-40B4-BE49-F238E27FC236}">
                <a16:creationId xmlns:a16="http://schemas.microsoft.com/office/drawing/2014/main" id="{1CF7CF53-0206-F43B-0FD3-FA15E0CC4634}"/>
              </a:ext>
            </a:extLst>
          </p:cNvPr>
          <p:cNvSpPr txBox="1"/>
          <p:nvPr/>
        </p:nvSpPr>
        <p:spPr>
          <a:xfrm>
            <a:off x="3519513" y="4543295"/>
            <a:ext cx="5486400" cy="276999"/>
          </a:xfrm>
          <a:prstGeom prst="rect">
            <a:avLst/>
          </a:prstGeom>
          <a:noFill/>
        </p:spPr>
        <p:txBody>
          <a:bodyPr vert="horz" wrap="square" lIns="0" tIns="0" rIns="0" bIns="0" rtlCol="0">
            <a:noAutofit/>
          </a:bodyPr>
          <a:lstStyle/>
          <a:p>
            <a:pPr algn="ctr"/>
            <a:r>
              <a:rPr lang="vi-VN" sz="1300">
                <a:solidFill>
                  <a:srgbClr val="A9B1D6"/>
                </a:solidFill>
                <a:latin typeface="Aptos" panose="020B0004020202020204" pitchFamily="34" charset="0"/>
              </a:rPr>
              <a:t>“Không chỉ là một chợ xe, mà là hệ sinh thái xoay quanh vòng đời sở hữu xe.”</a:t>
            </a:r>
          </a:p>
        </p:txBody>
      </p:sp>
      <p:sp>
        <p:nvSpPr>
          <p:cNvPr id="24" name="TextBox 23">
            <a:extLst>
              <a:ext uri="{FF2B5EF4-FFF2-40B4-BE49-F238E27FC236}">
                <a16:creationId xmlns:a16="http://schemas.microsoft.com/office/drawing/2014/main" id="{03AFE1D9-2BB2-95B2-18BA-BDBE1EA5FFF8}"/>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4 / 24</a:t>
            </a:r>
          </a:p>
        </p:txBody>
      </p:sp>
    </p:spTree>
    <p:extLst>
      <p:ext uri="{BB962C8B-B14F-4D97-AF65-F5344CB8AC3E}">
        <p14:creationId xmlns:p14="http://schemas.microsoft.com/office/powerpoint/2010/main" val="100016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B2D3D707-3C20-3DBF-60BF-826C89502DA7}"/>
              </a:ext>
            </a:extLst>
          </p:cNvPr>
          <p:cNvSpPr/>
          <p:nvPr/>
        </p:nvSpPr>
        <p:spPr>
          <a:xfrm>
            <a:off x="585129" y="3116533"/>
            <a:ext cx="3601013" cy="189247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AF796E63-73B9-3C2B-F87D-6A46CCEF294C}"/>
              </a:ext>
            </a:extLst>
          </p:cNvPr>
          <p:cNvSpPr/>
          <p:nvPr/>
        </p:nvSpPr>
        <p:spPr>
          <a:xfrm>
            <a:off x="4314749" y="3061003"/>
            <a:ext cx="3601013" cy="1892479"/>
          </a:xfrm>
          <a:prstGeom prst="roundRect">
            <a:avLst/>
          </a:prstGeom>
          <a:solidFill>
            <a:srgbClr val="24283B"/>
          </a:solidFill>
          <a:ln w="6430" cap="flat" cmpd="sng" algn="ctr">
            <a:solidFill>
              <a:srgbClr val="7AA2F7"/>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3512BD75-509A-BEE2-3F53-CD3B64235261}"/>
              </a:ext>
            </a:extLst>
          </p:cNvPr>
          <p:cNvSpPr/>
          <p:nvPr/>
        </p:nvSpPr>
        <p:spPr>
          <a:xfrm>
            <a:off x="8044369" y="3116533"/>
            <a:ext cx="3601013" cy="189247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Text 4">
            <a:extLst>
              <a:ext uri="{FF2B5EF4-FFF2-40B4-BE49-F238E27FC236}">
                <a16:creationId xmlns:a16="http://schemas.microsoft.com/office/drawing/2014/main" id="{3197C57F-AF82-B46A-2179-1A72A5BCC2F2}"/>
              </a:ext>
            </a:extLst>
          </p:cNvPr>
          <p:cNvSpPr txBox="1"/>
          <p:nvPr/>
        </p:nvSpPr>
        <p:spPr>
          <a:xfrm>
            <a:off x="585129" y="1848879"/>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03 · TÁC NHÂN HỆ THỐNG</a:t>
            </a:r>
          </a:p>
        </p:txBody>
      </p:sp>
      <p:sp>
        <p:nvSpPr>
          <p:cNvPr id="6" name="HTML Text 5">
            <a:extLst>
              <a:ext uri="{FF2B5EF4-FFF2-40B4-BE49-F238E27FC236}">
                <a16:creationId xmlns:a16="http://schemas.microsoft.com/office/drawing/2014/main" id="{73A2F35F-56AB-FBE1-A21D-E866DDDAE594}"/>
              </a:ext>
            </a:extLst>
          </p:cNvPr>
          <p:cNvSpPr txBox="1"/>
          <p:nvPr/>
        </p:nvSpPr>
        <p:spPr>
          <a:xfrm>
            <a:off x="585129" y="2071001"/>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Ba nhóm người dùng, ba mức quyền rõ ràng</a:t>
            </a:r>
          </a:p>
        </p:txBody>
      </p:sp>
      <p:sp>
        <p:nvSpPr>
          <p:cNvPr id="7" name="HTML Text 6">
            <a:extLst>
              <a:ext uri="{FF2B5EF4-FFF2-40B4-BE49-F238E27FC236}">
                <a16:creationId xmlns:a16="http://schemas.microsoft.com/office/drawing/2014/main" id="{9772EB07-72D2-73EC-EA72-C5E25519535E}"/>
              </a:ext>
            </a:extLst>
          </p:cNvPr>
          <p:cNvSpPr txBox="1"/>
          <p:nvPr/>
        </p:nvSpPr>
        <p:spPr>
          <a:xfrm>
            <a:off x="771610" y="3317831"/>
            <a:ext cx="355600" cy="276999"/>
          </a:xfrm>
          <a:prstGeom prst="rect">
            <a:avLst/>
          </a:prstGeom>
          <a:noFill/>
        </p:spPr>
        <p:txBody>
          <a:bodyPr vert="horz" wrap="square" lIns="0" tIns="0" rIns="0" bIns="0" rtlCol="0">
            <a:noAutofit/>
          </a:bodyPr>
          <a:lstStyle/>
          <a:p>
            <a:r>
              <a:rPr lang="vi-VN" sz="800" b="1">
                <a:solidFill>
                  <a:srgbClr val="7AA2F7"/>
                </a:solidFill>
                <a:latin typeface="Aptos" panose="020B0004020202020204" pitchFamily="34" charset="0"/>
              </a:rPr>
              <a:t>G</a:t>
            </a:r>
          </a:p>
        </p:txBody>
      </p:sp>
      <p:sp>
        <p:nvSpPr>
          <p:cNvPr id="8" name="HTML Text 7">
            <a:extLst>
              <a:ext uri="{FF2B5EF4-FFF2-40B4-BE49-F238E27FC236}">
                <a16:creationId xmlns:a16="http://schemas.microsoft.com/office/drawing/2014/main" id="{EC0A5239-00A5-8D43-D3B5-5D4EDBA89C73}"/>
              </a:ext>
            </a:extLst>
          </p:cNvPr>
          <p:cNvSpPr txBox="1"/>
          <p:nvPr/>
        </p:nvSpPr>
        <p:spPr>
          <a:xfrm>
            <a:off x="771610" y="3803721"/>
            <a:ext cx="3251200" cy="276999"/>
          </a:xfrm>
          <a:prstGeom prst="rect">
            <a:avLst/>
          </a:prstGeom>
          <a:noFill/>
        </p:spPr>
        <p:txBody>
          <a:bodyPr vert="horz" wrap="square" lIns="0" tIns="0" rIns="0" bIns="0" rtlCol="0">
            <a:noAutofit/>
          </a:bodyPr>
          <a:lstStyle/>
          <a:p>
            <a:r>
              <a:rPr lang="vi-VN" sz="1200" b="1">
                <a:solidFill>
                  <a:srgbClr val="C0CAF5"/>
                </a:solidFill>
                <a:latin typeface="Aptos" panose="020B0004020202020204" pitchFamily="34" charset="0"/>
              </a:rPr>
              <a:t>Khách</a:t>
            </a:r>
          </a:p>
        </p:txBody>
      </p:sp>
      <p:sp>
        <p:nvSpPr>
          <p:cNvPr id="9" name="HTML Text 8">
            <a:extLst>
              <a:ext uri="{FF2B5EF4-FFF2-40B4-BE49-F238E27FC236}">
                <a16:creationId xmlns:a16="http://schemas.microsoft.com/office/drawing/2014/main" id="{A8BF7AD0-5616-C463-30F9-4E2818E503C1}"/>
              </a:ext>
            </a:extLst>
          </p:cNvPr>
          <p:cNvSpPr txBox="1"/>
          <p:nvPr/>
        </p:nvSpPr>
        <p:spPr>
          <a:xfrm>
            <a:off x="887357" y="4108379"/>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Xem bài cộng đồng</a:t>
            </a:r>
          </a:p>
        </p:txBody>
      </p:sp>
      <p:sp>
        <p:nvSpPr>
          <p:cNvPr id="10" name="HTML Text 9">
            <a:extLst>
              <a:ext uri="{FF2B5EF4-FFF2-40B4-BE49-F238E27FC236}">
                <a16:creationId xmlns:a16="http://schemas.microsoft.com/office/drawing/2014/main" id="{2D32009C-101B-3FAA-257D-879A51E3DAF1}"/>
              </a:ext>
            </a:extLst>
          </p:cNvPr>
          <p:cNvSpPr txBox="1"/>
          <p:nvPr/>
        </p:nvSpPr>
        <p:spPr>
          <a:xfrm>
            <a:off x="887357" y="4283213"/>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Đọc chuyên đề</a:t>
            </a:r>
          </a:p>
        </p:txBody>
      </p:sp>
      <p:sp>
        <p:nvSpPr>
          <p:cNvPr id="11" name="HTML Text 10">
            <a:extLst>
              <a:ext uri="{FF2B5EF4-FFF2-40B4-BE49-F238E27FC236}">
                <a16:creationId xmlns:a16="http://schemas.microsoft.com/office/drawing/2014/main" id="{A638B20F-D553-A28D-8D1C-C2CD6A8BEBE5}"/>
              </a:ext>
            </a:extLst>
          </p:cNvPr>
          <p:cNvSpPr txBox="1"/>
          <p:nvPr/>
        </p:nvSpPr>
        <p:spPr>
          <a:xfrm>
            <a:off x="887357" y="4458047"/>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Xem và tìm tin xe</a:t>
            </a:r>
          </a:p>
        </p:txBody>
      </p:sp>
      <p:sp>
        <p:nvSpPr>
          <p:cNvPr id="12" name="HTML Text 11">
            <a:extLst>
              <a:ext uri="{FF2B5EF4-FFF2-40B4-BE49-F238E27FC236}">
                <a16:creationId xmlns:a16="http://schemas.microsoft.com/office/drawing/2014/main" id="{93B429A8-95C0-D375-C698-79A82577132E}"/>
              </a:ext>
            </a:extLst>
          </p:cNvPr>
          <p:cNvSpPr txBox="1"/>
          <p:nvPr/>
        </p:nvSpPr>
        <p:spPr>
          <a:xfrm>
            <a:off x="887357" y="4632881"/>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Đăng ký, đăng nhập, reset mật khẩu</a:t>
            </a:r>
          </a:p>
        </p:txBody>
      </p:sp>
      <p:sp>
        <p:nvSpPr>
          <p:cNvPr id="13" name="HTML Text 12">
            <a:extLst>
              <a:ext uri="{FF2B5EF4-FFF2-40B4-BE49-F238E27FC236}">
                <a16:creationId xmlns:a16="http://schemas.microsoft.com/office/drawing/2014/main" id="{16C41D29-99F9-0840-7346-0E328B7DA555}"/>
              </a:ext>
            </a:extLst>
          </p:cNvPr>
          <p:cNvSpPr txBox="1"/>
          <p:nvPr/>
        </p:nvSpPr>
        <p:spPr>
          <a:xfrm>
            <a:off x="4501231" y="3262300"/>
            <a:ext cx="355600" cy="276999"/>
          </a:xfrm>
          <a:prstGeom prst="rect">
            <a:avLst/>
          </a:prstGeom>
          <a:noFill/>
        </p:spPr>
        <p:txBody>
          <a:bodyPr vert="horz" wrap="square" lIns="0" tIns="0" rIns="0" bIns="0" rtlCol="0">
            <a:noAutofit/>
          </a:bodyPr>
          <a:lstStyle/>
          <a:p>
            <a:r>
              <a:rPr lang="vi-VN" sz="800" b="1">
                <a:solidFill>
                  <a:srgbClr val="7AA2F7"/>
                </a:solidFill>
                <a:latin typeface="Aptos" panose="020B0004020202020204" pitchFamily="34" charset="0"/>
              </a:rPr>
              <a:t>M</a:t>
            </a:r>
          </a:p>
        </p:txBody>
      </p:sp>
      <p:sp>
        <p:nvSpPr>
          <p:cNvPr id="14" name="HTML Text 13">
            <a:extLst>
              <a:ext uri="{FF2B5EF4-FFF2-40B4-BE49-F238E27FC236}">
                <a16:creationId xmlns:a16="http://schemas.microsoft.com/office/drawing/2014/main" id="{42A1AD22-F9F1-01B0-D29D-A59C9FF6BCFC}"/>
              </a:ext>
            </a:extLst>
          </p:cNvPr>
          <p:cNvSpPr txBox="1"/>
          <p:nvPr/>
        </p:nvSpPr>
        <p:spPr>
          <a:xfrm>
            <a:off x="4501231" y="3748191"/>
            <a:ext cx="3251200" cy="276999"/>
          </a:xfrm>
          <a:prstGeom prst="rect">
            <a:avLst/>
          </a:prstGeom>
          <a:noFill/>
        </p:spPr>
        <p:txBody>
          <a:bodyPr vert="horz" wrap="square" lIns="0" tIns="0" rIns="0" bIns="0" rtlCol="0">
            <a:noAutofit/>
          </a:bodyPr>
          <a:lstStyle/>
          <a:p>
            <a:r>
              <a:rPr lang="vi-VN" sz="1200" b="1">
                <a:solidFill>
                  <a:srgbClr val="C0CAF5"/>
                </a:solidFill>
                <a:latin typeface="Aptos" panose="020B0004020202020204" pitchFamily="34" charset="0"/>
              </a:rPr>
              <a:t>Thành viên</a:t>
            </a:r>
          </a:p>
        </p:txBody>
      </p:sp>
      <p:sp>
        <p:nvSpPr>
          <p:cNvPr id="15" name="HTML Text 14">
            <a:extLst>
              <a:ext uri="{FF2B5EF4-FFF2-40B4-BE49-F238E27FC236}">
                <a16:creationId xmlns:a16="http://schemas.microsoft.com/office/drawing/2014/main" id="{850AAC69-FFE9-5B79-3020-03A32FA52F44}"/>
              </a:ext>
            </a:extLst>
          </p:cNvPr>
          <p:cNvSpPr txBox="1"/>
          <p:nvPr/>
        </p:nvSpPr>
        <p:spPr>
          <a:xfrm>
            <a:off x="4616977" y="4052849"/>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Đăng và tương tác nội dung</a:t>
            </a:r>
          </a:p>
        </p:txBody>
      </p:sp>
      <p:sp>
        <p:nvSpPr>
          <p:cNvPr id="16" name="HTML Text 15">
            <a:extLst>
              <a:ext uri="{FF2B5EF4-FFF2-40B4-BE49-F238E27FC236}">
                <a16:creationId xmlns:a16="http://schemas.microsoft.com/office/drawing/2014/main" id="{134F1ED5-733D-E5D7-FA22-4A767868A185}"/>
              </a:ext>
            </a:extLst>
          </p:cNvPr>
          <p:cNvSpPr txBox="1"/>
          <p:nvPr/>
        </p:nvSpPr>
        <p:spPr>
          <a:xfrm>
            <a:off x="4616977" y="4227683"/>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Quản lý Garage, tạo listing</a:t>
            </a:r>
          </a:p>
        </p:txBody>
      </p:sp>
      <p:sp>
        <p:nvSpPr>
          <p:cNvPr id="17" name="HTML Text 16">
            <a:extLst>
              <a:ext uri="{FF2B5EF4-FFF2-40B4-BE49-F238E27FC236}">
                <a16:creationId xmlns:a16="http://schemas.microsoft.com/office/drawing/2014/main" id="{20593782-8C11-ECA3-EDCF-7CACA6D665B9}"/>
              </a:ext>
            </a:extLst>
          </p:cNvPr>
          <p:cNvSpPr txBox="1"/>
          <p:nvPr/>
        </p:nvSpPr>
        <p:spPr>
          <a:xfrm>
            <a:off x="4616977" y="4402517"/>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Nhắn tin, thông báo, AI</a:t>
            </a:r>
          </a:p>
        </p:txBody>
      </p:sp>
      <p:sp>
        <p:nvSpPr>
          <p:cNvPr id="18" name="HTML Text 17">
            <a:extLst>
              <a:ext uri="{FF2B5EF4-FFF2-40B4-BE49-F238E27FC236}">
                <a16:creationId xmlns:a16="http://schemas.microsoft.com/office/drawing/2014/main" id="{431E96EF-1E3B-7690-6E3E-5945F8FF4D5A}"/>
              </a:ext>
            </a:extLst>
          </p:cNvPr>
          <p:cNvSpPr txBox="1"/>
          <p:nvPr/>
        </p:nvSpPr>
        <p:spPr>
          <a:xfrm>
            <a:off x="4616977" y="4577350"/>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Theo dõi và đánh giá thành viên</a:t>
            </a:r>
          </a:p>
        </p:txBody>
      </p:sp>
      <p:sp>
        <p:nvSpPr>
          <p:cNvPr id="19" name="HTML Text 18">
            <a:extLst>
              <a:ext uri="{FF2B5EF4-FFF2-40B4-BE49-F238E27FC236}">
                <a16:creationId xmlns:a16="http://schemas.microsoft.com/office/drawing/2014/main" id="{BC789219-6C62-4444-6E42-0697D892EF96}"/>
              </a:ext>
            </a:extLst>
          </p:cNvPr>
          <p:cNvSpPr txBox="1"/>
          <p:nvPr/>
        </p:nvSpPr>
        <p:spPr>
          <a:xfrm>
            <a:off x="8230851" y="3317831"/>
            <a:ext cx="355600" cy="276999"/>
          </a:xfrm>
          <a:prstGeom prst="rect">
            <a:avLst/>
          </a:prstGeom>
          <a:noFill/>
        </p:spPr>
        <p:txBody>
          <a:bodyPr vert="horz" wrap="square" lIns="0" tIns="0" rIns="0" bIns="0" rtlCol="0">
            <a:noAutofit/>
          </a:bodyPr>
          <a:lstStyle/>
          <a:p>
            <a:r>
              <a:rPr lang="vi-VN" sz="800" b="1">
                <a:solidFill>
                  <a:srgbClr val="7AA2F7"/>
                </a:solidFill>
                <a:latin typeface="Aptos" panose="020B0004020202020204" pitchFamily="34" charset="0"/>
              </a:rPr>
              <a:t>A</a:t>
            </a:r>
          </a:p>
        </p:txBody>
      </p:sp>
      <p:sp>
        <p:nvSpPr>
          <p:cNvPr id="20" name="HTML Text 19">
            <a:extLst>
              <a:ext uri="{FF2B5EF4-FFF2-40B4-BE49-F238E27FC236}">
                <a16:creationId xmlns:a16="http://schemas.microsoft.com/office/drawing/2014/main" id="{80F2D13B-692B-80C5-074E-D77F69C34249}"/>
              </a:ext>
            </a:extLst>
          </p:cNvPr>
          <p:cNvSpPr txBox="1"/>
          <p:nvPr/>
        </p:nvSpPr>
        <p:spPr>
          <a:xfrm>
            <a:off x="8230851" y="3803721"/>
            <a:ext cx="3251200" cy="276999"/>
          </a:xfrm>
          <a:prstGeom prst="rect">
            <a:avLst/>
          </a:prstGeom>
          <a:noFill/>
        </p:spPr>
        <p:txBody>
          <a:bodyPr vert="horz" wrap="square" lIns="0" tIns="0" rIns="0" bIns="0" rtlCol="0">
            <a:noAutofit/>
          </a:bodyPr>
          <a:lstStyle/>
          <a:p>
            <a:r>
              <a:rPr lang="vi-VN" sz="1200" b="1">
                <a:solidFill>
                  <a:srgbClr val="C0CAF5"/>
                </a:solidFill>
                <a:latin typeface="Aptos" panose="020B0004020202020204" pitchFamily="34" charset="0"/>
              </a:rPr>
              <a:t>Quản trị viên</a:t>
            </a:r>
          </a:p>
        </p:txBody>
      </p:sp>
      <p:sp>
        <p:nvSpPr>
          <p:cNvPr id="21" name="HTML Text 20">
            <a:extLst>
              <a:ext uri="{FF2B5EF4-FFF2-40B4-BE49-F238E27FC236}">
                <a16:creationId xmlns:a16="http://schemas.microsoft.com/office/drawing/2014/main" id="{03C42643-6A5F-B99B-5ADD-CD11E9F08822}"/>
              </a:ext>
            </a:extLst>
          </p:cNvPr>
          <p:cNvSpPr txBox="1"/>
          <p:nvPr/>
        </p:nvSpPr>
        <p:spPr>
          <a:xfrm>
            <a:off x="8346598" y="4108379"/>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Quản lý tài khoản và xác thực</a:t>
            </a:r>
          </a:p>
        </p:txBody>
      </p:sp>
      <p:sp>
        <p:nvSpPr>
          <p:cNvPr id="22" name="HTML Text 21">
            <a:extLst>
              <a:ext uri="{FF2B5EF4-FFF2-40B4-BE49-F238E27FC236}">
                <a16:creationId xmlns:a16="http://schemas.microsoft.com/office/drawing/2014/main" id="{C5113DD6-5F68-2DB7-CF57-37663396A851}"/>
              </a:ext>
            </a:extLst>
          </p:cNvPr>
          <p:cNvSpPr txBox="1"/>
          <p:nvPr/>
        </p:nvSpPr>
        <p:spPr>
          <a:xfrm>
            <a:off x="8346598" y="4283213"/>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Kiểm duyệt bài, xe, chuyên đề</a:t>
            </a:r>
          </a:p>
        </p:txBody>
      </p:sp>
      <p:sp>
        <p:nvSpPr>
          <p:cNvPr id="23" name="HTML Text 22">
            <a:extLst>
              <a:ext uri="{FF2B5EF4-FFF2-40B4-BE49-F238E27FC236}">
                <a16:creationId xmlns:a16="http://schemas.microsoft.com/office/drawing/2014/main" id="{F6BB92CE-1CB3-C0AA-E713-1F69D87AE876}"/>
              </a:ext>
            </a:extLst>
          </p:cNvPr>
          <p:cNvSpPr txBox="1"/>
          <p:nvPr/>
        </p:nvSpPr>
        <p:spPr>
          <a:xfrm>
            <a:off x="8346598" y="4458047"/>
            <a:ext cx="3136900" cy="276999"/>
          </a:xfrm>
          <a:prstGeom prst="rect">
            <a:avLst/>
          </a:prstGeom>
          <a:noFill/>
        </p:spPr>
        <p:txBody>
          <a:bodyPr vert="horz" wrap="square" lIns="0" tIns="0" rIns="0" bIns="0" rtlCol="0">
            <a:noAutofit/>
          </a:bodyPr>
          <a:lstStyle/>
          <a:p>
            <a:r>
              <a:rPr lang="en-US" sz="700">
                <a:solidFill>
                  <a:srgbClr val="A9B1D6"/>
                </a:solidFill>
                <a:latin typeface="Aptos" panose="020B0004020202020204" pitchFamily="34" charset="0"/>
              </a:rPr>
              <a:t>• Xử lý bình luận, rating, follow</a:t>
            </a:r>
            <a:endParaRPr lang="vi-VN" sz="700">
              <a:solidFill>
                <a:srgbClr val="A9B1D6"/>
              </a:solidFill>
              <a:latin typeface="Aptos" panose="020B0004020202020204" pitchFamily="34" charset="0"/>
            </a:endParaRPr>
          </a:p>
        </p:txBody>
      </p:sp>
      <p:sp>
        <p:nvSpPr>
          <p:cNvPr id="24" name="HTML Text 23">
            <a:extLst>
              <a:ext uri="{FF2B5EF4-FFF2-40B4-BE49-F238E27FC236}">
                <a16:creationId xmlns:a16="http://schemas.microsoft.com/office/drawing/2014/main" id="{1B98A314-05A4-2A24-6635-35523850F2BA}"/>
              </a:ext>
            </a:extLst>
          </p:cNvPr>
          <p:cNvSpPr txBox="1"/>
          <p:nvPr/>
        </p:nvSpPr>
        <p:spPr>
          <a:xfrm>
            <a:off x="8346598" y="4632881"/>
            <a:ext cx="31369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 Theo dõi dashboard toàn hệ thống</a:t>
            </a:r>
          </a:p>
        </p:txBody>
      </p:sp>
      <p:sp>
        <p:nvSpPr>
          <p:cNvPr id="25" name="TextBox 24">
            <a:extLst>
              <a:ext uri="{FF2B5EF4-FFF2-40B4-BE49-F238E27FC236}">
                <a16:creationId xmlns:a16="http://schemas.microsoft.com/office/drawing/2014/main" id="{ECF56BD8-010F-EC76-E407-C3861BD15E6E}"/>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5 / 24</a:t>
            </a:r>
          </a:p>
        </p:txBody>
      </p:sp>
    </p:spTree>
    <p:extLst>
      <p:ext uri="{BB962C8B-B14F-4D97-AF65-F5344CB8AC3E}">
        <p14:creationId xmlns:p14="http://schemas.microsoft.com/office/powerpoint/2010/main" val="1352177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09160335-919C-7D1E-9BF2-8F6D9F9DC790}"/>
              </a:ext>
            </a:extLst>
          </p:cNvPr>
          <p:cNvSpPr/>
          <p:nvPr/>
        </p:nvSpPr>
        <p:spPr>
          <a:xfrm>
            <a:off x="577791" y="3403404"/>
            <a:ext cx="1779004" cy="131884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0816B5F3-02DA-0D3D-F056-EAAA5554FA53}"/>
              </a:ext>
            </a:extLst>
          </p:cNvPr>
          <p:cNvSpPr/>
          <p:nvPr/>
        </p:nvSpPr>
        <p:spPr>
          <a:xfrm>
            <a:off x="2433960" y="3403404"/>
            <a:ext cx="1779105" cy="131884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AAC67EEF-EDC9-3313-4606-CD23A3A3C36C}"/>
              </a:ext>
            </a:extLst>
          </p:cNvPr>
          <p:cNvSpPr/>
          <p:nvPr/>
        </p:nvSpPr>
        <p:spPr>
          <a:xfrm>
            <a:off x="4290230" y="3403404"/>
            <a:ext cx="1779004" cy="131884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0F4B4214-5DD5-E438-780A-189E3DBC6B8C}"/>
              </a:ext>
            </a:extLst>
          </p:cNvPr>
          <p:cNvSpPr/>
          <p:nvPr/>
        </p:nvSpPr>
        <p:spPr>
          <a:xfrm>
            <a:off x="6146399" y="3403404"/>
            <a:ext cx="1779105" cy="131884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7DC50EBA-361C-BF48-78C2-8187B5AECEB3}"/>
              </a:ext>
            </a:extLst>
          </p:cNvPr>
          <p:cNvSpPr/>
          <p:nvPr/>
        </p:nvSpPr>
        <p:spPr>
          <a:xfrm>
            <a:off x="8002669" y="3403404"/>
            <a:ext cx="1779105" cy="131884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7800D2DC-4E34-0248-113B-CCE657F39A02}"/>
              </a:ext>
            </a:extLst>
          </p:cNvPr>
          <p:cNvSpPr/>
          <p:nvPr/>
        </p:nvSpPr>
        <p:spPr>
          <a:xfrm>
            <a:off x="9858939" y="3403404"/>
            <a:ext cx="1779004" cy="131884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9677A006-CA90-438F-46B5-687D72EE353F}"/>
              </a:ext>
            </a:extLst>
          </p:cNvPr>
          <p:cNvSpPr txBox="1"/>
          <p:nvPr/>
        </p:nvSpPr>
        <p:spPr>
          <a:xfrm>
            <a:off x="577791" y="2135750"/>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04 · USER JOURNEY</a:t>
            </a:r>
          </a:p>
        </p:txBody>
      </p:sp>
      <p:sp>
        <p:nvSpPr>
          <p:cNvPr id="9" name="HTML Text 8">
            <a:extLst>
              <a:ext uri="{FF2B5EF4-FFF2-40B4-BE49-F238E27FC236}">
                <a16:creationId xmlns:a16="http://schemas.microsoft.com/office/drawing/2014/main" id="{4201E270-1EFC-A7F4-2429-F3EDE03BFC65}"/>
              </a:ext>
            </a:extLst>
          </p:cNvPr>
          <p:cNvSpPr txBox="1"/>
          <p:nvPr/>
        </p:nvSpPr>
        <p:spPr>
          <a:xfrm>
            <a:off x="577791" y="2357871"/>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Từ thành viên mới đến một giao dịch có ngữ cảnh</a:t>
            </a:r>
          </a:p>
        </p:txBody>
      </p:sp>
      <p:sp>
        <p:nvSpPr>
          <p:cNvPr id="10" name="HTML Text 9">
            <a:extLst>
              <a:ext uri="{FF2B5EF4-FFF2-40B4-BE49-F238E27FC236}">
                <a16:creationId xmlns:a16="http://schemas.microsoft.com/office/drawing/2014/main" id="{5CD42D34-08C1-36BA-0ABC-08B4B2BC2BA4}"/>
              </a:ext>
            </a:extLst>
          </p:cNvPr>
          <p:cNvSpPr txBox="1"/>
          <p:nvPr/>
        </p:nvSpPr>
        <p:spPr>
          <a:xfrm>
            <a:off x="687107" y="3549171"/>
            <a:ext cx="1587500" cy="276999"/>
          </a:xfrm>
          <a:prstGeom prst="rect">
            <a:avLst/>
          </a:prstGeom>
          <a:noFill/>
        </p:spPr>
        <p:txBody>
          <a:bodyPr vert="horz" wrap="square" lIns="0" tIns="0" rIns="0" bIns="0" rtlCol="0">
            <a:noAutofit/>
          </a:bodyPr>
          <a:lstStyle/>
          <a:p>
            <a:r>
              <a:rPr lang="vi-VN" sz="1300" b="1">
                <a:solidFill>
                  <a:srgbClr val="7AA2F7"/>
                </a:solidFill>
                <a:latin typeface="Consolas" panose="020B0609020204030204" pitchFamily="49" charset="0"/>
              </a:rPr>
              <a:t>1</a:t>
            </a:r>
          </a:p>
        </p:txBody>
      </p:sp>
      <p:sp>
        <p:nvSpPr>
          <p:cNvPr id="11" name="HTML Text 10">
            <a:extLst>
              <a:ext uri="{FF2B5EF4-FFF2-40B4-BE49-F238E27FC236}">
                <a16:creationId xmlns:a16="http://schemas.microsoft.com/office/drawing/2014/main" id="{EBCBE3F1-9E22-497B-CC57-7334C60074C2}"/>
              </a:ext>
            </a:extLst>
          </p:cNvPr>
          <p:cNvSpPr txBox="1"/>
          <p:nvPr/>
        </p:nvSpPr>
        <p:spPr>
          <a:xfrm>
            <a:off x="687107" y="3979532"/>
            <a:ext cx="15875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Tạo tài khoản</a:t>
            </a:r>
          </a:p>
        </p:txBody>
      </p:sp>
      <p:sp>
        <p:nvSpPr>
          <p:cNvPr id="12" name="HTML Text 11">
            <a:extLst>
              <a:ext uri="{FF2B5EF4-FFF2-40B4-BE49-F238E27FC236}">
                <a16:creationId xmlns:a16="http://schemas.microsoft.com/office/drawing/2014/main" id="{DC3FD283-48EB-0D87-A5AC-E1E2AB7CCD82}"/>
              </a:ext>
            </a:extLst>
          </p:cNvPr>
          <p:cNvSpPr txBox="1"/>
          <p:nvPr/>
        </p:nvSpPr>
        <p:spPr>
          <a:xfrm>
            <a:off x="687107" y="4254364"/>
            <a:ext cx="711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JWT, hồ sơ, cài đặt</a:t>
            </a:r>
          </a:p>
        </p:txBody>
      </p:sp>
      <p:sp>
        <p:nvSpPr>
          <p:cNvPr id="13" name="HTML Text 12">
            <a:extLst>
              <a:ext uri="{FF2B5EF4-FFF2-40B4-BE49-F238E27FC236}">
                <a16:creationId xmlns:a16="http://schemas.microsoft.com/office/drawing/2014/main" id="{D0BECD94-9270-E326-8E3A-522F8B1D58E6}"/>
              </a:ext>
            </a:extLst>
          </p:cNvPr>
          <p:cNvSpPr txBox="1"/>
          <p:nvPr/>
        </p:nvSpPr>
        <p:spPr>
          <a:xfrm>
            <a:off x="2543276" y="3549171"/>
            <a:ext cx="1587500" cy="276999"/>
          </a:xfrm>
          <a:prstGeom prst="rect">
            <a:avLst/>
          </a:prstGeom>
          <a:noFill/>
        </p:spPr>
        <p:txBody>
          <a:bodyPr vert="horz" wrap="square" lIns="0" tIns="0" rIns="0" bIns="0" rtlCol="0">
            <a:noAutofit/>
          </a:bodyPr>
          <a:lstStyle/>
          <a:p>
            <a:r>
              <a:rPr lang="vi-VN" sz="1300" b="1">
                <a:solidFill>
                  <a:srgbClr val="7AA2F7"/>
                </a:solidFill>
                <a:latin typeface="Consolas" panose="020B0609020204030204" pitchFamily="49" charset="0"/>
              </a:rPr>
              <a:t>2</a:t>
            </a:r>
          </a:p>
        </p:txBody>
      </p:sp>
      <p:sp>
        <p:nvSpPr>
          <p:cNvPr id="14" name="HTML Text 13">
            <a:extLst>
              <a:ext uri="{FF2B5EF4-FFF2-40B4-BE49-F238E27FC236}">
                <a16:creationId xmlns:a16="http://schemas.microsoft.com/office/drawing/2014/main" id="{D8113226-53DC-F897-58A1-1B36527DF37D}"/>
              </a:ext>
            </a:extLst>
          </p:cNvPr>
          <p:cNvSpPr txBox="1"/>
          <p:nvPr/>
        </p:nvSpPr>
        <p:spPr>
          <a:xfrm>
            <a:off x="2543276" y="3979532"/>
            <a:ext cx="15875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Tham gia cộng đồng</a:t>
            </a:r>
          </a:p>
        </p:txBody>
      </p:sp>
      <p:sp>
        <p:nvSpPr>
          <p:cNvPr id="15" name="HTML Text 14">
            <a:extLst>
              <a:ext uri="{FF2B5EF4-FFF2-40B4-BE49-F238E27FC236}">
                <a16:creationId xmlns:a16="http://schemas.microsoft.com/office/drawing/2014/main" id="{15EACEDE-91B8-E845-FDE0-4356F11B04E8}"/>
              </a:ext>
            </a:extLst>
          </p:cNvPr>
          <p:cNvSpPr txBox="1"/>
          <p:nvPr/>
        </p:nvSpPr>
        <p:spPr>
          <a:xfrm>
            <a:off x="2543276" y="4254364"/>
            <a:ext cx="7747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Bài viết, follow, rating</a:t>
            </a:r>
          </a:p>
        </p:txBody>
      </p:sp>
      <p:sp>
        <p:nvSpPr>
          <p:cNvPr id="16" name="HTML Text 15">
            <a:extLst>
              <a:ext uri="{FF2B5EF4-FFF2-40B4-BE49-F238E27FC236}">
                <a16:creationId xmlns:a16="http://schemas.microsoft.com/office/drawing/2014/main" id="{A63907D8-A80E-8E99-D724-3E7909E70295}"/>
              </a:ext>
            </a:extLst>
          </p:cNvPr>
          <p:cNvSpPr txBox="1"/>
          <p:nvPr/>
        </p:nvSpPr>
        <p:spPr>
          <a:xfrm>
            <a:off x="4399546" y="3549171"/>
            <a:ext cx="1587500" cy="276999"/>
          </a:xfrm>
          <a:prstGeom prst="rect">
            <a:avLst/>
          </a:prstGeom>
          <a:noFill/>
        </p:spPr>
        <p:txBody>
          <a:bodyPr vert="horz" wrap="square" lIns="0" tIns="0" rIns="0" bIns="0" rtlCol="0">
            <a:noAutofit/>
          </a:bodyPr>
          <a:lstStyle/>
          <a:p>
            <a:r>
              <a:rPr lang="vi-VN" sz="1300" b="1">
                <a:solidFill>
                  <a:srgbClr val="7AA2F7"/>
                </a:solidFill>
                <a:latin typeface="Consolas" panose="020B0609020204030204" pitchFamily="49" charset="0"/>
              </a:rPr>
              <a:t>3</a:t>
            </a:r>
          </a:p>
        </p:txBody>
      </p:sp>
      <p:sp>
        <p:nvSpPr>
          <p:cNvPr id="17" name="HTML Text 16">
            <a:extLst>
              <a:ext uri="{FF2B5EF4-FFF2-40B4-BE49-F238E27FC236}">
                <a16:creationId xmlns:a16="http://schemas.microsoft.com/office/drawing/2014/main" id="{B366BB22-3158-7122-2F72-667DD00D1695}"/>
              </a:ext>
            </a:extLst>
          </p:cNvPr>
          <p:cNvSpPr txBox="1"/>
          <p:nvPr/>
        </p:nvSpPr>
        <p:spPr>
          <a:xfrm>
            <a:off x="4399546" y="3979532"/>
            <a:ext cx="15875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Thêm xe vào Garage</a:t>
            </a:r>
          </a:p>
        </p:txBody>
      </p:sp>
      <p:sp>
        <p:nvSpPr>
          <p:cNvPr id="18" name="HTML Text 17">
            <a:extLst>
              <a:ext uri="{FF2B5EF4-FFF2-40B4-BE49-F238E27FC236}">
                <a16:creationId xmlns:a16="http://schemas.microsoft.com/office/drawing/2014/main" id="{47F3152E-828D-3412-D9D7-38B5AA9BAD3E}"/>
              </a:ext>
            </a:extLst>
          </p:cNvPr>
          <p:cNvSpPr txBox="1"/>
          <p:nvPr/>
        </p:nvSpPr>
        <p:spPr>
          <a:xfrm>
            <a:off x="4399546" y="4254364"/>
            <a:ext cx="9271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Thông số và tối đa 12 ảnh</a:t>
            </a:r>
          </a:p>
        </p:txBody>
      </p:sp>
      <p:sp>
        <p:nvSpPr>
          <p:cNvPr id="19" name="HTML Text 18">
            <a:extLst>
              <a:ext uri="{FF2B5EF4-FFF2-40B4-BE49-F238E27FC236}">
                <a16:creationId xmlns:a16="http://schemas.microsoft.com/office/drawing/2014/main" id="{66FEB8B1-02F2-34B0-2865-A698D0FD65B6}"/>
              </a:ext>
            </a:extLst>
          </p:cNvPr>
          <p:cNvSpPr txBox="1"/>
          <p:nvPr/>
        </p:nvSpPr>
        <p:spPr>
          <a:xfrm>
            <a:off x="6255715" y="3549171"/>
            <a:ext cx="1587500" cy="276999"/>
          </a:xfrm>
          <a:prstGeom prst="rect">
            <a:avLst/>
          </a:prstGeom>
          <a:noFill/>
        </p:spPr>
        <p:txBody>
          <a:bodyPr vert="horz" wrap="square" lIns="0" tIns="0" rIns="0" bIns="0" rtlCol="0">
            <a:noAutofit/>
          </a:bodyPr>
          <a:lstStyle/>
          <a:p>
            <a:r>
              <a:rPr lang="vi-VN" sz="1300" b="1">
                <a:solidFill>
                  <a:srgbClr val="7AA2F7"/>
                </a:solidFill>
                <a:latin typeface="Consolas" panose="020B0609020204030204" pitchFamily="49" charset="0"/>
              </a:rPr>
              <a:t>4</a:t>
            </a:r>
          </a:p>
        </p:txBody>
      </p:sp>
      <p:sp>
        <p:nvSpPr>
          <p:cNvPr id="20" name="HTML Text 19">
            <a:extLst>
              <a:ext uri="{FF2B5EF4-FFF2-40B4-BE49-F238E27FC236}">
                <a16:creationId xmlns:a16="http://schemas.microsoft.com/office/drawing/2014/main" id="{B4571923-4F15-1587-52BE-1AC069C23038}"/>
              </a:ext>
            </a:extLst>
          </p:cNvPr>
          <p:cNvSpPr txBox="1"/>
          <p:nvPr/>
        </p:nvSpPr>
        <p:spPr>
          <a:xfrm>
            <a:off x="6255715" y="3979532"/>
            <a:ext cx="15875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Tạo tin bán</a:t>
            </a:r>
          </a:p>
        </p:txBody>
      </p:sp>
      <p:sp>
        <p:nvSpPr>
          <p:cNvPr id="21" name="HTML Text 20">
            <a:extLst>
              <a:ext uri="{FF2B5EF4-FFF2-40B4-BE49-F238E27FC236}">
                <a16:creationId xmlns:a16="http://schemas.microsoft.com/office/drawing/2014/main" id="{E2484774-75B5-7FFE-507A-0A22D3F79133}"/>
              </a:ext>
            </a:extLst>
          </p:cNvPr>
          <p:cNvSpPr txBox="1"/>
          <p:nvPr/>
        </p:nvSpPr>
        <p:spPr>
          <a:xfrm>
            <a:off x="6255715" y="4254364"/>
            <a:ext cx="8509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Liên kết trực tiếp với xe</a:t>
            </a:r>
          </a:p>
        </p:txBody>
      </p:sp>
      <p:sp>
        <p:nvSpPr>
          <p:cNvPr id="22" name="HTML Text 21">
            <a:extLst>
              <a:ext uri="{FF2B5EF4-FFF2-40B4-BE49-F238E27FC236}">
                <a16:creationId xmlns:a16="http://schemas.microsoft.com/office/drawing/2014/main" id="{AC6482E4-4E8D-ABBF-3B6C-07920D2905A4}"/>
              </a:ext>
            </a:extLst>
          </p:cNvPr>
          <p:cNvSpPr txBox="1"/>
          <p:nvPr/>
        </p:nvSpPr>
        <p:spPr>
          <a:xfrm>
            <a:off x="8111985" y="3549171"/>
            <a:ext cx="1587500" cy="276999"/>
          </a:xfrm>
          <a:prstGeom prst="rect">
            <a:avLst/>
          </a:prstGeom>
          <a:noFill/>
        </p:spPr>
        <p:txBody>
          <a:bodyPr vert="horz" wrap="square" lIns="0" tIns="0" rIns="0" bIns="0" rtlCol="0">
            <a:noAutofit/>
          </a:bodyPr>
          <a:lstStyle/>
          <a:p>
            <a:r>
              <a:rPr lang="vi-VN" sz="1300" b="1">
                <a:solidFill>
                  <a:srgbClr val="7AA2F7"/>
                </a:solidFill>
                <a:latin typeface="Consolas" panose="020B0609020204030204" pitchFamily="49" charset="0"/>
              </a:rPr>
              <a:t>5</a:t>
            </a:r>
          </a:p>
        </p:txBody>
      </p:sp>
      <p:sp>
        <p:nvSpPr>
          <p:cNvPr id="23" name="HTML Text 22">
            <a:extLst>
              <a:ext uri="{FF2B5EF4-FFF2-40B4-BE49-F238E27FC236}">
                <a16:creationId xmlns:a16="http://schemas.microsoft.com/office/drawing/2014/main" id="{F9C5088E-CB27-D708-6718-9195F56EB267}"/>
              </a:ext>
            </a:extLst>
          </p:cNvPr>
          <p:cNvSpPr txBox="1"/>
          <p:nvPr/>
        </p:nvSpPr>
        <p:spPr>
          <a:xfrm>
            <a:off x="8111985" y="3979532"/>
            <a:ext cx="15875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Người mua khám phá</a:t>
            </a:r>
          </a:p>
        </p:txBody>
      </p:sp>
      <p:sp>
        <p:nvSpPr>
          <p:cNvPr id="24" name="HTML Text 23">
            <a:extLst>
              <a:ext uri="{FF2B5EF4-FFF2-40B4-BE49-F238E27FC236}">
                <a16:creationId xmlns:a16="http://schemas.microsoft.com/office/drawing/2014/main" id="{B7BC0A2D-9AAE-F45D-B81B-72630E150221}"/>
              </a:ext>
            </a:extLst>
          </p:cNvPr>
          <p:cNvSpPr txBox="1"/>
          <p:nvPr/>
        </p:nvSpPr>
        <p:spPr>
          <a:xfrm>
            <a:off x="8111985" y="4254364"/>
            <a:ext cx="622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Filter hoặc hỏi AI</a:t>
            </a:r>
          </a:p>
        </p:txBody>
      </p:sp>
      <p:sp>
        <p:nvSpPr>
          <p:cNvPr id="25" name="HTML Text 24">
            <a:extLst>
              <a:ext uri="{FF2B5EF4-FFF2-40B4-BE49-F238E27FC236}">
                <a16:creationId xmlns:a16="http://schemas.microsoft.com/office/drawing/2014/main" id="{E645A4BA-7CA7-4805-0B72-D461F65892BA}"/>
              </a:ext>
            </a:extLst>
          </p:cNvPr>
          <p:cNvSpPr txBox="1"/>
          <p:nvPr/>
        </p:nvSpPr>
        <p:spPr>
          <a:xfrm>
            <a:off x="9968255" y="3549171"/>
            <a:ext cx="1587500" cy="276999"/>
          </a:xfrm>
          <a:prstGeom prst="rect">
            <a:avLst/>
          </a:prstGeom>
          <a:noFill/>
        </p:spPr>
        <p:txBody>
          <a:bodyPr vert="horz" wrap="square" lIns="0" tIns="0" rIns="0" bIns="0" rtlCol="0">
            <a:noAutofit/>
          </a:bodyPr>
          <a:lstStyle/>
          <a:p>
            <a:r>
              <a:rPr lang="vi-VN" sz="1300" b="1">
                <a:solidFill>
                  <a:srgbClr val="7AA2F7"/>
                </a:solidFill>
                <a:latin typeface="Consolas" panose="020B0609020204030204" pitchFamily="49" charset="0"/>
              </a:rPr>
              <a:t>6</a:t>
            </a:r>
          </a:p>
        </p:txBody>
      </p:sp>
      <p:sp>
        <p:nvSpPr>
          <p:cNvPr id="26" name="HTML Text 25">
            <a:extLst>
              <a:ext uri="{FF2B5EF4-FFF2-40B4-BE49-F238E27FC236}">
                <a16:creationId xmlns:a16="http://schemas.microsoft.com/office/drawing/2014/main" id="{1BC536E2-0288-98EF-C1A1-A7560AF49C65}"/>
              </a:ext>
            </a:extLst>
          </p:cNvPr>
          <p:cNvSpPr txBox="1"/>
          <p:nvPr/>
        </p:nvSpPr>
        <p:spPr>
          <a:xfrm>
            <a:off x="9968255" y="3979532"/>
            <a:ext cx="15875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Trao đổi</a:t>
            </a:r>
          </a:p>
        </p:txBody>
      </p:sp>
      <p:sp>
        <p:nvSpPr>
          <p:cNvPr id="27" name="HTML Text 26">
            <a:extLst>
              <a:ext uri="{FF2B5EF4-FFF2-40B4-BE49-F238E27FC236}">
                <a16:creationId xmlns:a16="http://schemas.microsoft.com/office/drawing/2014/main" id="{80CA6AF5-581C-2181-D1AD-838BBECB15A7}"/>
              </a:ext>
            </a:extLst>
          </p:cNvPr>
          <p:cNvSpPr txBox="1"/>
          <p:nvPr/>
        </p:nvSpPr>
        <p:spPr>
          <a:xfrm>
            <a:off x="9968255" y="4254364"/>
            <a:ext cx="9525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Chat gắn listing và chia sẻ</a:t>
            </a:r>
          </a:p>
        </p:txBody>
      </p:sp>
      <p:sp>
        <p:nvSpPr>
          <p:cNvPr id="28" name="TextBox 27">
            <a:extLst>
              <a:ext uri="{FF2B5EF4-FFF2-40B4-BE49-F238E27FC236}">
                <a16:creationId xmlns:a16="http://schemas.microsoft.com/office/drawing/2014/main" id="{C861087F-AA35-3572-F947-F9DD262B7679}"/>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6 / 24</a:t>
            </a:r>
          </a:p>
        </p:txBody>
      </p:sp>
    </p:spTree>
    <p:extLst>
      <p:ext uri="{BB962C8B-B14F-4D97-AF65-F5344CB8AC3E}">
        <p14:creationId xmlns:p14="http://schemas.microsoft.com/office/powerpoint/2010/main" val="1639900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46172039-5138-0E93-9145-FC9F1DDB7E17}"/>
              </a:ext>
            </a:extLst>
          </p:cNvPr>
          <p:cNvSpPr/>
          <p:nvPr/>
        </p:nvSpPr>
        <p:spPr>
          <a:xfrm>
            <a:off x="572593" y="3071740"/>
            <a:ext cx="5472253" cy="598253"/>
          </a:xfrm>
          <a:prstGeom prst="rect">
            <a:avLst/>
          </a:prstGeom>
          <a:noFill/>
          <a:ln w="6430" cap="flat" cmpd="sng" algn="ctr">
            <a:solidFill>
              <a:srgbClr val="C0CAF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00C1BE12-5329-65DC-B07B-135A5643D6C7}"/>
              </a:ext>
            </a:extLst>
          </p:cNvPr>
          <p:cNvSpPr/>
          <p:nvPr/>
        </p:nvSpPr>
        <p:spPr>
          <a:xfrm>
            <a:off x="572593" y="3224449"/>
            <a:ext cx="70734" cy="76354"/>
          </a:xfrm>
          <a:prstGeom prst="ellipse">
            <a:avLst/>
          </a:prstGeom>
          <a:solidFill>
            <a:srgbClr val="7AA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2041C414-7380-CA23-27DA-CBBA34491D09}"/>
              </a:ext>
            </a:extLst>
          </p:cNvPr>
          <p:cNvSpPr/>
          <p:nvPr/>
        </p:nvSpPr>
        <p:spPr>
          <a:xfrm>
            <a:off x="572593" y="3767171"/>
            <a:ext cx="5472253" cy="598253"/>
          </a:xfrm>
          <a:prstGeom prst="rect">
            <a:avLst/>
          </a:prstGeom>
          <a:noFill/>
          <a:ln w="6430" cap="flat" cmpd="sng" algn="ctr">
            <a:solidFill>
              <a:srgbClr val="C0CAF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23AB15CF-E61F-9146-8AE2-BA78B7D50F0A}"/>
              </a:ext>
            </a:extLst>
          </p:cNvPr>
          <p:cNvSpPr/>
          <p:nvPr/>
        </p:nvSpPr>
        <p:spPr>
          <a:xfrm>
            <a:off x="572593" y="3919880"/>
            <a:ext cx="70734" cy="76354"/>
          </a:xfrm>
          <a:prstGeom prst="ellipse">
            <a:avLst/>
          </a:prstGeom>
          <a:solidFill>
            <a:srgbClr val="3FB9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C652E70D-562C-BB40-2D41-8D3BAB0C8DE3}"/>
              </a:ext>
            </a:extLst>
          </p:cNvPr>
          <p:cNvSpPr/>
          <p:nvPr/>
        </p:nvSpPr>
        <p:spPr>
          <a:xfrm>
            <a:off x="572593" y="4615311"/>
            <a:ext cx="70734" cy="76354"/>
          </a:xfrm>
          <a:prstGeom prst="ellipse">
            <a:avLst/>
          </a:prstGeom>
          <a:solidFill>
            <a:srgbClr val="F088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7D3EA5D8-916E-3801-5F5D-286FB305C11B}"/>
              </a:ext>
            </a:extLst>
          </p:cNvPr>
          <p:cNvSpPr/>
          <p:nvPr/>
        </p:nvSpPr>
        <p:spPr>
          <a:xfrm>
            <a:off x="6160593" y="3071740"/>
            <a:ext cx="5472253" cy="1982174"/>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6705E477-D66B-B57A-2594-D44F591446A3}"/>
              </a:ext>
            </a:extLst>
          </p:cNvPr>
          <p:cNvSpPr/>
          <p:nvPr/>
        </p:nvSpPr>
        <p:spPr>
          <a:xfrm>
            <a:off x="6167023" y="3078681"/>
            <a:ext cx="5459393" cy="777425"/>
          </a:xfrm>
          <a:prstGeom prst="rect">
            <a:avLst/>
          </a:prstGeom>
          <a:solidFill>
            <a:srgbClr val="BC8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Shape 8">
            <a:extLst>
              <a:ext uri="{FF2B5EF4-FFF2-40B4-BE49-F238E27FC236}">
                <a16:creationId xmlns:a16="http://schemas.microsoft.com/office/drawing/2014/main" id="{D58C0346-4319-11A3-5D81-15BFCABDAC40}"/>
              </a:ext>
            </a:extLst>
          </p:cNvPr>
          <p:cNvSpPr/>
          <p:nvPr/>
        </p:nvSpPr>
        <p:spPr>
          <a:xfrm>
            <a:off x="6347074" y="3682574"/>
            <a:ext cx="424405" cy="458126"/>
          </a:xfrm>
          <a:prstGeom prst="ellipse">
            <a:avLst/>
          </a:prstGeom>
          <a:solidFill>
            <a:srgbClr val="1A1B26"/>
          </a:solidFill>
          <a:ln w="25722" cap="flat" cmpd="sng" algn="ctr">
            <a:solidFill>
              <a:srgbClr val="24283B"/>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TML Shape 9">
            <a:extLst>
              <a:ext uri="{FF2B5EF4-FFF2-40B4-BE49-F238E27FC236}">
                <a16:creationId xmlns:a16="http://schemas.microsoft.com/office/drawing/2014/main" id="{5D2EDFBA-3344-22E2-F347-0CAC9FBA3D2F}"/>
              </a:ext>
            </a:extLst>
          </p:cNvPr>
          <p:cNvSpPr/>
          <p:nvPr/>
        </p:nvSpPr>
        <p:spPr>
          <a:xfrm>
            <a:off x="6334213" y="4321173"/>
            <a:ext cx="1708271" cy="388605"/>
          </a:xfrm>
          <a:prstGeom prst="rect">
            <a:avLst/>
          </a:prstGeom>
          <a:noFill/>
          <a:ln w="6430" cap="flat" cmpd="sng" algn="ctr">
            <a:solidFill>
              <a:srgbClr val="C0CAF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HTML Shape 10">
            <a:extLst>
              <a:ext uri="{FF2B5EF4-FFF2-40B4-BE49-F238E27FC236}">
                <a16:creationId xmlns:a16="http://schemas.microsoft.com/office/drawing/2014/main" id="{F7B6E564-5D69-E4D6-CEE1-C2DD97528B20}"/>
              </a:ext>
            </a:extLst>
          </p:cNvPr>
          <p:cNvSpPr/>
          <p:nvPr/>
        </p:nvSpPr>
        <p:spPr>
          <a:xfrm>
            <a:off x="8042484" y="4321173"/>
            <a:ext cx="1708370" cy="388605"/>
          </a:xfrm>
          <a:prstGeom prst="rect">
            <a:avLst/>
          </a:prstGeom>
          <a:noFill/>
          <a:ln w="6430" cap="flat" cmpd="sng" algn="ctr">
            <a:solidFill>
              <a:srgbClr val="C0CAF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HTML Text 11">
            <a:extLst>
              <a:ext uri="{FF2B5EF4-FFF2-40B4-BE49-F238E27FC236}">
                <a16:creationId xmlns:a16="http://schemas.microsoft.com/office/drawing/2014/main" id="{97CE966A-460B-B6AE-40F6-46DDB7C4A0AC}"/>
              </a:ext>
            </a:extLst>
          </p:cNvPr>
          <p:cNvSpPr txBox="1"/>
          <p:nvPr/>
        </p:nvSpPr>
        <p:spPr>
          <a:xfrm>
            <a:off x="572593" y="1804086"/>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05 · IDENTITY</a:t>
            </a:r>
          </a:p>
        </p:txBody>
      </p:sp>
      <p:sp>
        <p:nvSpPr>
          <p:cNvPr id="13" name="HTML Text 12">
            <a:extLst>
              <a:ext uri="{FF2B5EF4-FFF2-40B4-BE49-F238E27FC236}">
                <a16:creationId xmlns:a16="http://schemas.microsoft.com/office/drawing/2014/main" id="{C341D89E-2D74-243D-0E09-BFD10DA9C43C}"/>
              </a:ext>
            </a:extLst>
          </p:cNvPr>
          <p:cNvSpPr txBox="1"/>
          <p:nvPr/>
        </p:nvSpPr>
        <p:spPr>
          <a:xfrm>
            <a:off x="572593" y="2026208"/>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Tài khoản không chỉ để đăng nhập, mà còn tạo niềm tin</a:t>
            </a:r>
          </a:p>
        </p:txBody>
      </p:sp>
      <p:sp>
        <p:nvSpPr>
          <p:cNvPr id="14" name="HTML Text 13">
            <a:extLst>
              <a:ext uri="{FF2B5EF4-FFF2-40B4-BE49-F238E27FC236}">
                <a16:creationId xmlns:a16="http://schemas.microsoft.com/office/drawing/2014/main" id="{CB84A1FF-A449-E2EE-E6FA-2D4AC9E94E4B}"/>
              </a:ext>
            </a:extLst>
          </p:cNvPr>
          <p:cNvSpPr txBox="1"/>
          <p:nvPr/>
        </p:nvSpPr>
        <p:spPr>
          <a:xfrm>
            <a:off x="733352" y="3182801"/>
            <a:ext cx="29972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Xác thực đầy đủ</a:t>
            </a:r>
          </a:p>
        </p:txBody>
      </p:sp>
      <p:sp>
        <p:nvSpPr>
          <p:cNvPr id="15" name="HTML Text 14">
            <a:extLst>
              <a:ext uri="{FF2B5EF4-FFF2-40B4-BE49-F238E27FC236}">
                <a16:creationId xmlns:a16="http://schemas.microsoft.com/office/drawing/2014/main" id="{B31D460F-9748-9BDC-082E-946CA76A55F1}"/>
              </a:ext>
            </a:extLst>
          </p:cNvPr>
          <p:cNvSpPr txBox="1"/>
          <p:nvPr/>
        </p:nvSpPr>
        <p:spPr>
          <a:xfrm>
            <a:off x="733352" y="3406224"/>
            <a:ext cx="29972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Đăng ký, đăng nhập, đăng xuất, quên và đặt lại mật khẩu bằng mã 6 số.</a:t>
            </a:r>
          </a:p>
        </p:txBody>
      </p:sp>
      <p:sp>
        <p:nvSpPr>
          <p:cNvPr id="16" name="HTML Text 15">
            <a:extLst>
              <a:ext uri="{FF2B5EF4-FFF2-40B4-BE49-F238E27FC236}">
                <a16:creationId xmlns:a16="http://schemas.microsoft.com/office/drawing/2014/main" id="{89148745-A04D-7691-08AD-6F17D7F39CC2}"/>
              </a:ext>
            </a:extLst>
          </p:cNvPr>
          <p:cNvSpPr txBox="1"/>
          <p:nvPr/>
        </p:nvSpPr>
        <p:spPr>
          <a:xfrm>
            <a:off x="733352" y="3878232"/>
            <a:ext cx="24003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Hồ sơ cá nhân</a:t>
            </a:r>
          </a:p>
        </p:txBody>
      </p:sp>
      <p:sp>
        <p:nvSpPr>
          <p:cNvPr id="17" name="HTML Text 16">
            <a:extLst>
              <a:ext uri="{FF2B5EF4-FFF2-40B4-BE49-F238E27FC236}">
                <a16:creationId xmlns:a16="http://schemas.microsoft.com/office/drawing/2014/main" id="{5FDA9F18-A978-0607-6A86-7615356FE77B}"/>
              </a:ext>
            </a:extLst>
          </p:cNvPr>
          <p:cNvSpPr txBox="1"/>
          <p:nvPr/>
        </p:nvSpPr>
        <p:spPr>
          <a:xfrm>
            <a:off x="733352" y="4101655"/>
            <a:ext cx="24003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Avatar, banner, bio, vị trí và danh sách hãng xe quan tâm.</a:t>
            </a:r>
          </a:p>
        </p:txBody>
      </p:sp>
      <p:sp>
        <p:nvSpPr>
          <p:cNvPr id="18" name="HTML Text 17">
            <a:extLst>
              <a:ext uri="{FF2B5EF4-FFF2-40B4-BE49-F238E27FC236}">
                <a16:creationId xmlns:a16="http://schemas.microsoft.com/office/drawing/2014/main" id="{7603B1BB-6CCE-FC80-12A7-893D93E13599}"/>
              </a:ext>
            </a:extLst>
          </p:cNvPr>
          <p:cNvSpPr txBox="1"/>
          <p:nvPr/>
        </p:nvSpPr>
        <p:spPr>
          <a:xfrm>
            <a:off x="733352" y="4573663"/>
            <a:ext cx="26797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Mạng lưới uy tín</a:t>
            </a:r>
          </a:p>
        </p:txBody>
      </p:sp>
      <p:sp>
        <p:nvSpPr>
          <p:cNvPr id="19" name="HTML Text 18">
            <a:extLst>
              <a:ext uri="{FF2B5EF4-FFF2-40B4-BE49-F238E27FC236}">
                <a16:creationId xmlns:a16="http://schemas.microsoft.com/office/drawing/2014/main" id="{FDEF16C3-CAE5-989D-19E2-6E5E4B3867D1}"/>
              </a:ext>
            </a:extLst>
          </p:cNvPr>
          <p:cNvSpPr txBox="1"/>
          <p:nvPr/>
        </p:nvSpPr>
        <p:spPr>
          <a:xfrm>
            <a:off x="733352" y="4797086"/>
            <a:ext cx="26797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Theo dõi, bỏ theo dõi, đánh giá thành viên và huy hiệu xác thực.</a:t>
            </a:r>
          </a:p>
        </p:txBody>
      </p:sp>
      <p:sp>
        <p:nvSpPr>
          <p:cNvPr id="20" name="HTML Text 19">
            <a:extLst>
              <a:ext uri="{FF2B5EF4-FFF2-40B4-BE49-F238E27FC236}">
                <a16:creationId xmlns:a16="http://schemas.microsoft.com/office/drawing/2014/main" id="{BB51EE48-6240-CE62-C0A4-F2055D5328B5}"/>
              </a:ext>
            </a:extLst>
          </p:cNvPr>
          <p:cNvSpPr txBox="1"/>
          <p:nvPr/>
        </p:nvSpPr>
        <p:spPr>
          <a:xfrm>
            <a:off x="6347074" y="3682574"/>
            <a:ext cx="4445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DQ</a:t>
            </a:r>
          </a:p>
        </p:txBody>
      </p:sp>
      <p:sp>
        <p:nvSpPr>
          <p:cNvPr id="21" name="HTML Text 20">
            <a:extLst>
              <a:ext uri="{FF2B5EF4-FFF2-40B4-BE49-F238E27FC236}">
                <a16:creationId xmlns:a16="http://schemas.microsoft.com/office/drawing/2014/main" id="{5218CFA0-A9E0-1D61-AA91-58EE35FF12A9}"/>
              </a:ext>
            </a:extLst>
          </p:cNvPr>
          <p:cNvSpPr txBox="1"/>
          <p:nvPr/>
        </p:nvSpPr>
        <p:spPr>
          <a:xfrm>
            <a:off x="6867934" y="3742334"/>
            <a:ext cx="11684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Nguyễn Thành Viên</a:t>
            </a:r>
          </a:p>
        </p:txBody>
      </p:sp>
      <p:sp>
        <p:nvSpPr>
          <p:cNvPr id="22" name="HTML Text 21">
            <a:extLst>
              <a:ext uri="{FF2B5EF4-FFF2-40B4-BE49-F238E27FC236}">
                <a16:creationId xmlns:a16="http://schemas.microsoft.com/office/drawing/2014/main" id="{0584E27F-B951-A84B-7E60-3602C1146C3F}"/>
              </a:ext>
            </a:extLst>
          </p:cNvPr>
          <p:cNvSpPr txBox="1"/>
          <p:nvPr/>
        </p:nvSpPr>
        <p:spPr>
          <a:xfrm>
            <a:off x="6867934" y="3947753"/>
            <a:ext cx="11684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@carhub-member · Đã xác thực</a:t>
            </a:r>
          </a:p>
        </p:txBody>
      </p:sp>
      <p:sp>
        <p:nvSpPr>
          <p:cNvPr id="23" name="HTML Text 22">
            <a:extLst>
              <a:ext uri="{FF2B5EF4-FFF2-40B4-BE49-F238E27FC236}">
                <a16:creationId xmlns:a16="http://schemas.microsoft.com/office/drawing/2014/main" id="{5BE3298F-B1A4-DF60-C31A-888947AE4354}"/>
              </a:ext>
            </a:extLst>
          </p:cNvPr>
          <p:cNvSpPr txBox="1"/>
          <p:nvPr/>
        </p:nvSpPr>
        <p:spPr>
          <a:xfrm>
            <a:off x="6334213" y="4321173"/>
            <a:ext cx="1727200" cy="276999"/>
          </a:xfrm>
          <a:prstGeom prst="rect">
            <a:avLst/>
          </a:prstGeom>
          <a:noFill/>
        </p:spPr>
        <p:txBody>
          <a:bodyPr vert="horz" wrap="square" lIns="0" tIns="0" rIns="0" bIns="0" rtlCol="0">
            <a:noAutofit/>
          </a:bodyPr>
          <a:lstStyle/>
          <a:p>
            <a:pPr algn="ctr"/>
            <a:r>
              <a:rPr lang="vi-VN" sz="1200" b="1">
                <a:solidFill>
                  <a:srgbClr val="7AA2F7"/>
                </a:solidFill>
                <a:latin typeface="Aptos" panose="020B0004020202020204" pitchFamily="34" charset="0"/>
              </a:rPr>
              <a:t>12</a:t>
            </a:r>
          </a:p>
        </p:txBody>
      </p:sp>
      <p:sp>
        <p:nvSpPr>
          <p:cNvPr id="24" name="HTML Text 23">
            <a:extLst>
              <a:ext uri="{FF2B5EF4-FFF2-40B4-BE49-F238E27FC236}">
                <a16:creationId xmlns:a16="http://schemas.microsoft.com/office/drawing/2014/main" id="{5A423297-114A-85FC-C203-50F5D0B4D9A7}"/>
              </a:ext>
            </a:extLst>
          </p:cNvPr>
          <p:cNvSpPr txBox="1"/>
          <p:nvPr/>
        </p:nvSpPr>
        <p:spPr>
          <a:xfrm>
            <a:off x="6334213" y="4587654"/>
            <a:ext cx="1727200" cy="276999"/>
          </a:xfrm>
          <a:prstGeom prst="rect">
            <a:avLst/>
          </a:prstGeom>
          <a:noFill/>
        </p:spPr>
        <p:txBody>
          <a:bodyPr vert="horz" wrap="square" lIns="0" tIns="0" rIns="0" bIns="0" rtlCol="0">
            <a:noAutofit/>
          </a:bodyPr>
          <a:lstStyle/>
          <a:p>
            <a:pPr algn="ctr"/>
            <a:r>
              <a:rPr lang="vi-VN" sz="600">
                <a:solidFill>
                  <a:srgbClr val="565F89"/>
                </a:solidFill>
                <a:latin typeface="Aptos" panose="020B0004020202020204" pitchFamily="34" charset="0"/>
              </a:rPr>
              <a:t>Bài viết</a:t>
            </a:r>
          </a:p>
        </p:txBody>
      </p:sp>
      <p:sp>
        <p:nvSpPr>
          <p:cNvPr id="25" name="HTML Text 24">
            <a:extLst>
              <a:ext uri="{FF2B5EF4-FFF2-40B4-BE49-F238E27FC236}">
                <a16:creationId xmlns:a16="http://schemas.microsoft.com/office/drawing/2014/main" id="{D9054902-F358-5A24-E452-E9915F557CF6}"/>
              </a:ext>
            </a:extLst>
          </p:cNvPr>
          <p:cNvSpPr txBox="1"/>
          <p:nvPr/>
        </p:nvSpPr>
        <p:spPr>
          <a:xfrm>
            <a:off x="8042484" y="4321173"/>
            <a:ext cx="1727200" cy="276999"/>
          </a:xfrm>
          <a:prstGeom prst="rect">
            <a:avLst/>
          </a:prstGeom>
          <a:noFill/>
        </p:spPr>
        <p:txBody>
          <a:bodyPr vert="horz" wrap="square" lIns="0" tIns="0" rIns="0" bIns="0" rtlCol="0">
            <a:noAutofit/>
          </a:bodyPr>
          <a:lstStyle/>
          <a:p>
            <a:pPr algn="ctr"/>
            <a:r>
              <a:rPr lang="vi-VN" sz="1200" b="1">
                <a:solidFill>
                  <a:srgbClr val="7AA2F7"/>
                </a:solidFill>
                <a:latin typeface="Aptos" panose="020B0004020202020204" pitchFamily="34" charset="0"/>
              </a:rPr>
              <a:t>3</a:t>
            </a:r>
          </a:p>
        </p:txBody>
      </p:sp>
      <p:sp>
        <p:nvSpPr>
          <p:cNvPr id="26" name="HTML Text 25">
            <a:extLst>
              <a:ext uri="{FF2B5EF4-FFF2-40B4-BE49-F238E27FC236}">
                <a16:creationId xmlns:a16="http://schemas.microsoft.com/office/drawing/2014/main" id="{85FFF041-B632-BB2E-8878-70AB9CE6B937}"/>
              </a:ext>
            </a:extLst>
          </p:cNvPr>
          <p:cNvSpPr txBox="1"/>
          <p:nvPr/>
        </p:nvSpPr>
        <p:spPr>
          <a:xfrm>
            <a:off x="8042484" y="4587654"/>
            <a:ext cx="1727200" cy="276999"/>
          </a:xfrm>
          <a:prstGeom prst="rect">
            <a:avLst/>
          </a:prstGeom>
          <a:noFill/>
        </p:spPr>
        <p:txBody>
          <a:bodyPr vert="horz" wrap="square" lIns="0" tIns="0" rIns="0" bIns="0" rtlCol="0">
            <a:noAutofit/>
          </a:bodyPr>
          <a:lstStyle/>
          <a:p>
            <a:pPr algn="ctr"/>
            <a:r>
              <a:rPr lang="vi-VN" sz="600">
                <a:solidFill>
                  <a:srgbClr val="565F89"/>
                </a:solidFill>
                <a:latin typeface="Aptos" panose="020B0004020202020204" pitchFamily="34" charset="0"/>
              </a:rPr>
              <a:t>Garage</a:t>
            </a:r>
          </a:p>
        </p:txBody>
      </p:sp>
      <p:sp>
        <p:nvSpPr>
          <p:cNvPr id="27" name="HTML Text 26">
            <a:extLst>
              <a:ext uri="{FF2B5EF4-FFF2-40B4-BE49-F238E27FC236}">
                <a16:creationId xmlns:a16="http://schemas.microsoft.com/office/drawing/2014/main" id="{08B0440B-7FF1-E6A5-2BF7-E3D4BCD7EDA2}"/>
              </a:ext>
            </a:extLst>
          </p:cNvPr>
          <p:cNvSpPr txBox="1"/>
          <p:nvPr/>
        </p:nvSpPr>
        <p:spPr>
          <a:xfrm>
            <a:off x="9750854" y="4321173"/>
            <a:ext cx="1739900" cy="276999"/>
          </a:xfrm>
          <a:prstGeom prst="rect">
            <a:avLst/>
          </a:prstGeom>
          <a:noFill/>
        </p:spPr>
        <p:txBody>
          <a:bodyPr vert="horz" wrap="square" lIns="0" tIns="0" rIns="0" bIns="0" rtlCol="0">
            <a:noAutofit/>
          </a:bodyPr>
          <a:lstStyle/>
          <a:p>
            <a:pPr algn="ctr"/>
            <a:r>
              <a:rPr lang="vi-VN" sz="1200" b="1">
                <a:solidFill>
                  <a:srgbClr val="7AA2F7"/>
                </a:solidFill>
                <a:latin typeface="Aptos" panose="020B0004020202020204" pitchFamily="34" charset="0"/>
              </a:rPr>
              <a:t>4.8</a:t>
            </a:r>
          </a:p>
        </p:txBody>
      </p:sp>
      <p:sp>
        <p:nvSpPr>
          <p:cNvPr id="28" name="HTML Text 27">
            <a:extLst>
              <a:ext uri="{FF2B5EF4-FFF2-40B4-BE49-F238E27FC236}">
                <a16:creationId xmlns:a16="http://schemas.microsoft.com/office/drawing/2014/main" id="{FCD9A673-CD1F-D2DF-10AB-4E53EB640958}"/>
              </a:ext>
            </a:extLst>
          </p:cNvPr>
          <p:cNvSpPr txBox="1"/>
          <p:nvPr/>
        </p:nvSpPr>
        <p:spPr>
          <a:xfrm>
            <a:off x="9750854" y="4587654"/>
            <a:ext cx="1739900" cy="276999"/>
          </a:xfrm>
          <a:prstGeom prst="rect">
            <a:avLst/>
          </a:prstGeom>
          <a:noFill/>
        </p:spPr>
        <p:txBody>
          <a:bodyPr vert="horz" wrap="square" lIns="0" tIns="0" rIns="0" bIns="0" rtlCol="0">
            <a:noAutofit/>
          </a:bodyPr>
          <a:lstStyle/>
          <a:p>
            <a:pPr algn="ctr"/>
            <a:r>
              <a:rPr lang="vi-VN" sz="600">
                <a:solidFill>
                  <a:srgbClr val="565F89"/>
                </a:solidFill>
                <a:latin typeface="Aptos" panose="020B0004020202020204" pitchFamily="34" charset="0"/>
              </a:rPr>
              <a:t>Đánh giá</a:t>
            </a:r>
          </a:p>
        </p:txBody>
      </p:sp>
      <p:sp>
        <p:nvSpPr>
          <p:cNvPr id="29" name="TextBox 28">
            <a:extLst>
              <a:ext uri="{FF2B5EF4-FFF2-40B4-BE49-F238E27FC236}">
                <a16:creationId xmlns:a16="http://schemas.microsoft.com/office/drawing/2014/main" id="{F0A2AFE6-7FB9-974B-BE05-17F0F52A8D1B}"/>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7 / 24</a:t>
            </a:r>
          </a:p>
        </p:txBody>
      </p:sp>
    </p:spTree>
    <p:extLst>
      <p:ext uri="{BB962C8B-B14F-4D97-AF65-F5344CB8AC3E}">
        <p14:creationId xmlns:p14="http://schemas.microsoft.com/office/powerpoint/2010/main" val="3701319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65CD4C36-9765-164F-5DA4-574196D56B41}"/>
              </a:ext>
            </a:extLst>
          </p:cNvPr>
          <p:cNvSpPr/>
          <p:nvPr/>
        </p:nvSpPr>
        <p:spPr>
          <a:xfrm>
            <a:off x="569083" y="2814804"/>
            <a:ext cx="5984071" cy="249604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6D260517-F614-5D48-9AA5-FBFF63C16893}"/>
              </a:ext>
            </a:extLst>
          </p:cNvPr>
          <p:cNvSpPr/>
          <p:nvPr/>
        </p:nvSpPr>
        <p:spPr>
          <a:xfrm>
            <a:off x="729842" y="3015776"/>
            <a:ext cx="270076" cy="291535"/>
          </a:xfrm>
          <a:prstGeom prst="ellipse">
            <a:avLst/>
          </a:prstGeom>
          <a:solidFill>
            <a:srgbClr val="7AA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4E24F0EE-93A2-88BE-13FD-7EBBF62F72E3}"/>
              </a:ext>
            </a:extLst>
          </p:cNvPr>
          <p:cNvSpPr/>
          <p:nvPr/>
        </p:nvSpPr>
        <p:spPr>
          <a:xfrm>
            <a:off x="6733205" y="2814804"/>
            <a:ext cx="4896132" cy="57189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F5FC5CA7-1ABA-08A3-5E11-5010ADBD2E99}"/>
              </a:ext>
            </a:extLst>
          </p:cNvPr>
          <p:cNvSpPr/>
          <p:nvPr/>
        </p:nvSpPr>
        <p:spPr>
          <a:xfrm>
            <a:off x="6733205" y="3456115"/>
            <a:ext cx="4896132" cy="57189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95CBD9EF-4D88-3E05-B981-08F1472E9022}"/>
              </a:ext>
            </a:extLst>
          </p:cNvPr>
          <p:cNvSpPr/>
          <p:nvPr/>
        </p:nvSpPr>
        <p:spPr>
          <a:xfrm>
            <a:off x="6733205" y="4097425"/>
            <a:ext cx="4896132" cy="57200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8B066816-3E0C-2467-3FD5-92EA637E7A43}"/>
              </a:ext>
            </a:extLst>
          </p:cNvPr>
          <p:cNvSpPr/>
          <p:nvPr/>
        </p:nvSpPr>
        <p:spPr>
          <a:xfrm>
            <a:off x="6733205" y="4738844"/>
            <a:ext cx="4896132" cy="57200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2B5EFEAD-170D-9BB3-AA75-C15BD45180AB}"/>
              </a:ext>
            </a:extLst>
          </p:cNvPr>
          <p:cNvSpPr txBox="1"/>
          <p:nvPr/>
        </p:nvSpPr>
        <p:spPr>
          <a:xfrm>
            <a:off x="569083" y="1547150"/>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06 · COMMUNITY</a:t>
            </a:r>
          </a:p>
        </p:txBody>
      </p:sp>
      <p:sp>
        <p:nvSpPr>
          <p:cNvPr id="9" name="HTML Text 8">
            <a:extLst>
              <a:ext uri="{FF2B5EF4-FFF2-40B4-BE49-F238E27FC236}">
                <a16:creationId xmlns:a16="http://schemas.microsoft.com/office/drawing/2014/main" id="{1D33452B-C451-25AD-0AB0-29B3EB771590}"/>
              </a:ext>
            </a:extLst>
          </p:cNvPr>
          <p:cNvSpPr txBox="1"/>
          <p:nvPr/>
        </p:nvSpPr>
        <p:spPr>
          <a:xfrm>
            <a:off x="569083" y="1769271"/>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Feed cộng đồng là nơi hình thành kiến thức và uy tín</a:t>
            </a:r>
          </a:p>
        </p:txBody>
      </p:sp>
      <p:sp>
        <p:nvSpPr>
          <p:cNvPr id="10" name="HTML Text 9">
            <a:extLst>
              <a:ext uri="{FF2B5EF4-FFF2-40B4-BE49-F238E27FC236}">
                <a16:creationId xmlns:a16="http://schemas.microsoft.com/office/drawing/2014/main" id="{49A2438E-5FE3-FBA2-4567-AE4FB00B6D21}"/>
              </a:ext>
            </a:extLst>
          </p:cNvPr>
          <p:cNvSpPr txBox="1"/>
          <p:nvPr/>
        </p:nvSpPr>
        <p:spPr>
          <a:xfrm>
            <a:off x="729842" y="3015776"/>
            <a:ext cx="292100" cy="276999"/>
          </a:xfrm>
          <a:prstGeom prst="rect">
            <a:avLst/>
          </a:prstGeom>
          <a:noFill/>
        </p:spPr>
        <p:txBody>
          <a:bodyPr vert="horz" wrap="square" lIns="0" tIns="0" rIns="0" bIns="0" rtlCol="0">
            <a:noAutofit/>
          </a:bodyPr>
          <a:lstStyle/>
          <a:p>
            <a:r>
              <a:rPr lang="vi-VN" sz="800" b="1">
                <a:solidFill>
                  <a:srgbClr val="FFFFFF"/>
                </a:solidFill>
                <a:latin typeface="Aptos" panose="020B0004020202020204" pitchFamily="34" charset="0"/>
              </a:rPr>
              <a:t>CH</a:t>
            </a:r>
          </a:p>
        </p:txBody>
      </p:sp>
      <p:sp>
        <p:nvSpPr>
          <p:cNvPr id="11" name="HTML Text 10">
            <a:extLst>
              <a:ext uri="{FF2B5EF4-FFF2-40B4-BE49-F238E27FC236}">
                <a16:creationId xmlns:a16="http://schemas.microsoft.com/office/drawing/2014/main" id="{3536687D-7A2E-16C1-C77D-0CFA0368F3E3}"/>
              </a:ext>
            </a:extLst>
          </p:cNvPr>
          <p:cNvSpPr txBox="1"/>
          <p:nvPr/>
        </p:nvSpPr>
        <p:spPr>
          <a:xfrm>
            <a:off x="1077083" y="2988336"/>
            <a:ext cx="9906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CarHub Member</a:t>
            </a:r>
          </a:p>
        </p:txBody>
      </p:sp>
      <p:sp>
        <p:nvSpPr>
          <p:cNvPr id="12" name="HTML Text 11">
            <a:extLst>
              <a:ext uri="{FF2B5EF4-FFF2-40B4-BE49-F238E27FC236}">
                <a16:creationId xmlns:a16="http://schemas.microsoft.com/office/drawing/2014/main" id="{9A46A145-6E20-F189-A053-FDE5363819AC}"/>
              </a:ext>
            </a:extLst>
          </p:cNvPr>
          <p:cNvSpPr txBox="1"/>
          <p:nvPr/>
        </p:nvSpPr>
        <p:spPr>
          <a:xfrm>
            <a:off x="1077083" y="3186814"/>
            <a:ext cx="9906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2 giờ trước · Đã xác thực</a:t>
            </a:r>
          </a:p>
        </p:txBody>
      </p:sp>
      <p:sp>
        <p:nvSpPr>
          <p:cNvPr id="13" name="HTML Text 12">
            <a:extLst>
              <a:ext uri="{FF2B5EF4-FFF2-40B4-BE49-F238E27FC236}">
                <a16:creationId xmlns:a16="http://schemas.microsoft.com/office/drawing/2014/main" id="{5648DFEE-7604-2102-ACF8-BBD91D656E34}"/>
              </a:ext>
            </a:extLst>
          </p:cNvPr>
          <p:cNvSpPr txBox="1"/>
          <p:nvPr/>
        </p:nvSpPr>
        <p:spPr>
          <a:xfrm>
            <a:off x="729842" y="3438870"/>
            <a:ext cx="56896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Kinh nghiệm kiểm tra Mazda CX-5 cũ trước khi quyết định mua...</a:t>
            </a:r>
          </a:p>
        </p:txBody>
      </p:sp>
      <p:sp>
        <p:nvSpPr>
          <p:cNvPr id="14" name="HTML Text 13">
            <a:extLst>
              <a:ext uri="{FF2B5EF4-FFF2-40B4-BE49-F238E27FC236}">
                <a16:creationId xmlns:a16="http://schemas.microsoft.com/office/drawing/2014/main" id="{2A73D9E0-A4F7-B69A-A4BA-2AAECA3AC3DB}"/>
              </a:ext>
            </a:extLst>
          </p:cNvPr>
          <p:cNvSpPr txBox="1"/>
          <p:nvPr/>
        </p:nvSpPr>
        <p:spPr>
          <a:xfrm>
            <a:off x="3333342" y="4240589"/>
            <a:ext cx="482600" cy="276999"/>
          </a:xfrm>
          <a:prstGeom prst="rect">
            <a:avLst/>
          </a:prstGeom>
          <a:noFill/>
        </p:spPr>
        <p:txBody>
          <a:bodyPr vert="horz" wrap="square" lIns="0" tIns="0" rIns="0" bIns="0" rtlCol="0">
            <a:noAutofit/>
          </a:bodyPr>
          <a:lstStyle/>
          <a:p>
            <a:r>
              <a:rPr lang="vi-VN" sz="600" b="1">
                <a:solidFill>
                  <a:srgbClr val="A9B1D6"/>
                </a:solidFill>
                <a:latin typeface="Consolas" panose="020B0609020204030204" pitchFamily="49" charset="0"/>
              </a:rPr>
              <a:t>8 ảnh / bài</a:t>
            </a:r>
          </a:p>
        </p:txBody>
      </p:sp>
      <p:sp>
        <p:nvSpPr>
          <p:cNvPr id="15" name="HTML Text 14">
            <a:extLst>
              <a:ext uri="{FF2B5EF4-FFF2-40B4-BE49-F238E27FC236}">
                <a16:creationId xmlns:a16="http://schemas.microsoft.com/office/drawing/2014/main" id="{F4D02D63-3EDF-99A1-5318-CF034A201217}"/>
              </a:ext>
            </a:extLst>
          </p:cNvPr>
          <p:cNvSpPr txBox="1"/>
          <p:nvPr/>
        </p:nvSpPr>
        <p:spPr>
          <a:xfrm>
            <a:off x="729842" y="5004132"/>
            <a:ext cx="3175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 Thích</a:t>
            </a:r>
          </a:p>
        </p:txBody>
      </p:sp>
      <p:sp>
        <p:nvSpPr>
          <p:cNvPr id="16" name="HTML Text 15">
            <a:extLst>
              <a:ext uri="{FF2B5EF4-FFF2-40B4-BE49-F238E27FC236}">
                <a16:creationId xmlns:a16="http://schemas.microsoft.com/office/drawing/2014/main" id="{7E4D37A1-D649-87E9-4D63-61EFDFDF87AF}"/>
              </a:ext>
            </a:extLst>
          </p:cNvPr>
          <p:cNvSpPr txBox="1"/>
          <p:nvPr/>
        </p:nvSpPr>
        <p:spPr>
          <a:xfrm>
            <a:off x="2476092" y="5004132"/>
            <a:ext cx="4445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 Bình luận</a:t>
            </a:r>
          </a:p>
        </p:txBody>
      </p:sp>
      <p:sp>
        <p:nvSpPr>
          <p:cNvPr id="17" name="HTML Text 16">
            <a:extLst>
              <a:ext uri="{FF2B5EF4-FFF2-40B4-BE49-F238E27FC236}">
                <a16:creationId xmlns:a16="http://schemas.microsoft.com/office/drawing/2014/main" id="{C47B8CF4-6D65-313E-6457-DDAF0BE4ECBD}"/>
              </a:ext>
            </a:extLst>
          </p:cNvPr>
          <p:cNvSpPr txBox="1"/>
          <p:nvPr/>
        </p:nvSpPr>
        <p:spPr>
          <a:xfrm>
            <a:off x="4349744" y="5004132"/>
            <a:ext cx="254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 Lưu</a:t>
            </a:r>
          </a:p>
        </p:txBody>
      </p:sp>
      <p:sp>
        <p:nvSpPr>
          <p:cNvPr id="18" name="HTML Text 17">
            <a:extLst>
              <a:ext uri="{FF2B5EF4-FFF2-40B4-BE49-F238E27FC236}">
                <a16:creationId xmlns:a16="http://schemas.microsoft.com/office/drawing/2014/main" id="{E384CC12-28CB-9D3A-A975-876232A2B72A}"/>
              </a:ext>
            </a:extLst>
          </p:cNvPr>
          <p:cNvSpPr txBox="1"/>
          <p:nvPr/>
        </p:nvSpPr>
        <p:spPr>
          <a:xfrm>
            <a:off x="6031288" y="5004132"/>
            <a:ext cx="381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 Chia sẻ</a:t>
            </a:r>
          </a:p>
        </p:txBody>
      </p:sp>
      <p:sp>
        <p:nvSpPr>
          <p:cNvPr id="19" name="HTML Text 18">
            <a:extLst>
              <a:ext uri="{FF2B5EF4-FFF2-40B4-BE49-F238E27FC236}">
                <a16:creationId xmlns:a16="http://schemas.microsoft.com/office/drawing/2014/main" id="{D06EE4BE-0FDF-3B65-993A-9209B5EA09CF}"/>
              </a:ext>
            </a:extLst>
          </p:cNvPr>
          <p:cNvSpPr txBox="1"/>
          <p:nvPr/>
        </p:nvSpPr>
        <p:spPr>
          <a:xfrm>
            <a:off x="6836091" y="2925865"/>
            <a:ext cx="3048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01</a:t>
            </a:r>
          </a:p>
        </p:txBody>
      </p:sp>
      <p:sp>
        <p:nvSpPr>
          <p:cNvPr id="20" name="HTML Text 19">
            <a:extLst>
              <a:ext uri="{FF2B5EF4-FFF2-40B4-BE49-F238E27FC236}">
                <a16:creationId xmlns:a16="http://schemas.microsoft.com/office/drawing/2014/main" id="{C10674A0-66EC-6D19-6C58-35BBA574F4A7}"/>
              </a:ext>
            </a:extLst>
          </p:cNvPr>
          <p:cNvSpPr txBox="1"/>
          <p:nvPr/>
        </p:nvSpPr>
        <p:spPr>
          <a:xfrm>
            <a:off x="7119027" y="2925865"/>
            <a:ext cx="443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Tạo &amp; quản lý bài</a:t>
            </a:r>
          </a:p>
        </p:txBody>
      </p:sp>
      <p:sp>
        <p:nvSpPr>
          <p:cNvPr id="21" name="HTML Text 20">
            <a:extLst>
              <a:ext uri="{FF2B5EF4-FFF2-40B4-BE49-F238E27FC236}">
                <a16:creationId xmlns:a16="http://schemas.microsoft.com/office/drawing/2014/main" id="{F7B2820D-D702-8BA6-4001-F8FF45C7CBF1}"/>
              </a:ext>
            </a:extLst>
          </p:cNvPr>
          <p:cNvSpPr txBox="1"/>
          <p:nvPr/>
        </p:nvSpPr>
        <p:spPr>
          <a:xfrm>
            <a:off x="6836091" y="3567175"/>
            <a:ext cx="3048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02</a:t>
            </a:r>
          </a:p>
        </p:txBody>
      </p:sp>
      <p:sp>
        <p:nvSpPr>
          <p:cNvPr id="22" name="HTML Text 21">
            <a:extLst>
              <a:ext uri="{FF2B5EF4-FFF2-40B4-BE49-F238E27FC236}">
                <a16:creationId xmlns:a16="http://schemas.microsoft.com/office/drawing/2014/main" id="{447FE9C6-B1DB-3684-8F6F-D9DB312349A2}"/>
              </a:ext>
            </a:extLst>
          </p:cNvPr>
          <p:cNvSpPr txBox="1"/>
          <p:nvPr/>
        </p:nvSpPr>
        <p:spPr>
          <a:xfrm>
            <a:off x="7119027" y="3567175"/>
            <a:ext cx="443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Tương tác đầy đủ</a:t>
            </a:r>
          </a:p>
        </p:txBody>
      </p:sp>
      <p:sp>
        <p:nvSpPr>
          <p:cNvPr id="23" name="HTML Text 22">
            <a:extLst>
              <a:ext uri="{FF2B5EF4-FFF2-40B4-BE49-F238E27FC236}">
                <a16:creationId xmlns:a16="http://schemas.microsoft.com/office/drawing/2014/main" id="{C55692BF-46F6-92F9-F0BA-631B7056321A}"/>
              </a:ext>
            </a:extLst>
          </p:cNvPr>
          <p:cNvSpPr txBox="1"/>
          <p:nvPr/>
        </p:nvSpPr>
        <p:spPr>
          <a:xfrm>
            <a:off x="6836091" y="4208486"/>
            <a:ext cx="3048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03</a:t>
            </a:r>
          </a:p>
        </p:txBody>
      </p:sp>
      <p:sp>
        <p:nvSpPr>
          <p:cNvPr id="24" name="HTML Text 23">
            <a:extLst>
              <a:ext uri="{FF2B5EF4-FFF2-40B4-BE49-F238E27FC236}">
                <a16:creationId xmlns:a16="http://schemas.microsoft.com/office/drawing/2014/main" id="{88B84AF4-4319-24C4-4E65-D7CDA8E30B13}"/>
              </a:ext>
            </a:extLst>
          </p:cNvPr>
          <p:cNvSpPr txBox="1"/>
          <p:nvPr/>
        </p:nvSpPr>
        <p:spPr>
          <a:xfrm>
            <a:off x="7119027" y="4208486"/>
            <a:ext cx="443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Đa hình ảnh</a:t>
            </a:r>
          </a:p>
        </p:txBody>
      </p:sp>
      <p:sp>
        <p:nvSpPr>
          <p:cNvPr id="25" name="HTML Text 24">
            <a:extLst>
              <a:ext uri="{FF2B5EF4-FFF2-40B4-BE49-F238E27FC236}">
                <a16:creationId xmlns:a16="http://schemas.microsoft.com/office/drawing/2014/main" id="{03DEFC0F-405A-4842-FC57-E5A073971D8C}"/>
              </a:ext>
            </a:extLst>
          </p:cNvPr>
          <p:cNvSpPr txBox="1"/>
          <p:nvPr/>
        </p:nvSpPr>
        <p:spPr>
          <a:xfrm>
            <a:off x="6836091" y="4849905"/>
            <a:ext cx="3048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04</a:t>
            </a:r>
          </a:p>
        </p:txBody>
      </p:sp>
      <p:sp>
        <p:nvSpPr>
          <p:cNvPr id="26" name="HTML Text 25">
            <a:extLst>
              <a:ext uri="{FF2B5EF4-FFF2-40B4-BE49-F238E27FC236}">
                <a16:creationId xmlns:a16="http://schemas.microsoft.com/office/drawing/2014/main" id="{F71AD7D8-A5F2-A630-41B7-AE669FFCABC5}"/>
              </a:ext>
            </a:extLst>
          </p:cNvPr>
          <p:cNvSpPr txBox="1"/>
          <p:nvPr/>
        </p:nvSpPr>
        <p:spPr>
          <a:xfrm>
            <a:off x="7119027" y="4849905"/>
            <a:ext cx="443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Chia sẻ vào chat</a:t>
            </a:r>
          </a:p>
        </p:txBody>
      </p:sp>
      <p:sp>
        <p:nvSpPr>
          <p:cNvPr id="27" name="TextBox 26">
            <a:extLst>
              <a:ext uri="{FF2B5EF4-FFF2-40B4-BE49-F238E27FC236}">
                <a16:creationId xmlns:a16="http://schemas.microsoft.com/office/drawing/2014/main" id="{6653F469-92B0-BA5B-101D-C57EC5898F59}"/>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8 / 24</a:t>
            </a:r>
          </a:p>
        </p:txBody>
      </p:sp>
    </p:spTree>
    <p:extLst>
      <p:ext uri="{BB962C8B-B14F-4D97-AF65-F5344CB8AC3E}">
        <p14:creationId xmlns:p14="http://schemas.microsoft.com/office/powerpoint/2010/main" val="250399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7CB88A30-17B4-4281-468C-82A4AF0A9FAF}"/>
              </a:ext>
            </a:extLst>
          </p:cNvPr>
          <p:cNvSpPr/>
          <p:nvPr/>
        </p:nvSpPr>
        <p:spPr>
          <a:xfrm>
            <a:off x="566964" y="2633029"/>
            <a:ext cx="5433671" cy="229312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26268609-5ECE-4FE2-225C-A0227379EA5F}"/>
              </a:ext>
            </a:extLst>
          </p:cNvPr>
          <p:cNvSpPr/>
          <p:nvPr/>
        </p:nvSpPr>
        <p:spPr>
          <a:xfrm>
            <a:off x="766305" y="4384838"/>
            <a:ext cx="330964" cy="222121"/>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6088D083-6A1C-3DFC-7ABE-EBFAA68E2A6E}"/>
              </a:ext>
            </a:extLst>
          </p:cNvPr>
          <p:cNvSpPr/>
          <p:nvPr/>
        </p:nvSpPr>
        <p:spPr>
          <a:xfrm>
            <a:off x="1148712" y="4384838"/>
            <a:ext cx="426917" cy="222121"/>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5F069C9D-05E4-4EAD-3A26-6F33A9081152}"/>
              </a:ext>
            </a:extLst>
          </p:cNvPr>
          <p:cNvSpPr/>
          <p:nvPr/>
        </p:nvSpPr>
        <p:spPr>
          <a:xfrm>
            <a:off x="6193546" y="2633029"/>
            <a:ext cx="5433671" cy="57189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9D1BF3D2-1E54-A66E-994E-EFF0ACA5252A}"/>
              </a:ext>
            </a:extLst>
          </p:cNvPr>
          <p:cNvSpPr/>
          <p:nvPr/>
        </p:nvSpPr>
        <p:spPr>
          <a:xfrm>
            <a:off x="6193546" y="3493641"/>
            <a:ext cx="5433671" cy="57189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AC17118A-2A70-DC59-BCA5-8F500138D4F6}"/>
              </a:ext>
            </a:extLst>
          </p:cNvPr>
          <p:cNvSpPr/>
          <p:nvPr/>
        </p:nvSpPr>
        <p:spPr>
          <a:xfrm>
            <a:off x="6193546" y="4354253"/>
            <a:ext cx="5433671" cy="57189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0537250B-8D4B-7041-FC20-9A27E0BD942F}"/>
              </a:ext>
            </a:extLst>
          </p:cNvPr>
          <p:cNvSpPr/>
          <p:nvPr/>
        </p:nvSpPr>
        <p:spPr>
          <a:xfrm>
            <a:off x="566964" y="5078859"/>
            <a:ext cx="11060253" cy="413658"/>
          </a:xfrm>
          <a:prstGeom prst="rect">
            <a:avLst/>
          </a:prstGeom>
          <a:noFill/>
          <a:ln w="25722" cap="flat" cmpd="sng" algn="ctr">
            <a:solidFill>
              <a:srgbClr val="A9B1D6"/>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Text 8">
            <a:extLst>
              <a:ext uri="{FF2B5EF4-FFF2-40B4-BE49-F238E27FC236}">
                <a16:creationId xmlns:a16="http://schemas.microsoft.com/office/drawing/2014/main" id="{0DB17485-75D7-5D9C-A002-D197AD59375C}"/>
              </a:ext>
            </a:extLst>
          </p:cNvPr>
          <p:cNvSpPr txBox="1"/>
          <p:nvPr/>
        </p:nvSpPr>
        <p:spPr>
          <a:xfrm>
            <a:off x="566964" y="1365375"/>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07 · PERSONAL GARAGE</a:t>
            </a:r>
          </a:p>
        </p:txBody>
      </p:sp>
      <p:sp>
        <p:nvSpPr>
          <p:cNvPr id="10" name="HTML Text 9">
            <a:extLst>
              <a:ext uri="{FF2B5EF4-FFF2-40B4-BE49-F238E27FC236}">
                <a16:creationId xmlns:a16="http://schemas.microsoft.com/office/drawing/2014/main" id="{3F21A355-3277-D27B-42C6-FEEBE147B392}"/>
              </a:ext>
            </a:extLst>
          </p:cNvPr>
          <p:cNvSpPr txBox="1"/>
          <p:nvPr/>
        </p:nvSpPr>
        <p:spPr>
          <a:xfrm>
            <a:off x="566964" y="1587496"/>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Garage là nguồn dữ liệu gốc của tài sản xe cá nhân</a:t>
            </a:r>
          </a:p>
        </p:txBody>
      </p:sp>
      <p:sp>
        <p:nvSpPr>
          <p:cNvPr id="11" name="HTML Text 10">
            <a:extLst>
              <a:ext uri="{FF2B5EF4-FFF2-40B4-BE49-F238E27FC236}">
                <a16:creationId xmlns:a16="http://schemas.microsoft.com/office/drawing/2014/main" id="{C73C7F51-388D-DE7A-DD45-0D96E84D9E29}"/>
              </a:ext>
            </a:extLst>
          </p:cNvPr>
          <p:cNvSpPr txBox="1"/>
          <p:nvPr/>
        </p:nvSpPr>
        <p:spPr>
          <a:xfrm>
            <a:off x="766305" y="2896798"/>
            <a:ext cx="1905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2024</a:t>
            </a:r>
          </a:p>
        </p:txBody>
      </p:sp>
      <p:sp>
        <p:nvSpPr>
          <p:cNvPr id="12" name="HTML Text 11">
            <a:extLst>
              <a:ext uri="{FF2B5EF4-FFF2-40B4-BE49-F238E27FC236}">
                <a16:creationId xmlns:a16="http://schemas.microsoft.com/office/drawing/2014/main" id="{058143D4-9376-4709-18DC-D256ECEF0C8B}"/>
              </a:ext>
            </a:extLst>
          </p:cNvPr>
          <p:cNvSpPr txBox="1"/>
          <p:nvPr/>
        </p:nvSpPr>
        <p:spPr>
          <a:xfrm>
            <a:off x="766305" y="3511753"/>
            <a:ext cx="5054600" cy="276999"/>
          </a:xfrm>
          <a:prstGeom prst="rect">
            <a:avLst/>
          </a:prstGeom>
          <a:noFill/>
        </p:spPr>
        <p:txBody>
          <a:bodyPr vert="horz" wrap="square" lIns="0" tIns="0" rIns="0" bIns="0" rtlCol="0">
            <a:noAutofit/>
          </a:bodyPr>
          <a:lstStyle/>
          <a:p>
            <a:r>
              <a:rPr lang="vi-VN" sz="2100" b="1">
                <a:solidFill>
                  <a:srgbClr val="C0CAF5"/>
                </a:solidFill>
                <a:latin typeface="Aptos" panose="020B0004020202020204" pitchFamily="34" charset="0"/>
              </a:rPr>
              <a:t>BMW X3</a:t>
            </a:r>
          </a:p>
        </p:txBody>
      </p:sp>
      <p:sp>
        <p:nvSpPr>
          <p:cNvPr id="13" name="HTML Text 12">
            <a:extLst>
              <a:ext uri="{FF2B5EF4-FFF2-40B4-BE49-F238E27FC236}">
                <a16:creationId xmlns:a16="http://schemas.microsoft.com/office/drawing/2014/main" id="{08139A15-512E-A98F-5939-EE8FA21CF238}"/>
              </a:ext>
            </a:extLst>
          </p:cNvPr>
          <p:cNvSpPr txBox="1"/>
          <p:nvPr/>
        </p:nvSpPr>
        <p:spPr>
          <a:xfrm>
            <a:off x="766305" y="4068358"/>
            <a:ext cx="10795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SUV · Gasoline · Automatic</a:t>
            </a:r>
          </a:p>
        </p:txBody>
      </p:sp>
      <p:sp>
        <p:nvSpPr>
          <p:cNvPr id="14" name="HTML Text 13">
            <a:extLst>
              <a:ext uri="{FF2B5EF4-FFF2-40B4-BE49-F238E27FC236}">
                <a16:creationId xmlns:a16="http://schemas.microsoft.com/office/drawing/2014/main" id="{C49D1013-67CF-0DAB-AF31-0FDA1EF42F80}"/>
              </a:ext>
            </a:extLst>
          </p:cNvPr>
          <p:cNvSpPr txBox="1"/>
          <p:nvPr/>
        </p:nvSpPr>
        <p:spPr>
          <a:xfrm>
            <a:off x="766305" y="4384838"/>
            <a:ext cx="355600" cy="276999"/>
          </a:xfrm>
          <a:prstGeom prst="rect">
            <a:avLst/>
          </a:prstGeom>
          <a:noFill/>
        </p:spPr>
        <p:txBody>
          <a:bodyPr vert="horz" wrap="square" lIns="0" tIns="0" rIns="0" bIns="0" rtlCol="0">
            <a:noAutofit/>
          </a:bodyPr>
          <a:lstStyle/>
          <a:p>
            <a:r>
              <a:rPr lang="vi-VN" sz="500">
                <a:solidFill>
                  <a:srgbClr val="C0CAF5"/>
                </a:solidFill>
                <a:latin typeface="Aptos" panose="020B0004020202020204" pitchFamily="34" charset="0"/>
              </a:rPr>
              <a:t>12 ảnh</a:t>
            </a:r>
          </a:p>
        </p:txBody>
      </p:sp>
      <p:sp>
        <p:nvSpPr>
          <p:cNvPr id="15" name="HTML Text 14">
            <a:extLst>
              <a:ext uri="{FF2B5EF4-FFF2-40B4-BE49-F238E27FC236}">
                <a16:creationId xmlns:a16="http://schemas.microsoft.com/office/drawing/2014/main" id="{BF567ED4-E41B-ACD0-91C0-17BC0C8F4D53}"/>
              </a:ext>
            </a:extLst>
          </p:cNvPr>
          <p:cNvSpPr txBox="1"/>
          <p:nvPr/>
        </p:nvSpPr>
        <p:spPr>
          <a:xfrm>
            <a:off x="1148712" y="4384838"/>
            <a:ext cx="457200" cy="276999"/>
          </a:xfrm>
          <a:prstGeom prst="rect">
            <a:avLst/>
          </a:prstGeom>
          <a:noFill/>
        </p:spPr>
        <p:txBody>
          <a:bodyPr vert="horz" wrap="square" lIns="0" tIns="0" rIns="0" bIns="0" rtlCol="0">
            <a:noAutofit/>
          </a:bodyPr>
          <a:lstStyle/>
          <a:p>
            <a:r>
              <a:rPr lang="vi-VN" sz="500">
                <a:solidFill>
                  <a:srgbClr val="C0CAF5"/>
                </a:solidFill>
                <a:latin typeface="Aptos" panose="020B0004020202020204" pitchFamily="34" charset="0"/>
              </a:rPr>
              <a:t>In Garage</a:t>
            </a:r>
          </a:p>
        </p:txBody>
      </p:sp>
      <p:sp>
        <p:nvSpPr>
          <p:cNvPr id="16" name="HTML Text 15">
            <a:extLst>
              <a:ext uri="{FF2B5EF4-FFF2-40B4-BE49-F238E27FC236}">
                <a16:creationId xmlns:a16="http://schemas.microsoft.com/office/drawing/2014/main" id="{00C588B4-B5DC-0971-277E-CDA9E4D2DDF9}"/>
              </a:ext>
            </a:extLst>
          </p:cNvPr>
          <p:cNvSpPr txBox="1"/>
          <p:nvPr/>
        </p:nvSpPr>
        <p:spPr>
          <a:xfrm>
            <a:off x="6315723" y="2744089"/>
            <a:ext cx="52197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Thêm xe</a:t>
            </a:r>
          </a:p>
        </p:txBody>
      </p:sp>
      <p:sp>
        <p:nvSpPr>
          <p:cNvPr id="17" name="HTML Text 16">
            <a:extLst>
              <a:ext uri="{FF2B5EF4-FFF2-40B4-BE49-F238E27FC236}">
                <a16:creationId xmlns:a16="http://schemas.microsoft.com/office/drawing/2014/main" id="{F55B598E-27A7-3B62-0523-DAC21BE6FB38}"/>
              </a:ext>
            </a:extLst>
          </p:cNvPr>
          <p:cNvSpPr txBox="1"/>
          <p:nvPr/>
        </p:nvSpPr>
        <p:spPr>
          <a:xfrm>
            <a:off x="6315723" y="2949508"/>
            <a:ext cx="52197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Tiêu đề, mô tả, ảnh, hãng, mẫu, năm, odo và thông số.</a:t>
            </a:r>
          </a:p>
        </p:txBody>
      </p:sp>
      <p:sp>
        <p:nvSpPr>
          <p:cNvPr id="18" name="HTML Text 17">
            <a:extLst>
              <a:ext uri="{FF2B5EF4-FFF2-40B4-BE49-F238E27FC236}">
                <a16:creationId xmlns:a16="http://schemas.microsoft.com/office/drawing/2014/main" id="{F6F118E1-2318-4D65-077A-CED6BD69FDF7}"/>
              </a:ext>
            </a:extLst>
          </p:cNvPr>
          <p:cNvSpPr txBox="1"/>
          <p:nvPr/>
        </p:nvSpPr>
        <p:spPr>
          <a:xfrm>
            <a:off x="6193546" y="3260457"/>
            <a:ext cx="5461000" cy="276999"/>
          </a:xfrm>
          <a:prstGeom prst="rect">
            <a:avLst/>
          </a:prstGeom>
          <a:noFill/>
        </p:spPr>
        <p:txBody>
          <a:bodyPr vert="horz" wrap="square" lIns="0" tIns="0" rIns="0" bIns="0" rtlCol="0">
            <a:noAutofit/>
          </a:bodyPr>
          <a:lstStyle/>
          <a:p>
            <a:pPr algn="ctr"/>
            <a:r>
              <a:rPr lang="vi-VN" sz="800" i="1">
                <a:solidFill>
                  <a:srgbClr val="7AA2F7"/>
                </a:solidFill>
                <a:latin typeface="Aptos" panose="020B0004020202020204" pitchFamily="34" charset="0"/>
              </a:rPr>
              <a:t>↓</a:t>
            </a:r>
          </a:p>
        </p:txBody>
      </p:sp>
      <p:sp>
        <p:nvSpPr>
          <p:cNvPr id="19" name="HTML Text 18">
            <a:extLst>
              <a:ext uri="{FF2B5EF4-FFF2-40B4-BE49-F238E27FC236}">
                <a16:creationId xmlns:a16="http://schemas.microsoft.com/office/drawing/2014/main" id="{3CAA18BA-E701-7AFF-B2B9-7BFD9B1733D1}"/>
              </a:ext>
            </a:extLst>
          </p:cNvPr>
          <p:cNvSpPr txBox="1"/>
          <p:nvPr/>
        </p:nvSpPr>
        <p:spPr>
          <a:xfrm>
            <a:off x="6315723" y="3604702"/>
            <a:ext cx="52197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Cập nhật tài sản</a:t>
            </a:r>
          </a:p>
        </p:txBody>
      </p:sp>
      <p:sp>
        <p:nvSpPr>
          <p:cNvPr id="20" name="HTML Text 19">
            <a:extLst>
              <a:ext uri="{FF2B5EF4-FFF2-40B4-BE49-F238E27FC236}">
                <a16:creationId xmlns:a16="http://schemas.microsoft.com/office/drawing/2014/main" id="{4EBEEF9A-3DDA-5388-273F-6B1F39DEE331}"/>
              </a:ext>
            </a:extLst>
          </p:cNvPr>
          <p:cNvSpPr txBox="1"/>
          <p:nvPr/>
        </p:nvSpPr>
        <p:spPr>
          <a:xfrm>
            <a:off x="6315723" y="3810121"/>
            <a:ext cx="52197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Sửa dữ liệu, trạng thái và bộ ảnh trong Garage.</a:t>
            </a:r>
          </a:p>
        </p:txBody>
      </p:sp>
      <p:sp>
        <p:nvSpPr>
          <p:cNvPr id="21" name="HTML Text 20">
            <a:extLst>
              <a:ext uri="{FF2B5EF4-FFF2-40B4-BE49-F238E27FC236}">
                <a16:creationId xmlns:a16="http://schemas.microsoft.com/office/drawing/2014/main" id="{59B8008C-4066-C4E6-4758-B74A7B55A992}"/>
              </a:ext>
            </a:extLst>
          </p:cNvPr>
          <p:cNvSpPr txBox="1"/>
          <p:nvPr/>
        </p:nvSpPr>
        <p:spPr>
          <a:xfrm>
            <a:off x="6193546" y="4121069"/>
            <a:ext cx="5461000" cy="276999"/>
          </a:xfrm>
          <a:prstGeom prst="rect">
            <a:avLst/>
          </a:prstGeom>
          <a:noFill/>
        </p:spPr>
        <p:txBody>
          <a:bodyPr vert="horz" wrap="square" lIns="0" tIns="0" rIns="0" bIns="0" rtlCol="0">
            <a:noAutofit/>
          </a:bodyPr>
          <a:lstStyle/>
          <a:p>
            <a:pPr algn="ctr"/>
            <a:r>
              <a:rPr lang="vi-VN" sz="800" i="1">
                <a:solidFill>
                  <a:srgbClr val="7AA2F7"/>
                </a:solidFill>
                <a:latin typeface="Aptos" panose="020B0004020202020204" pitchFamily="34" charset="0"/>
              </a:rPr>
              <a:t>↓</a:t>
            </a:r>
          </a:p>
        </p:txBody>
      </p:sp>
      <p:sp>
        <p:nvSpPr>
          <p:cNvPr id="22" name="HTML Text 21">
            <a:extLst>
              <a:ext uri="{FF2B5EF4-FFF2-40B4-BE49-F238E27FC236}">
                <a16:creationId xmlns:a16="http://schemas.microsoft.com/office/drawing/2014/main" id="{3FDE4EDE-FF89-D587-4FB3-9FDB971C8741}"/>
              </a:ext>
            </a:extLst>
          </p:cNvPr>
          <p:cNvSpPr txBox="1"/>
          <p:nvPr/>
        </p:nvSpPr>
        <p:spPr>
          <a:xfrm>
            <a:off x="6315723" y="4465314"/>
            <a:ext cx="52197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Đưa lên chợ xe</a:t>
            </a:r>
          </a:p>
        </p:txBody>
      </p:sp>
      <p:sp>
        <p:nvSpPr>
          <p:cNvPr id="23" name="HTML Text 22">
            <a:extLst>
              <a:ext uri="{FF2B5EF4-FFF2-40B4-BE49-F238E27FC236}">
                <a16:creationId xmlns:a16="http://schemas.microsoft.com/office/drawing/2014/main" id="{10764CC1-AFE5-2474-9013-9B3BF19323F4}"/>
              </a:ext>
            </a:extLst>
          </p:cNvPr>
          <p:cNvSpPr txBox="1"/>
          <p:nvPr/>
        </p:nvSpPr>
        <p:spPr>
          <a:xfrm>
            <a:off x="6315723" y="4670733"/>
            <a:ext cx="52197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Tạo VehicleListing liên kết với GarageVehicle.</a:t>
            </a:r>
          </a:p>
        </p:txBody>
      </p:sp>
      <p:sp>
        <p:nvSpPr>
          <p:cNvPr id="24" name="HTML Text 23">
            <a:extLst>
              <a:ext uri="{FF2B5EF4-FFF2-40B4-BE49-F238E27FC236}">
                <a16:creationId xmlns:a16="http://schemas.microsoft.com/office/drawing/2014/main" id="{51A1EA04-9C05-B4D1-A075-4468D86535ED}"/>
              </a:ext>
            </a:extLst>
          </p:cNvPr>
          <p:cNvSpPr txBox="1"/>
          <p:nvPr/>
        </p:nvSpPr>
        <p:spPr>
          <a:xfrm>
            <a:off x="734153" y="5210744"/>
            <a:ext cx="8636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Toàn vẹn dữ liệu:</a:t>
            </a:r>
          </a:p>
        </p:txBody>
      </p:sp>
      <p:sp>
        <p:nvSpPr>
          <p:cNvPr id="25" name="TextBox 24">
            <a:extLst>
              <a:ext uri="{FF2B5EF4-FFF2-40B4-BE49-F238E27FC236}">
                <a16:creationId xmlns:a16="http://schemas.microsoft.com/office/drawing/2014/main" id="{6DACDD15-78F1-251A-AE8C-C6134F615092}"/>
              </a:ext>
            </a:extLst>
          </p:cNvPr>
          <p:cNvSpPr txBox="1"/>
          <p:nvPr/>
        </p:nvSpPr>
        <p:spPr>
          <a:xfrm>
            <a:off x="11531600" y="6477000"/>
            <a:ext cx="457200" cy="184666"/>
          </a:xfrm>
          <a:prstGeom prst="rect">
            <a:avLst/>
          </a:prstGeom>
          <a:noFill/>
        </p:spPr>
        <p:txBody>
          <a:bodyPr vert="horz" rtlCol="0">
            <a:spAutoFit/>
          </a:bodyPr>
          <a:lstStyle/>
          <a:p>
            <a:pPr algn="r"/>
            <a:r>
              <a:rPr lang="vi-VN" sz="600">
                <a:solidFill>
                  <a:srgbClr val="565F89"/>
                </a:solidFill>
                <a:latin typeface="Consolas" panose="020B0609020204030204" pitchFamily="49" charset="0"/>
              </a:rPr>
              <a:t>9 / 24</a:t>
            </a:r>
          </a:p>
        </p:txBody>
      </p:sp>
    </p:spTree>
    <p:extLst>
      <p:ext uri="{BB962C8B-B14F-4D97-AF65-F5344CB8AC3E}">
        <p14:creationId xmlns:p14="http://schemas.microsoft.com/office/powerpoint/2010/main" val="2260616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F9040623-7189-66DD-EBC7-43BAAA144394}"/>
              </a:ext>
            </a:extLst>
          </p:cNvPr>
          <p:cNvSpPr/>
          <p:nvPr/>
        </p:nvSpPr>
        <p:spPr>
          <a:xfrm>
            <a:off x="565989" y="2881614"/>
            <a:ext cx="6808164" cy="236242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F542B120-D524-D0A2-EC16-FFF75B3CC09C}"/>
              </a:ext>
            </a:extLst>
          </p:cNvPr>
          <p:cNvSpPr/>
          <p:nvPr/>
        </p:nvSpPr>
        <p:spPr>
          <a:xfrm>
            <a:off x="739609" y="3069029"/>
            <a:ext cx="6460924" cy="413658"/>
          </a:xfrm>
          <a:prstGeom prst="roundRect">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AA7C14AD-3BE2-F81F-D139-2B29BEBAC177}"/>
              </a:ext>
            </a:extLst>
          </p:cNvPr>
          <p:cNvSpPr/>
          <p:nvPr/>
        </p:nvSpPr>
        <p:spPr>
          <a:xfrm>
            <a:off x="7541344" y="2881614"/>
            <a:ext cx="2003866" cy="11395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60C68A00-2743-BDDB-1A54-8AB560260A9A}"/>
              </a:ext>
            </a:extLst>
          </p:cNvPr>
          <p:cNvSpPr/>
          <p:nvPr/>
        </p:nvSpPr>
        <p:spPr>
          <a:xfrm>
            <a:off x="9622375" y="2881614"/>
            <a:ext cx="2003867" cy="11395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E03C1B6C-D033-C1FB-0BD3-BA864A312DD7}"/>
              </a:ext>
            </a:extLst>
          </p:cNvPr>
          <p:cNvSpPr/>
          <p:nvPr/>
        </p:nvSpPr>
        <p:spPr>
          <a:xfrm>
            <a:off x="7541344" y="4104475"/>
            <a:ext cx="2003866" cy="11395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5F402AC8-2DB0-4D3B-6547-2BD986CED3FE}"/>
              </a:ext>
            </a:extLst>
          </p:cNvPr>
          <p:cNvSpPr/>
          <p:nvPr/>
        </p:nvSpPr>
        <p:spPr>
          <a:xfrm>
            <a:off x="9622375" y="4104475"/>
            <a:ext cx="2003867" cy="11395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7461D16D-66BA-27CC-D143-7D4159ED0BD7}"/>
              </a:ext>
            </a:extLst>
          </p:cNvPr>
          <p:cNvSpPr txBox="1"/>
          <p:nvPr/>
        </p:nvSpPr>
        <p:spPr>
          <a:xfrm>
            <a:off x="565989" y="1613960"/>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08 · MARKETPLACE</a:t>
            </a:r>
          </a:p>
        </p:txBody>
      </p:sp>
      <p:sp>
        <p:nvSpPr>
          <p:cNvPr id="9" name="HTML Text 8">
            <a:extLst>
              <a:ext uri="{FF2B5EF4-FFF2-40B4-BE49-F238E27FC236}">
                <a16:creationId xmlns:a16="http://schemas.microsoft.com/office/drawing/2014/main" id="{3FA9CFF7-1EF7-8CFF-A792-7381758F5C97}"/>
              </a:ext>
            </a:extLst>
          </p:cNvPr>
          <p:cNvSpPr txBox="1"/>
          <p:nvPr/>
        </p:nvSpPr>
        <p:spPr>
          <a:xfrm>
            <a:off x="565989" y="1836081"/>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Khám phá 150 tin xe bằng bộ lọc nhiều chiều</a:t>
            </a:r>
          </a:p>
        </p:txBody>
      </p:sp>
      <p:sp>
        <p:nvSpPr>
          <p:cNvPr id="10" name="HTML Text 9">
            <a:extLst>
              <a:ext uri="{FF2B5EF4-FFF2-40B4-BE49-F238E27FC236}">
                <a16:creationId xmlns:a16="http://schemas.microsoft.com/office/drawing/2014/main" id="{CBED0E83-72BA-B22D-9AA3-8E15DF49A7AC}"/>
              </a:ext>
            </a:extLst>
          </p:cNvPr>
          <p:cNvSpPr txBox="1"/>
          <p:nvPr/>
        </p:nvSpPr>
        <p:spPr>
          <a:xfrm>
            <a:off x="739609" y="3069029"/>
            <a:ext cx="6489700" cy="276999"/>
          </a:xfrm>
          <a:prstGeom prst="rect">
            <a:avLst/>
          </a:prstGeom>
          <a:noFill/>
        </p:spPr>
        <p:txBody>
          <a:bodyPr vert="horz" wrap="square" lIns="0" tIns="0" rIns="0" bIns="0" rtlCol="0">
            <a:noAutofit/>
          </a:bodyPr>
          <a:lstStyle/>
          <a:p>
            <a:r>
              <a:rPr lang="vi-VN" sz="800">
                <a:solidFill>
                  <a:srgbClr val="565F89"/>
                </a:solidFill>
                <a:latin typeface="Aptos" panose="020B0004020202020204" pitchFamily="34" charset="0"/>
              </a:rPr>
              <a:t>⌕ Tìm theo hãng, mẫu xe, địa điểm...</a:t>
            </a:r>
          </a:p>
        </p:txBody>
      </p:sp>
      <p:sp>
        <p:nvSpPr>
          <p:cNvPr id="11" name="HTML Text 10">
            <a:extLst>
              <a:ext uri="{FF2B5EF4-FFF2-40B4-BE49-F238E27FC236}">
                <a16:creationId xmlns:a16="http://schemas.microsoft.com/office/drawing/2014/main" id="{D152E652-7A93-B473-E091-3825906A82E1}"/>
              </a:ext>
            </a:extLst>
          </p:cNvPr>
          <p:cNvSpPr txBox="1"/>
          <p:nvPr/>
        </p:nvSpPr>
        <p:spPr>
          <a:xfrm>
            <a:off x="739609" y="3593747"/>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Danh mục</a:t>
            </a:r>
          </a:p>
        </p:txBody>
      </p:sp>
      <p:sp>
        <p:nvSpPr>
          <p:cNvPr id="12" name="HTML Text 11">
            <a:extLst>
              <a:ext uri="{FF2B5EF4-FFF2-40B4-BE49-F238E27FC236}">
                <a16:creationId xmlns:a16="http://schemas.microsoft.com/office/drawing/2014/main" id="{F276B377-BD4B-18E7-EBBF-7F19FC205837}"/>
              </a:ext>
            </a:extLst>
          </p:cNvPr>
          <p:cNvSpPr txBox="1"/>
          <p:nvPr/>
        </p:nvSpPr>
        <p:spPr>
          <a:xfrm>
            <a:off x="4002223" y="3593747"/>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Tình trạng</a:t>
            </a:r>
          </a:p>
        </p:txBody>
      </p:sp>
      <p:sp>
        <p:nvSpPr>
          <p:cNvPr id="13" name="HTML Text 12">
            <a:extLst>
              <a:ext uri="{FF2B5EF4-FFF2-40B4-BE49-F238E27FC236}">
                <a16:creationId xmlns:a16="http://schemas.microsoft.com/office/drawing/2014/main" id="{31B544C5-5590-65C0-2B5B-698A91638860}"/>
              </a:ext>
            </a:extLst>
          </p:cNvPr>
          <p:cNvSpPr txBox="1"/>
          <p:nvPr/>
        </p:nvSpPr>
        <p:spPr>
          <a:xfrm>
            <a:off x="739609" y="3976820"/>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Hãng xe</a:t>
            </a:r>
          </a:p>
        </p:txBody>
      </p:sp>
      <p:sp>
        <p:nvSpPr>
          <p:cNvPr id="14" name="HTML Text 13">
            <a:extLst>
              <a:ext uri="{FF2B5EF4-FFF2-40B4-BE49-F238E27FC236}">
                <a16:creationId xmlns:a16="http://schemas.microsoft.com/office/drawing/2014/main" id="{4A12BF3F-BF08-8984-D5B1-2B7A82883CD3}"/>
              </a:ext>
            </a:extLst>
          </p:cNvPr>
          <p:cNvSpPr txBox="1"/>
          <p:nvPr/>
        </p:nvSpPr>
        <p:spPr>
          <a:xfrm>
            <a:off x="4002223" y="3976820"/>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Kiểu xe</a:t>
            </a:r>
          </a:p>
        </p:txBody>
      </p:sp>
      <p:sp>
        <p:nvSpPr>
          <p:cNvPr id="15" name="HTML Text 14">
            <a:extLst>
              <a:ext uri="{FF2B5EF4-FFF2-40B4-BE49-F238E27FC236}">
                <a16:creationId xmlns:a16="http://schemas.microsoft.com/office/drawing/2014/main" id="{5BCEE0A7-5302-C77C-675F-6D3C43935FBD}"/>
              </a:ext>
            </a:extLst>
          </p:cNvPr>
          <p:cNvSpPr txBox="1"/>
          <p:nvPr/>
        </p:nvSpPr>
        <p:spPr>
          <a:xfrm>
            <a:off x="739609" y="4359893"/>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Nhiên liệu</a:t>
            </a:r>
          </a:p>
        </p:txBody>
      </p:sp>
      <p:sp>
        <p:nvSpPr>
          <p:cNvPr id="16" name="HTML Text 15">
            <a:extLst>
              <a:ext uri="{FF2B5EF4-FFF2-40B4-BE49-F238E27FC236}">
                <a16:creationId xmlns:a16="http://schemas.microsoft.com/office/drawing/2014/main" id="{DF1585BF-D9B8-225D-5A68-52DAA821BE71}"/>
              </a:ext>
            </a:extLst>
          </p:cNvPr>
          <p:cNvSpPr txBox="1"/>
          <p:nvPr/>
        </p:nvSpPr>
        <p:spPr>
          <a:xfrm>
            <a:off x="4002223" y="4359893"/>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Hộp số</a:t>
            </a:r>
          </a:p>
        </p:txBody>
      </p:sp>
      <p:sp>
        <p:nvSpPr>
          <p:cNvPr id="17" name="HTML Text 16">
            <a:extLst>
              <a:ext uri="{FF2B5EF4-FFF2-40B4-BE49-F238E27FC236}">
                <a16:creationId xmlns:a16="http://schemas.microsoft.com/office/drawing/2014/main" id="{CC024A72-99BE-59A5-48BB-C4EF7A9F5ABF}"/>
              </a:ext>
            </a:extLst>
          </p:cNvPr>
          <p:cNvSpPr txBox="1"/>
          <p:nvPr/>
        </p:nvSpPr>
        <p:spPr>
          <a:xfrm>
            <a:off x="739609" y="4742966"/>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Từ năm</a:t>
            </a:r>
          </a:p>
        </p:txBody>
      </p:sp>
      <p:sp>
        <p:nvSpPr>
          <p:cNvPr id="18" name="HTML Text 17">
            <a:extLst>
              <a:ext uri="{FF2B5EF4-FFF2-40B4-BE49-F238E27FC236}">
                <a16:creationId xmlns:a16="http://schemas.microsoft.com/office/drawing/2014/main" id="{BB0FE2AF-BD1C-86E1-385D-EAC20E2A87A3}"/>
              </a:ext>
            </a:extLst>
          </p:cNvPr>
          <p:cNvSpPr txBox="1"/>
          <p:nvPr/>
        </p:nvSpPr>
        <p:spPr>
          <a:xfrm>
            <a:off x="4002223" y="4742966"/>
            <a:ext cx="32258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Đến năm</a:t>
            </a:r>
          </a:p>
        </p:txBody>
      </p:sp>
      <p:sp>
        <p:nvSpPr>
          <p:cNvPr id="19" name="HTML Text 18">
            <a:extLst>
              <a:ext uri="{FF2B5EF4-FFF2-40B4-BE49-F238E27FC236}">
                <a16:creationId xmlns:a16="http://schemas.microsoft.com/office/drawing/2014/main" id="{D368D4AC-DB26-E688-A0A4-7723F94CB357}"/>
              </a:ext>
            </a:extLst>
          </p:cNvPr>
          <p:cNvSpPr txBox="1"/>
          <p:nvPr/>
        </p:nvSpPr>
        <p:spPr>
          <a:xfrm>
            <a:off x="7676381" y="3027381"/>
            <a:ext cx="1765300" cy="276999"/>
          </a:xfrm>
          <a:prstGeom prst="rect">
            <a:avLst/>
          </a:prstGeom>
          <a:noFill/>
        </p:spPr>
        <p:txBody>
          <a:bodyPr vert="horz" wrap="square" lIns="0" tIns="0" rIns="0" bIns="0" rtlCol="0">
            <a:noAutofit/>
          </a:bodyPr>
          <a:lstStyle/>
          <a:p>
            <a:r>
              <a:rPr lang="vi-VN" b="1">
                <a:solidFill>
                  <a:srgbClr val="7AA2F7"/>
                </a:solidFill>
                <a:latin typeface="Aptos" panose="020B0004020202020204" pitchFamily="34" charset="0"/>
              </a:rPr>
              <a:t>150</a:t>
            </a:r>
          </a:p>
        </p:txBody>
      </p:sp>
      <p:sp>
        <p:nvSpPr>
          <p:cNvPr id="20" name="HTML Text 19">
            <a:extLst>
              <a:ext uri="{FF2B5EF4-FFF2-40B4-BE49-F238E27FC236}">
                <a16:creationId xmlns:a16="http://schemas.microsoft.com/office/drawing/2014/main" id="{1FD78C57-9000-797F-EDE6-AEB3F10BF699}"/>
              </a:ext>
            </a:extLst>
          </p:cNvPr>
          <p:cNvSpPr txBox="1"/>
          <p:nvPr/>
        </p:nvSpPr>
        <p:spPr>
          <a:xfrm>
            <a:off x="7676381" y="3450800"/>
            <a:ext cx="1765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tin xe không trùng tiêu đề</a:t>
            </a:r>
          </a:p>
        </p:txBody>
      </p:sp>
      <p:sp>
        <p:nvSpPr>
          <p:cNvPr id="21" name="HTML Text 20">
            <a:extLst>
              <a:ext uri="{FF2B5EF4-FFF2-40B4-BE49-F238E27FC236}">
                <a16:creationId xmlns:a16="http://schemas.microsoft.com/office/drawing/2014/main" id="{DBFB9788-2063-DD7E-5E89-0D167112C8AB}"/>
              </a:ext>
            </a:extLst>
          </p:cNvPr>
          <p:cNvSpPr txBox="1"/>
          <p:nvPr/>
        </p:nvSpPr>
        <p:spPr>
          <a:xfrm>
            <a:off x="9757413" y="3027381"/>
            <a:ext cx="1765300" cy="276999"/>
          </a:xfrm>
          <a:prstGeom prst="rect">
            <a:avLst/>
          </a:prstGeom>
          <a:noFill/>
        </p:spPr>
        <p:txBody>
          <a:bodyPr vert="horz" wrap="square" lIns="0" tIns="0" rIns="0" bIns="0" rtlCol="0">
            <a:noAutofit/>
          </a:bodyPr>
          <a:lstStyle/>
          <a:p>
            <a:r>
              <a:rPr lang="vi-VN" b="1">
                <a:solidFill>
                  <a:srgbClr val="7AA2F7"/>
                </a:solidFill>
                <a:latin typeface="Aptos" panose="020B0004020202020204" pitchFamily="34" charset="0"/>
              </a:rPr>
              <a:t>56</a:t>
            </a:r>
          </a:p>
        </p:txBody>
      </p:sp>
      <p:sp>
        <p:nvSpPr>
          <p:cNvPr id="22" name="HTML Text 21">
            <a:extLst>
              <a:ext uri="{FF2B5EF4-FFF2-40B4-BE49-F238E27FC236}">
                <a16:creationId xmlns:a16="http://schemas.microsoft.com/office/drawing/2014/main" id="{244FE00E-96F1-B422-0820-16EE68B44D9E}"/>
              </a:ext>
            </a:extLst>
          </p:cNvPr>
          <p:cNvSpPr txBox="1"/>
          <p:nvPr/>
        </p:nvSpPr>
        <p:spPr>
          <a:xfrm>
            <a:off x="9757413" y="3450800"/>
            <a:ext cx="1765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mẫu xe châu Âu</a:t>
            </a:r>
          </a:p>
        </p:txBody>
      </p:sp>
      <p:sp>
        <p:nvSpPr>
          <p:cNvPr id="23" name="HTML Text 22">
            <a:extLst>
              <a:ext uri="{FF2B5EF4-FFF2-40B4-BE49-F238E27FC236}">
                <a16:creationId xmlns:a16="http://schemas.microsoft.com/office/drawing/2014/main" id="{B98A2E52-F68B-928E-4CC8-366C5790FD64}"/>
              </a:ext>
            </a:extLst>
          </p:cNvPr>
          <p:cNvSpPr txBox="1"/>
          <p:nvPr/>
        </p:nvSpPr>
        <p:spPr>
          <a:xfrm>
            <a:off x="7676381" y="4250242"/>
            <a:ext cx="1765300" cy="276999"/>
          </a:xfrm>
          <a:prstGeom prst="rect">
            <a:avLst/>
          </a:prstGeom>
          <a:noFill/>
        </p:spPr>
        <p:txBody>
          <a:bodyPr vert="horz" wrap="square" lIns="0" tIns="0" rIns="0" bIns="0" rtlCol="0">
            <a:noAutofit/>
          </a:bodyPr>
          <a:lstStyle/>
          <a:p>
            <a:r>
              <a:rPr lang="vi-VN" b="1">
                <a:solidFill>
                  <a:srgbClr val="7AA2F7"/>
                </a:solidFill>
                <a:latin typeface="Aptos" panose="020B0004020202020204" pitchFamily="34" charset="0"/>
              </a:rPr>
              <a:t>16</a:t>
            </a:r>
          </a:p>
        </p:txBody>
      </p:sp>
      <p:sp>
        <p:nvSpPr>
          <p:cNvPr id="24" name="HTML Text 23">
            <a:extLst>
              <a:ext uri="{FF2B5EF4-FFF2-40B4-BE49-F238E27FC236}">
                <a16:creationId xmlns:a16="http://schemas.microsoft.com/office/drawing/2014/main" id="{4F5417AB-B740-5FE6-EF35-BFF38441CC4F}"/>
              </a:ext>
            </a:extLst>
          </p:cNvPr>
          <p:cNvSpPr txBox="1"/>
          <p:nvPr/>
        </p:nvSpPr>
        <p:spPr>
          <a:xfrm>
            <a:off x="7676381" y="4673661"/>
            <a:ext cx="1765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tin thuộc nhóm Exotics</a:t>
            </a:r>
          </a:p>
        </p:txBody>
      </p:sp>
      <p:sp>
        <p:nvSpPr>
          <p:cNvPr id="25" name="HTML Text 24">
            <a:extLst>
              <a:ext uri="{FF2B5EF4-FFF2-40B4-BE49-F238E27FC236}">
                <a16:creationId xmlns:a16="http://schemas.microsoft.com/office/drawing/2014/main" id="{69B8BC4B-5FBA-9FCB-A931-0B7E0B44D040}"/>
              </a:ext>
            </a:extLst>
          </p:cNvPr>
          <p:cNvSpPr txBox="1"/>
          <p:nvPr/>
        </p:nvSpPr>
        <p:spPr>
          <a:xfrm>
            <a:off x="9757413" y="4250242"/>
            <a:ext cx="1765300" cy="276999"/>
          </a:xfrm>
          <a:prstGeom prst="rect">
            <a:avLst/>
          </a:prstGeom>
          <a:noFill/>
        </p:spPr>
        <p:txBody>
          <a:bodyPr vert="horz" wrap="square" lIns="0" tIns="0" rIns="0" bIns="0" rtlCol="0">
            <a:noAutofit/>
          </a:bodyPr>
          <a:lstStyle/>
          <a:p>
            <a:r>
              <a:rPr lang="vi-VN" b="1">
                <a:solidFill>
                  <a:srgbClr val="7AA2F7"/>
                </a:solidFill>
                <a:latin typeface="Aptos" panose="020B0004020202020204" pitchFamily="34" charset="0"/>
              </a:rPr>
              <a:t>10</a:t>
            </a:r>
          </a:p>
        </p:txBody>
      </p:sp>
      <p:sp>
        <p:nvSpPr>
          <p:cNvPr id="26" name="HTML Text 25">
            <a:extLst>
              <a:ext uri="{FF2B5EF4-FFF2-40B4-BE49-F238E27FC236}">
                <a16:creationId xmlns:a16="http://schemas.microsoft.com/office/drawing/2014/main" id="{C95E55FE-0CE0-4EFD-3F8D-8D21B289836B}"/>
              </a:ext>
            </a:extLst>
          </p:cNvPr>
          <p:cNvSpPr txBox="1"/>
          <p:nvPr/>
        </p:nvSpPr>
        <p:spPr>
          <a:xfrm>
            <a:off x="9757413" y="4673661"/>
            <a:ext cx="1765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tin mỗi trang</a:t>
            </a:r>
          </a:p>
        </p:txBody>
      </p:sp>
      <p:sp>
        <p:nvSpPr>
          <p:cNvPr id="27" name="TextBox 26">
            <a:extLst>
              <a:ext uri="{FF2B5EF4-FFF2-40B4-BE49-F238E27FC236}">
                <a16:creationId xmlns:a16="http://schemas.microsoft.com/office/drawing/2014/main" id="{91E8AE0B-F9C6-055C-9F8D-C5FE0547022A}"/>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10 / 24</a:t>
            </a:r>
          </a:p>
        </p:txBody>
      </p:sp>
    </p:spTree>
    <p:extLst>
      <p:ext uri="{BB962C8B-B14F-4D97-AF65-F5344CB8AC3E}">
        <p14:creationId xmlns:p14="http://schemas.microsoft.com/office/powerpoint/2010/main" val="687743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2A8279B0-CCFA-941B-05CB-FB8A3649B411}"/>
              </a:ext>
            </a:extLst>
          </p:cNvPr>
          <p:cNvSpPr/>
          <p:nvPr/>
        </p:nvSpPr>
        <p:spPr>
          <a:xfrm>
            <a:off x="565873" y="2663071"/>
            <a:ext cx="6528041" cy="279951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F2913273-716F-4A2B-8335-DF50BF293FC5}"/>
              </a:ext>
            </a:extLst>
          </p:cNvPr>
          <p:cNvSpPr/>
          <p:nvPr/>
        </p:nvSpPr>
        <p:spPr>
          <a:xfrm>
            <a:off x="7273965" y="2663071"/>
            <a:ext cx="4352162" cy="279951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91B74780-AAED-7A8B-9408-EEF4467BA444}"/>
              </a:ext>
            </a:extLst>
          </p:cNvPr>
          <p:cNvSpPr/>
          <p:nvPr/>
        </p:nvSpPr>
        <p:spPr>
          <a:xfrm>
            <a:off x="7421864" y="4237878"/>
            <a:ext cx="1317826" cy="288714"/>
          </a:xfrm>
          <a:prstGeom prst="roundRect">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A8C50971-1933-9A42-94DF-0EDFDA3D6BD5}"/>
              </a:ext>
            </a:extLst>
          </p:cNvPr>
          <p:cNvSpPr/>
          <p:nvPr/>
        </p:nvSpPr>
        <p:spPr>
          <a:xfrm>
            <a:off x="8791133" y="4237878"/>
            <a:ext cx="1317826" cy="288714"/>
          </a:xfrm>
          <a:prstGeom prst="roundRect">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C7BE6DC1-9E61-ED44-F0F2-CC698AD20D31}"/>
              </a:ext>
            </a:extLst>
          </p:cNvPr>
          <p:cNvSpPr/>
          <p:nvPr/>
        </p:nvSpPr>
        <p:spPr>
          <a:xfrm>
            <a:off x="10160402" y="4237878"/>
            <a:ext cx="1317825" cy="288714"/>
          </a:xfrm>
          <a:prstGeom prst="roundRect">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Text 6">
            <a:extLst>
              <a:ext uri="{FF2B5EF4-FFF2-40B4-BE49-F238E27FC236}">
                <a16:creationId xmlns:a16="http://schemas.microsoft.com/office/drawing/2014/main" id="{0B0D980A-18FF-7DAF-5549-985D9D956970}"/>
              </a:ext>
            </a:extLst>
          </p:cNvPr>
          <p:cNvSpPr txBox="1"/>
          <p:nvPr/>
        </p:nvSpPr>
        <p:spPr>
          <a:xfrm>
            <a:off x="565873" y="1395417"/>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09 · VEHICLE DETAIL</a:t>
            </a:r>
          </a:p>
        </p:txBody>
      </p:sp>
      <p:sp>
        <p:nvSpPr>
          <p:cNvPr id="8" name="HTML Text 7">
            <a:extLst>
              <a:ext uri="{FF2B5EF4-FFF2-40B4-BE49-F238E27FC236}">
                <a16:creationId xmlns:a16="http://schemas.microsoft.com/office/drawing/2014/main" id="{CC3A25DB-E4C1-F9A1-AD94-6A2C646D12EC}"/>
              </a:ext>
            </a:extLst>
          </p:cNvPr>
          <p:cNvSpPr txBox="1"/>
          <p:nvPr/>
        </p:nvSpPr>
        <p:spPr>
          <a:xfrm>
            <a:off x="565873" y="1617539"/>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Trang chi tiết tập trung vào quyết định và trao đổi</a:t>
            </a:r>
          </a:p>
        </p:txBody>
      </p:sp>
      <p:sp>
        <p:nvSpPr>
          <p:cNvPr id="9" name="HTML Text 8">
            <a:extLst>
              <a:ext uri="{FF2B5EF4-FFF2-40B4-BE49-F238E27FC236}">
                <a16:creationId xmlns:a16="http://schemas.microsoft.com/office/drawing/2014/main" id="{0A03F4D2-EB15-3004-4694-E9A6F82DC7BC}"/>
              </a:ext>
            </a:extLst>
          </p:cNvPr>
          <p:cNvSpPr txBox="1"/>
          <p:nvPr/>
        </p:nvSpPr>
        <p:spPr>
          <a:xfrm>
            <a:off x="713772" y="2822721"/>
            <a:ext cx="62611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Ảnh đại diện đúng dòng xe</a:t>
            </a:r>
          </a:p>
        </p:txBody>
      </p:sp>
      <p:sp>
        <p:nvSpPr>
          <p:cNvPr id="10" name="HTML Text 9">
            <a:extLst>
              <a:ext uri="{FF2B5EF4-FFF2-40B4-BE49-F238E27FC236}">
                <a16:creationId xmlns:a16="http://schemas.microsoft.com/office/drawing/2014/main" id="{44D1A799-CC7F-A74D-BFD0-3D1B01686514}"/>
              </a:ext>
            </a:extLst>
          </p:cNvPr>
          <p:cNvSpPr txBox="1"/>
          <p:nvPr/>
        </p:nvSpPr>
        <p:spPr>
          <a:xfrm>
            <a:off x="713772" y="5154997"/>
            <a:ext cx="62611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Mũi tên và lightbox tự bám theo tỷ lệ ảnh thực tế</a:t>
            </a:r>
          </a:p>
        </p:txBody>
      </p:sp>
      <p:sp>
        <p:nvSpPr>
          <p:cNvPr id="11" name="HTML Text 10">
            <a:extLst>
              <a:ext uri="{FF2B5EF4-FFF2-40B4-BE49-F238E27FC236}">
                <a16:creationId xmlns:a16="http://schemas.microsoft.com/office/drawing/2014/main" id="{4B71524C-C1BE-8833-7148-6B87A7160BCD}"/>
              </a:ext>
            </a:extLst>
          </p:cNvPr>
          <p:cNvSpPr txBox="1"/>
          <p:nvPr/>
        </p:nvSpPr>
        <p:spPr>
          <a:xfrm>
            <a:off x="7421864" y="2836604"/>
            <a:ext cx="6223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ACTIVE LISTING</a:t>
            </a:r>
          </a:p>
        </p:txBody>
      </p:sp>
      <p:sp>
        <p:nvSpPr>
          <p:cNvPr id="12" name="HTML Text 11">
            <a:extLst>
              <a:ext uri="{FF2B5EF4-FFF2-40B4-BE49-F238E27FC236}">
                <a16:creationId xmlns:a16="http://schemas.microsoft.com/office/drawing/2014/main" id="{26A65092-B236-BA94-DAEB-F7C9929B6552}"/>
              </a:ext>
            </a:extLst>
          </p:cNvPr>
          <p:cNvSpPr txBox="1"/>
          <p:nvPr/>
        </p:nvSpPr>
        <p:spPr>
          <a:xfrm>
            <a:off x="7421864" y="3190610"/>
            <a:ext cx="4076700" cy="276999"/>
          </a:xfrm>
          <a:prstGeom prst="rect">
            <a:avLst/>
          </a:prstGeom>
          <a:noFill/>
        </p:spPr>
        <p:txBody>
          <a:bodyPr vert="horz" wrap="square" lIns="0" tIns="0" rIns="0" bIns="0" rtlCol="0">
            <a:noAutofit/>
          </a:bodyPr>
          <a:lstStyle/>
          <a:p>
            <a:r>
              <a:rPr lang="vi-VN" sz="1400" b="1">
                <a:solidFill>
                  <a:srgbClr val="C0CAF5"/>
                </a:solidFill>
                <a:latin typeface="Aptos" panose="020B0004020202020204" pitchFamily="34" charset="0"/>
              </a:rPr>
              <a:t>2024 Mercedes-Benz G-Class</a:t>
            </a:r>
          </a:p>
        </p:txBody>
      </p:sp>
      <p:sp>
        <p:nvSpPr>
          <p:cNvPr id="13" name="HTML Text 12">
            <a:extLst>
              <a:ext uri="{FF2B5EF4-FFF2-40B4-BE49-F238E27FC236}">
                <a16:creationId xmlns:a16="http://schemas.microsoft.com/office/drawing/2014/main" id="{ED6557C8-7466-919E-366B-68AB7D7437E8}"/>
              </a:ext>
            </a:extLst>
          </p:cNvPr>
          <p:cNvSpPr txBox="1"/>
          <p:nvPr/>
        </p:nvSpPr>
        <p:spPr>
          <a:xfrm>
            <a:off x="7421864" y="3498738"/>
            <a:ext cx="4076700" cy="276999"/>
          </a:xfrm>
          <a:prstGeom prst="rect">
            <a:avLst/>
          </a:prstGeom>
          <a:noFill/>
        </p:spPr>
        <p:txBody>
          <a:bodyPr vert="horz" wrap="square" lIns="0" tIns="0" rIns="0" bIns="0" rtlCol="0">
            <a:noAutofit/>
          </a:bodyPr>
          <a:lstStyle/>
          <a:p>
            <a:r>
              <a:rPr lang="vi-VN" sz="1200" b="1">
                <a:solidFill>
                  <a:srgbClr val="7AA2F7"/>
                </a:solidFill>
                <a:latin typeface="Aptos" panose="020B0004020202020204" pitchFamily="34" charset="0"/>
              </a:rPr>
              <a:t>10.950.000.000 ₫</a:t>
            </a:r>
          </a:p>
        </p:txBody>
      </p:sp>
      <p:sp>
        <p:nvSpPr>
          <p:cNvPr id="14" name="HTML Text 13">
            <a:extLst>
              <a:ext uri="{FF2B5EF4-FFF2-40B4-BE49-F238E27FC236}">
                <a16:creationId xmlns:a16="http://schemas.microsoft.com/office/drawing/2014/main" id="{DB2185E8-4583-90B6-645E-6F1294207331}"/>
              </a:ext>
            </a:extLst>
          </p:cNvPr>
          <p:cNvSpPr txBox="1"/>
          <p:nvPr/>
        </p:nvSpPr>
        <p:spPr>
          <a:xfrm>
            <a:off x="7421864" y="3920748"/>
            <a:ext cx="40767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Mô tả, nguồn ảnh, vị trí và thông số được trình bày một lần, không lặp dữ liệu Garage.</a:t>
            </a:r>
          </a:p>
        </p:txBody>
      </p:sp>
      <p:sp>
        <p:nvSpPr>
          <p:cNvPr id="15" name="HTML Text 14">
            <a:extLst>
              <a:ext uri="{FF2B5EF4-FFF2-40B4-BE49-F238E27FC236}">
                <a16:creationId xmlns:a16="http://schemas.microsoft.com/office/drawing/2014/main" id="{937C311A-D01A-78B8-0A0E-C707C60D4A86}"/>
              </a:ext>
            </a:extLst>
          </p:cNvPr>
          <p:cNvSpPr txBox="1"/>
          <p:nvPr/>
        </p:nvSpPr>
        <p:spPr>
          <a:xfrm>
            <a:off x="7421864" y="4237878"/>
            <a:ext cx="1346200" cy="276999"/>
          </a:xfrm>
          <a:prstGeom prst="rect">
            <a:avLst/>
          </a:prstGeom>
          <a:noFill/>
        </p:spPr>
        <p:txBody>
          <a:bodyPr vert="horz" wrap="square" lIns="0" tIns="0" rIns="0" bIns="0" rtlCol="0">
            <a:noAutofit/>
          </a:bodyPr>
          <a:lstStyle/>
          <a:p>
            <a:pPr algn="ctr"/>
            <a:r>
              <a:rPr lang="vi-VN" sz="600">
                <a:solidFill>
                  <a:srgbClr val="C0CAF5"/>
                </a:solidFill>
                <a:latin typeface="Aptos" panose="020B0004020202020204" pitchFamily="34" charset="0"/>
              </a:rPr>
              <a:t>Liên hệ</a:t>
            </a:r>
          </a:p>
        </p:txBody>
      </p:sp>
      <p:sp>
        <p:nvSpPr>
          <p:cNvPr id="16" name="HTML Text 15">
            <a:extLst>
              <a:ext uri="{FF2B5EF4-FFF2-40B4-BE49-F238E27FC236}">
                <a16:creationId xmlns:a16="http://schemas.microsoft.com/office/drawing/2014/main" id="{92C439C1-0E6B-2FCC-F068-64FFBBBC3402}"/>
              </a:ext>
            </a:extLst>
          </p:cNvPr>
          <p:cNvSpPr txBox="1"/>
          <p:nvPr/>
        </p:nvSpPr>
        <p:spPr>
          <a:xfrm>
            <a:off x="8791133" y="4237878"/>
            <a:ext cx="1346200" cy="276999"/>
          </a:xfrm>
          <a:prstGeom prst="rect">
            <a:avLst/>
          </a:prstGeom>
          <a:noFill/>
        </p:spPr>
        <p:txBody>
          <a:bodyPr vert="horz" wrap="square" lIns="0" tIns="0" rIns="0" bIns="0" rtlCol="0">
            <a:noAutofit/>
          </a:bodyPr>
          <a:lstStyle/>
          <a:p>
            <a:pPr algn="ctr"/>
            <a:r>
              <a:rPr lang="vi-VN" sz="600">
                <a:solidFill>
                  <a:srgbClr val="C0CAF5"/>
                </a:solidFill>
                <a:latin typeface="Aptos" panose="020B0004020202020204" pitchFamily="34" charset="0"/>
              </a:rPr>
              <a:t>Lưu</a:t>
            </a:r>
          </a:p>
        </p:txBody>
      </p:sp>
      <p:sp>
        <p:nvSpPr>
          <p:cNvPr id="17" name="HTML Text 16">
            <a:extLst>
              <a:ext uri="{FF2B5EF4-FFF2-40B4-BE49-F238E27FC236}">
                <a16:creationId xmlns:a16="http://schemas.microsoft.com/office/drawing/2014/main" id="{A7611B0E-054C-F007-210A-20B6E935339C}"/>
              </a:ext>
            </a:extLst>
          </p:cNvPr>
          <p:cNvSpPr txBox="1"/>
          <p:nvPr/>
        </p:nvSpPr>
        <p:spPr>
          <a:xfrm>
            <a:off x="10160402" y="4237878"/>
            <a:ext cx="1346200" cy="276999"/>
          </a:xfrm>
          <a:prstGeom prst="rect">
            <a:avLst/>
          </a:prstGeom>
          <a:noFill/>
        </p:spPr>
        <p:txBody>
          <a:bodyPr vert="horz" wrap="square" lIns="0" tIns="0" rIns="0" bIns="0" rtlCol="0">
            <a:noAutofit/>
          </a:bodyPr>
          <a:lstStyle/>
          <a:p>
            <a:pPr algn="ctr"/>
            <a:r>
              <a:rPr lang="vi-VN" sz="600">
                <a:solidFill>
                  <a:srgbClr val="C0CAF5"/>
                </a:solidFill>
                <a:latin typeface="Aptos" panose="020B0004020202020204" pitchFamily="34" charset="0"/>
              </a:rPr>
              <a:t>Chia sẻ</a:t>
            </a:r>
          </a:p>
        </p:txBody>
      </p:sp>
      <p:sp>
        <p:nvSpPr>
          <p:cNvPr id="18" name="TextBox 17">
            <a:extLst>
              <a:ext uri="{FF2B5EF4-FFF2-40B4-BE49-F238E27FC236}">
                <a16:creationId xmlns:a16="http://schemas.microsoft.com/office/drawing/2014/main" id="{8A34E7C7-E51C-ABF5-A7AA-2EB8C0CF02A3}"/>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11 / 24</a:t>
            </a:r>
          </a:p>
        </p:txBody>
      </p:sp>
    </p:spTree>
    <p:extLst>
      <p:ext uri="{BB962C8B-B14F-4D97-AF65-F5344CB8AC3E}">
        <p14:creationId xmlns:p14="http://schemas.microsoft.com/office/powerpoint/2010/main" val="498338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AD4BD0D5-B1D6-384C-8825-7762500A7F31}"/>
              </a:ext>
            </a:extLst>
          </p:cNvPr>
          <p:cNvSpPr/>
          <p:nvPr/>
        </p:nvSpPr>
        <p:spPr>
          <a:xfrm>
            <a:off x="565873" y="2688125"/>
            <a:ext cx="2900504" cy="2344640"/>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5EAF7A1D-A51A-8C56-157B-65FDCB0B3C4E}"/>
              </a:ext>
            </a:extLst>
          </p:cNvPr>
          <p:cNvSpPr/>
          <p:nvPr/>
        </p:nvSpPr>
        <p:spPr>
          <a:xfrm>
            <a:off x="675190" y="2806127"/>
            <a:ext cx="2681870" cy="705192"/>
          </a:xfrm>
          <a:prstGeom prst="rect">
            <a:avLst/>
          </a:prstGeom>
          <a:noFill/>
          <a:ln w="6430" cap="flat" cmpd="sng" algn="ctr">
            <a:solidFill>
              <a:srgbClr val="C0CAF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76A17E14-B50E-1228-D687-9A654E9280E3}"/>
              </a:ext>
            </a:extLst>
          </p:cNvPr>
          <p:cNvSpPr/>
          <p:nvPr/>
        </p:nvSpPr>
        <p:spPr>
          <a:xfrm>
            <a:off x="675190" y="3511319"/>
            <a:ext cx="2681870" cy="705193"/>
          </a:xfrm>
          <a:prstGeom prst="rect">
            <a:avLst/>
          </a:prstGeom>
          <a:noFill/>
          <a:ln w="6430" cap="flat" cmpd="sng" algn="ctr">
            <a:solidFill>
              <a:srgbClr val="C0CAF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36BF341D-AADA-2F50-9048-F41F021D20A1}"/>
              </a:ext>
            </a:extLst>
          </p:cNvPr>
          <p:cNvSpPr/>
          <p:nvPr/>
        </p:nvSpPr>
        <p:spPr>
          <a:xfrm>
            <a:off x="3582124" y="2688125"/>
            <a:ext cx="5414380" cy="2344640"/>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DB5F7F75-335A-6A08-D918-79DC22FB76D9}"/>
              </a:ext>
            </a:extLst>
          </p:cNvPr>
          <p:cNvSpPr/>
          <p:nvPr/>
        </p:nvSpPr>
        <p:spPr>
          <a:xfrm>
            <a:off x="4938431" y="3759688"/>
            <a:ext cx="3948755" cy="272012"/>
          </a:xfrm>
          <a:prstGeom prst="roundRect">
            <a:avLst/>
          </a:prstGeom>
          <a:solidFill>
            <a:srgbClr val="7AA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D34B3FFA-E11D-81E4-6391-92EBD4AFCEDC}"/>
              </a:ext>
            </a:extLst>
          </p:cNvPr>
          <p:cNvSpPr/>
          <p:nvPr/>
        </p:nvSpPr>
        <p:spPr>
          <a:xfrm>
            <a:off x="9112250" y="2688125"/>
            <a:ext cx="2513776" cy="2344640"/>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569BD052-6A94-1D65-CCE7-BB3F159027DB}"/>
              </a:ext>
            </a:extLst>
          </p:cNvPr>
          <p:cNvSpPr txBox="1"/>
          <p:nvPr/>
        </p:nvSpPr>
        <p:spPr>
          <a:xfrm>
            <a:off x="565873" y="1825235"/>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10 · MESSAGING</a:t>
            </a:r>
          </a:p>
        </p:txBody>
      </p:sp>
      <p:sp>
        <p:nvSpPr>
          <p:cNvPr id="9" name="HTML Text 8">
            <a:extLst>
              <a:ext uri="{FF2B5EF4-FFF2-40B4-BE49-F238E27FC236}">
                <a16:creationId xmlns:a16="http://schemas.microsoft.com/office/drawing/2014/main" id="{8578E30B-8E8A-F026-043E-091C84997086}"/>
              </a:ext>
            </a:extLst>
          </p:cNvPr>
          <p:cNvSpPr txBox="1"/>
          <p:nvPr/>
        </p:nvSpPr>
        <p:spPr>
          <a:xfrm>
            <a:off x="565873" y="2047357"/>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Trò chuyện luôn giữ đúng ngữ cảnh</a:t>
            </a:r>
          </a:p>
        </p:txBody>
      </p:sp>
      <p:sp>
        <p:nvSpPr>
          <p:cNvPr id="10" name="HTML Text 9">
            <a:extLst>
              <a:ext uri="{FF2B5EF4-FFF2-40B4-BE49-F238E27FC236}">
                <a16:creationId xmlns:a16="http://schemas.microsoft.com/office/drawing/2014/main" id="{BDF82295-C22F-5A67-6BF0-60D9D2C47AA7}"/>
              </a:ext>
            </a:extLst>
          </p:cNvPr>
          <p:cNvSpPr txBox="1"/>
          <p:nvPr/>
        </p:nvSpPr>
        <p:spPr>
          <a:xfrm>
            <a:off x="707342" y="3037251"/>
            <a:ext cx="241300" cy="276999"/>
          </a:xfrm>
          <a:prstGeom prst="rect">
            <a:avLst/>
          </a:prstGeom>
          <a:noFill/>
        </p:spPr>
        <p:txBody>
          <a:bodyPr vert="horz" wrap="square" lIns="0" tIns="0" rIns="0" bIns="0" rtlCol="0">
            <a:noAutofit/>
          </a:bodyPr>
          <a:lstStyle/>
          <a:p>
            <a:r>
              <a:rPr lang="vi-VN" sz="500" b="1">
                <a:solidFill>
                  <a:srgbClr val="7AA2F7"/>
                </a:solidFill>
                <a:latin typeface="Aptos" panose="020B0004020202020204" pitchFamily="34" charset="0"/>
              </a:rPr>
              <a:t>AV</a:t>
            </a:r>
          </a:p>
        </p:txBody>
      </p:sp>
      <p:sp>
        <p:nvSpPr>
          <p:cNvPr id="11" name="HTML Text 10">
            <a:extLst>
              <a:ext uri="{FF2B5EF4-FFF2-40B4-BE49-F238E27FC236}">
                <a16:creationId xmlns:a16="http://schemas.microsoft.com/office/drawing/2014/main" id="{EDA3A6DE-27F9-E3C2-710F-2FB962019710}"/>
              </a:ext>
            </a:extLst>
          </p:cNvPr>
          <p:cNvSpPr txBox="1"/>
          <p:nvPr/>
        </p:nvSpPr>
        <p:spPr>
          <a:xfrm>
            <a:off x="990279" y="3000484"/>
            <a:ext cx="7493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Anh Việt
Mercedes-Benz G-Class</a:t>
            </a:r>
          </a:p>
        </p:txBody>
      </p:sp>
      <p:sp>
        <p:nvSpPr>
          <p:cNvPr id="12" name="HTML Text 11">
            <a:extLst>
              <a:ext uri="{FF2B5EF4-FFF2-40B4-BE49-F238E27FC236}">
                <a16:creationId xmlns:a16="http://schemas.microsoft.com/office/drawing/2014/main" id="{19873464-EA20-2E29-2DE6-A929EEE508B1}"/>
              </a:ext>
            </a:extLst>
          </p:cNvPr>
          <p:cNvSpPr txBox="1"/>
          <p:nvPr/>
        </p:nvSpPr>
        <p:spPr>
          <a:xfrm>
            <a:off x="707342" y="3742443"/>
            <a:ext cx="241300" cy="276999"/>
          </a:xfrm>
          <a:prstGeom prst="rect">
            <a:avLst/>
          </a:prstGeom>
          <a:noFill/>
        </p:spPr>
        <p:txBody>
          <a:bodyPr vert="horz" wrap="square" lIns="0" tIns="0" rIns="0" bIns="0" rtlCol="0">
            <a:noAutofit/>
          </a:bodyPr>
          <a:lstStyle/>
          <a:p>
            <a:r>
              <a:rPr lang="vi-VN" sz="500" b="1">
                <a:solidFill>
                  <a:srgbClr val="7AA2F7"/>
                </a:solidFill>
                <a:latin typeface="Aptos" panose="020B0004020202020204" pitchFamily="34" charset="0"/>
              </a:rPr>
              <a:t>MH</a:t>
            </a:r>
          </a:p>
        </p:txBody>
      </p:sp>
      <p:sp>
        <p:nvSpPr>
          <p:cNvPr id="13" name="HTML Text 12">
            <a:extLst>
              <a:ext uri="{FF2B5EF4-FFF2-40B4-BE49-F238E27FC236}">
                <a16:creationId xmlns:a16="http://schemas.microsoft.com/office/drawing/2014/main" id="{8DB38257-F1E7-FC98-4EF4-27C58515C2E9}"/>
              </a:ext>
            </a:extLst>
          </p:cNvPr>
          <p:cNvSpPr txBox="1"/>
          <p:nvPr/>
        </p:nvSpPr>
        <p:spPr>
          <a:xfrm>
            <a:off x="990279" y="3705676"/>
            <a:ext cx="6223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Minh Hoàng
Trò chuyện trực tiếp</a:t>
            </a:r>
          </a:p>
        </p:txBody>
      </p:sp>
      <p:sp>
        <p:nvSpPr>
          <p:cNvPr id="14" name="HTML Text 13">
            <a:extLst>
              <a:ext uri="{FF2B5EF4-FFF2-40B4-BE49-F238E27FC236}">
                <a16:creationId xmlns:a16="http://schemas.microsoft.com/office/drawing/2014/main" id="{C2B85E9E-674C-35ED-9B3E-C3A227DD5696}"/>
              </a:ext>
            </a:extLst>
          </p:cNvPr>
          <p:cNvSpPr txBox="1"/>
          <p:nvPr/>
        </p:nvSpPr>
        <p:spPr>
          <a:xfrm>
            <a:off x="707342" y="4447635"/>
            <a:ext cx="241300" cy="276999"/>
          </a:xfrm>
          <a:prstGeom prst="rect">
            <a:avLst/>
          </a:prstGeom>
          <a:noFill/>
        </p:spPr>
        <p:txBody>
          <a:bodyPr vert="horz" wrap="square" lIns="0" tIns="0" rIns="0" bIns="0" rtlCol="0">
            <a:noAutofit/>
          </a:bodyPr>
          <a:lstStyle/>
          <a:p>
            <a:r>
              <a:rPr lang="vi-VN" sz="500" b="1">
                <a:solidFill>
                  <a:srgbClr val="7AA2F7"/>
                </a:solidFill>
                <a:latin typeface="Aptos" panose="020B0004020202020204" pitchFamily="34" charset="0"/>
              </a:rPr>
              <a:t>HL</a:t>
            </a:r>
          </a:p>
        </p:txBody>
      </p:sp>
      <p:sp>
        <p:nvSpPr>
          <p:cNvPr id="15" name="HTML Text 14">
            <a:extLst>
              <a:ext uri="{FF2B5EF4-FFF2-40B4-BE49-F238E27FC236}">
                <a16:creationId xmlns:a16="http://schemas.microsoft.com/office/drawing/2014/main" id="{410940DE-794A-9C19-536A-17E1A495C369}"/>
              </a:ext>
            </a:extLst>
          </p:cNvPr>
          <p:cNvSpPr txBox="1"/>
          <p:nvPr/>
        </p:nvSpPr>
        <p:spPr>
          <a:xfrm>
            <a:off x="990279" y="4410868"/>
            <a:ext cx="3937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Hà Linh
BMW X3</a:t>
            </a:r>
          </a:p>
        </p:txBody>
      </p:sp>
      <p:sp>
        <p:nvSpPr>
          <p:cNvPr id="16" name="HTML Text 15">
            <a:extLst>
              <a:ext uri="{FF2B5EF4-FFF2-40B4-BE49-F238E27FC236}">
                <a16:creationId xmlns:a16="http://schemas.microsoft.com/office/drawing/2014/main" id="{46C76BE8-E390-F1B2-27CA-DA5483E0DEF2}"/>
              </a:ext>
            </a:extLst>
          </p:cNvPr>
          <p:cNvSpPr txBox="1"/>
          <p:nvPr/>
        </p:nvSpPr>
        <p:spPr>
          <a:xfrm>
            <a:off x="3768604" y="2889423"/>
            <a:ext cx="5067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2024 Mercedes-Benz G-Class</a:t>
            </a:r>
          </a:p>
        </p:txBody>
      </p:sp>
      <p:sp>
        <p:nvSpPr>
          <p:cNvPr id="17" name="HTML Text 16">
            <a:extLst>
              <a:ext uri="{FF2B5EF4-FFF2-40B4-BE49-F238E27FC236}">
                <a16:creationId xmlns:a16="http://schemas.microsoft.com/office/drawing/2014/main" id="{6D6F79F2-257E-55ED-5DBB-E2137C65C078}"/>
              </a:ext>
            </a:extLst>
          </p:cNvPr>
          <p:cNvSpPr txBox="1"/>
          <p:nvPr/>
        </p:nvSpPr>
        <p:spPr>
          <a:xfrm>
            <a:off x="3768604" y="3087900"/>
            <a:ext cx="5067300" cy="276999"/>
          </a:xfrm>
          <a:prstGeom prst="rect">
            <a:avLst/>
          </a:prstGeom>
          <a:noFill/>
        </p:spPr>
        <p:txBody>
          <a:bodyPr vert="horz" wrap="square" lIns="0" tIns="0" rIns="0" bIns="0" rtlCol="0">
            <a:noAutofit/>
          </a:bodyPr>
          <a:lstStyle/>
          <a:p>
            <a:r>
              <a:rPr lang="vi-VN" sz="600">
                <a:solidFill>
                  <a:srgbClr val="7AA2F7"/>
                </a:solidFill>
                <a:latin typeface="Aptos" panose="020B0004020202020204" pitchFamily="34" charset="0"/>
              </a:rPr>
              <a:t>10.950.000.000 ₫</a:t>
            </a:r>
          </a:p>
        </p:txBody>
      </p:sp>
      <p:sp>
        <p:nvSpPr>
          <p:cNvPr id="18" name="HTML Text 17">
            <a:extLst>
              <a:ext uri="{FF2B5EF4-FFF2-40B4-BE49-F238E27FC236}">
                <a16:creationId xmlns:a16="http://schemas.microsoft.com/office/drawing/2014/main" id="{35CAD6A3-1C85-FC19-FA0D-B242738F88EC}"/>
              </a:ext>
            </a:extLst>
          </p:cNvPr>
          <p:cNvSpPr txBox="1"/>
          <p:nvPr/>
        </p:nvSpPr>
        <p:spPr>
          <a:xfrm>
            <a:off x="3691440" y="3390497"/>
            <a:ext cx="3975100" cy="276999"/>
          </a:xfrm>
          <a:prstGeom prst="rect">
            <a:avLst/>
          </a:prstGeom>
          <a:noFill/>
        </p:spPr>
        <p:txBody>
          <a:bodyPr vert="horz" wrap="square" lIns="0" tIns="0" rIns="0" bIns="0" rtlCol="0">
            <a:noAutofit/>
          </a:bodyPr>
          <a:lstStyle/>
          <a:p>
            <a:r>
              <a:rPr lang="vi-VN" sz="600">
                <a:solidFill>
                  <a:srgbClr val="C0CAF5"/>
                </a:solidFill>
                <a:latin typeface="Aptos" panose="020B0004020202020204" pitchFamily="34" charset="0"/>
              </a:rPr>
              <a:t>Xe này còn không bạn?</a:t>
            </a:r>
          </a:p>
        </p:txBody>
      </p:sp>
      <p:sp>
        <p:nvSpPr>
          <p:cNvPr id="19" name="HTML Text 18">
            <a:extLst>
              <a:ext uri="{FF2B5EF4-FFF2-40B4-BE49-F238E27FC236}">
                <a16:creationId xmlns:a16="http://schemas.microsoft.com/office/drawing/2014/main" id="{4BCE7A40-916E-4DF1-1C22-7A337AD9D20F}"/>
              </a:ext>
            </a:extLst>
          </p:cNvPr>
          <p:cNvSpPr txBox="1"/>
          <p:nvPr/>
        </p:nvSpPr>
        <p:spPr>
          <a:xfrm>
            <a:off x="4938431" y="3759688"/>
            <a:ext cx="3975100" cy="276999"/>
          </a:xfrm>
          <a:prstGeom prst="rect">
            <a:avLst/>
          </a:prstGeom>
          <a:noFill/>
        </p:spPr>
        <p:txBody>
          <a:bodyPr vert="horz" wrap="square" lIns="0" tIns="0" rIns="0" bIns="0" rtlCol="0">
            <a:noAutofit/>
          </a:bodyPr>
          <a:lstStyle/>
          <a:p>
            <a:r>
              <a:rPr lang="vi-VN" sz="600">
                <a:solidFill>
                  <a:srgbClr val="FFFFFF"/>
                </a:solidFill>
                <a:latin typeface="Aptos" panose="020B0004020202020204" pitchFamily="34" charset="0"/>
              </a:rPr>
              <a:t>Mình muốn trao đổi thêm về phiên bản và lịch xem xe.</a:t>
            </a:r>
          </a:p>
        </p:txBody>
      </p:sp>
      <p:sp>
        <p:nvSpPr>
          <p:cNvPr id="20" name="HTML Text 19">
            <a:extLst>
              <a:ext uri="{FF2B5EF4-FFF2-40B4-BE49-F238E27FC236}">
                <a16:creationId xmlns:a16="http://schemas.microsoft.com/office/drawing/2014/main" id="{B264F719-10E7-CCD3-2FA8-BEA483A34B8B}"/>
              </a:ext>
            </a:extLst>
          </p:cNvPr>
          <p:cNvSpPr txBox="1"/>
          <p:nvPr/>
        </p:nvSpPr>
        <p:spPr>
          <a:xfrm>
            <a:off x="3691440" y="4128878"/>
            <a:ext cx="3975100" cy="276999"/>
          </a:xfrm>
          <a:prstGeom prst="rect">
            <a:avLst/>
          </a:prstGeom>
          <a:noFill/>
        </p:spPr>
        <p:txBody>
          <a:bodyPr vert="horz" wrap="square" lIns="0" tIns="0" rIns="0" bIns="0" rtlCol="0">
            <a:noAutofit/>
          </a:bodyPr>
          <a:lstStyle/>
          <a:p>
            <a:r>
              <a:rPr lang="vi-VN" sz="600" b="1">
                <a:solidFill>
                  <a:srgbClr val="7AA2F7"/>
                </a:solidFill>
                <a:latin typeface="Aptos" panose="020B0004020202020204" pitchFamily="34" charset="0"/>
              </a:rPr>
              <a:t>Mở tin xe ↗</a:t>
            </a:r>
          </a:p>
        </p:txBody>
      </p:sp>
      <p:sp>
        <p:nvSpPr>
          <p:cNvPr id="21" name="HTML Text 20">
            <a:extLst>
              <a:ext uri="{FF2B5EF4-FFF2-40B4-BE49-F238E27FC236}">
                <a16:creationId xmlns:a16="http://schemas.microsoft.com/office/drawing/2014/main" id="{6F72AFF6-DC64-9C29-A7C6-289783FF48C7}"/>
              </a:ext>
            </a:extLst>
          </p:cNvPr>
          <p:cNvSpPr txBox="1"/>
          <p:nvPr/>
        </p:nvSpPr>
        <p:spPr>
          <a:xfrm>
            <a:off x="9311592" y="2903305"/>
            <a:ext cx="2146300" cy="276999"/>
          </a:xfrm>
          <a:prstGeom prst="rect">
            <a:avLst/>
          </a:prstGeom>
          <a:noFill/>
        </p:spPr>
        <p:txBody>
          <a:bodyPr vert="horz" wrap="square" lIns="0" tIns="0" rIns="0" bIns="0" rtlCol="0">
            <a:noAutofit/>
          </a:bodyPr>
          <a:lstStyle/>
          <a:p>
            <a:r>
              <a:rPr lang="vi-VN" sz="1300" b="1">
                <a:solidFill>
                  <a:srgbClr val="7AA2F7"/>
                </a:solidFill>
                <a:latin typeface="Aptos" panose="020B0004020202020204" pitchFamily="34" charset="0"/>
              </a:rPr>
              <a:t>200</a:t>
            </a:r>
          </a:p>
        </p:txBody>
      </p:sp>
      <p:sp>
        <p:nvSpPr>
          <p:cNvPr id="22" name="HTML Text 21">
            <a:extLst>
              <a:ext uri="{FF2B5EF4-FFF2-40B4-BE49-F238E27FC236}">
                <a16:creationId xmlns:a16="http://schemas.microsoft.com/office/drawing/2014/main" id="{70E5A8EB-C98B-6463-F583-F8031F6CF723}"/>
              </a:ext>
            </a:extLst>
          </p:cNvPr>
          <p:cNvSpPr txBox="1"/>
          <p:nvPr/>
        </p:nvSpPr>
        <p:spPr>
          <a:xfrm>
            <a:off x="9311592" y="3192020"/>
            <a:ext cx="2146300" cy="276999"/>
          </a:xfrm>
          <a:prstGeom prst="rect">
            <a:avLst/>
          </a:prstGeom>
          <a:noFill/>
        </p:spPr>
        <p:txBody>
          <a:bodyPr vert="horz" wrap="square" lIns="0" tIns="0" rIns="0" bIns="0" rtlCol="0">
            <a:noAutofit/>
          </a:bodyPr>
          <a:lstStyle/>
          <a:p>
            <a:r>
              <a:rPr lang="vi-VN" sz="500">
                <a:solidFill>
                  <a:srgbClr val="565F89"/>
                </a:solidFill>
                <a:latin typeface="Aptos" panose="020B0004020202020204" pitchFamily="34" charset="0"/>
              </a:rPr>
              <a:t>message gần nhất</a:t>
            </a:r>
          </a:p>
        </p:txBody>
      </p:sp>
      <p:sp>
        <p:nvSpPr>
          <p:cNvPr id="23" name="HTML Text 22">
            <a:extLst>
              <a:ext uri="{FF2B5EF4-FFF2-40B4-BE49-F238E27FC236}">
                <a16:creationId xmlns:a16="http://schemas.microsoft.com/office/drawing/2014/main" id="{5C2AF243-31A1-AED1-B392-0E591258008A}"/>
              </a:ext>
            </a:extLst>
          </p:cNvPr>
          <p:cNvSpPr txBox="1"/>
          <p:nvPr/>
        </p:nvSpPr>
        <p:spPr>
          <a:xfrm>
            <a:off x="9311592" y="3629321"/>
            <a:ext cx="2146300" cy="276999"/>
          </a:xfrm>
          <a:prstGeom prst="rect">
            <a:avLst/>
          </a:prstGeom>
          <a:noFill/>
        </p:spPr>
        <p:txBody>
          <a:bodyPr vert="horz" wrap="square" lIns="0" tIns="0" rIns="0" bIns="0" rtlCol="0">
            <a:noAutofit/>
          </a:bodyPr>
          <a:lstStyle/>
          <a:p>
            <a:r>
              <a:rPr lang="vi-VN" sz="1300" b="1">
                <a:solidFill>
                  <a:srgbClr val="7AA2F7"/>
                </a:solidFill>
                <a:latin typeface="Aptos" panose="020B0004020202020204" pitchFamily="34" charset="0"/>
              </a:rPr>
              <a:t>5s</a:t>
            </a:r>
          </a:p>
        </p:txBody>
      </p:sp>
      <p:sp>
        <p:nvSpPr>
          <p:cNvPr id="24" name="HTML Text 23">
            <a:extLst>
              <a:ext uri="{FF2B5EF4-FFF2-40B4-BE49-F238E27FC236}">
                <a16:creationId xmlns:a16="http://schemas.microsoft.com/office/drawing/2014/main" id="{19B5D6ED-B494-95C3-F425-69B6F82921A6}"/>
              </a:ext>
            </a:extLst>
          </p:cNvPr>
          <p:cNvSpPr txBox="1"/>
          <p:nvPr/>
        </p:nvSpPr>
        <p:spPr>
          <a:xfrm>
            <a:off x="9311592" y="3918036"/>
            <a:ext cx="2146300" cy="276999"/>
          </a:xfrm>
          <a:prstGeom prst="rect">
            <a:avLst/>
          </a:prstGeom>
          <a:noFill/>
        </p:spPr>
        <p:txBody>
          <a:bodyPr vert="horz" wrap="square" lIns="0" tIns="0" rIns="0" bIns="0" rtlCol="0">
            <a:noAutofit/>
          </a:bodyPr>
          <a:lstStyle/>
          <a:p>
            <a:r>
              <a:rPr lang="vi-VN" sz="500">
                <a:solidFill>
                  <a:srgbClr val="565F89"/>
                </a:solidFill>
                <a:latin typeface="Aptos" panose="020B0004020202020204" pitchFamily="34" charset="0"/>
              </a:rPr>
              <a:t>chu kỳ polling khi dock mở</a:t>
            </a:r>
          </a:p>
        </p:txBody>
      </p:sp>
      <p:sp>
        <p:nvSpPr>
          <p:cNvPr id="25" name="HTML Text 24">
            <a:extLst>
              <a:ext uri="{FF2B5EF4-FFF2-40B4-BE49-F238E27FC236}">
                <a16:creationId xmlns:a16="http://schemas.microsoft.com/office/drawing/2014/main" id="{0E67C798-EE9F-8EB1-E728-BCA1C3D7D985}"/>
              </a:ext>
            </a:extLst>
          </p:cNvPr>
          <p:cNvSpPr txBox="1"/>
          <p:nvPr/>
        </p:nvSpPr>
        <p:spPr>
          <a:xfrm>
            <a:off x="9311592" y="4355338"/>
            <a:ext cx="2146300" cy="276999"/>
          </a:xfrm>
          <a:prstGeom prst="rect">
            <a:avLst/>
          </a:prstGeom>
          <a:noFill/>
        </p:spPr>
        <p:txBody>
          <a:bodyPr vert="horz" wrap="square" lIns="0" tIns="0" rIns="0" bIns="0" rtlCol="0">
            <a:noAutofit/>
          </a:bodyPr>
          <a:lstStyle/>
          <a:p>
            <a:r>
              <a:rPr lang="vi-VN" sz="1300" b="1">
                <a:solidFill>
                  <a:srgbClr val="7AA2F7"/>
                </a:solidFill>
                <a:latin typeface="Aptos" panose="020B0004020202020204" pitchFamily="34" charset="0"/>
              </a:rPr>
              <a:t>2</a:t>
            </a:r>
          </a:p>
        </p:txBody>
      </p:sp>
      <p:sp>
        <p:nvSpPr>
          <p:cNvPr id="26" name="HTML Text 25">
            <a:extLst>
              <a:ext uri="{FF2B5EF4-FFF2-40B4-BE49-F238E27FC236}">
                <a16:creationId xmlns:a16="http://schemas.microsoft.com/office/drawing/2014/main" id="{FA4957E6-FF1B-4594-CBD4-4A53C0A5AC3C}"/>
              </a:ext>
            </a:extLst>
          </p:cNvPr>
          <p:cNvSpPr txBox="1"/>
          <p:nvPr/>
        </p:nvSpPr>
        <p:spPr>
          <a:xfrm>
            <a:off x="9311592" y="4644052"/>
            <a:ext cx="2146300" cy="276999"/>
          </a:xfrm>
          <a:prstGeom prst="rect">
            <a:avLst/>
          </a:prstGeom>
          <a:noFill/>
        </p:spPr>
        <p:txBody>
          <a:bodyPr vert="horz" wrap="square" lIns="0" tIns="0" rIns="0" bIns="0" rtlCol="0">
            <a:noAutofit/>
          </a:bodyPr>
          <a:lstStyle/>
          <a:p>
            <a:r>
              <a:rPr lang="vi-VN" sz="500">
                <a:solidFill>
                  <a:srgbClr val="565F89"/>
                </a:solidFill>
                <a:latin typeface="Aptos" panose="020B0004020202020204" pitchFamily="34" charset="0"/>
              </a:rPr>
              <a:t>loại chia sẻ: bài &amp; tin xe</a:t>
            </a:r>
          </a:p>
        </p:txBody>
      </p:sp>
      <p:sp>
        <p:nvSpPr>
          <p:cNvPr id="27" name="TextBox 26">
            <a:extLst>
              <a:ext uri="{FF2B5EF4-FFF2-40B4-BE49-F238E27FC236}">
                <a16:creationId xmlns:a16="http://schemas.microsoft.com/office/drawing/2014/main" id="{FAE61930-1F4C-4890-26E2-8BF84C18C33E}"/>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12 / 24</a:t>
            </a:r>
          </a:p>
        </p:txBody>
      </p:sp>
    </p:spTree>
    <p:extLst>
      <p:ext uri="{BB962C8B-B14F-4D97-AF65-F5344CB8AC3E}">
        <p14:creationId xmlns:p14="http://schemas.microsoft.com/office/powerpoint/2010/main" val="2441545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442ECEE4-977B-7553-769C-50EB440EAB49}"/>
              </a:ext>
            </a:extLst>
          </p:cNvPr>
          <p:cNvSpPr/>
          <p:nvPr/>
        </p:nvSpPr>
        <p:spPr>
          <a:xfrm>
            <a:off x="565873" y="2379129"/>
            <a:ext cx="5472254"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906ECF51-C540-0BCD-7E7F-96BFC9F4DBD6}"/>
              </a:ext>
            </a:extLst>
          </p:cNvPr>
          <p:cNvSpPr/>
          <p:nvPr/>
        </p:nvSpPr>
        <p:spPr>
          <a:xfrm>
            <a:off x="565873" y="3238331"/>
            <a:ext cx="5472254"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759F0D72-2840-CFC9-7C24-45AD67B53528}"/>
              </a:ext>
            </a:extLst>
          </p:cNvPr>
          <p:cNvSpPr/>
          <p:nvPr/>
        </p:nvSpPr>
        <p:spPr>
          <a:xfrm>
            <a:off x="565873" y="4097534"/>
            <a:ext cx="5472254"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EC2D3C66-61FD-6D90-746B-9C936524A94D}"/>
              </a:ext>
            </a:extLst>
          </p:cNvPr>
          <p:cNvSpPr/>
          <p:nvPr/>
        </p:nvSpPr>
        <p:spPr>
          <a:xfrm>
            <a:off x="565873" y="4956736"/>
            <a:ext cx="5472254"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1F9EE93C-33B6-FCF8-7B47-FE3D39C6E40E}"/>
              </a:ext>
            </a:extLst>
          </p:cNvPr>
          <p:cNvSpPr/>
          <p:nvPr/>
        </p:nvSpPr>
        <p:spPr>
          <a:xfrm>
            <a:off x="6153874" y="2379129"/>
            <a:ext cx="5472253"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A37495A8-6FF7-016C-33E9-2D9C56B818EA}"/>
              </a:ext>
            </a:extLst>
          </p:cNvPr>
          <p:cNvSpPr/>
          <p:nvPr/>
        </p:nvSpPr>
        <p:spPr>
          <a:xfrm>
            <a:off x="6153874" y="3238331"/>
            <a:ext cx="5472253"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00CE21A6-B983-3EAE-ADE3-165EBA21D172}"/>
              </a:ext>
            </a:extLst>
          </p:cNvPr>
          <p:cNvSpPr/>
          <p:nvPr/>
        </p:nvSpPr>
        <p:spPr>
          <a:xfrm>
            <a:off x="6153874" y="4097534"/>
            <a:ext cx="5472253"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Shape 8">
            <a:extLst>
              <a:ext uri="{FF2B5EF4-FFF2-40B4-BE49-F238E27FC236}">
                <a16:creationId xmlns:a16="http://schemas.microsoft.com/office/drawing/2014/main" id="{9032BC07-034A-FD21-E8D0-5631AD53D943}"/>
              </a:ext>
            </a:extLst>
          </p:cNvPr>
          <p:cNvSpPr/>
          <p:nvPr/>
        </p:nvSpPr>
        <p:spPr>
          <a:xfrm>
            <a:off x="6153874" y="4956736"/>
            <a:ext cx="5472253" cy="789789"/>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TML Text 9">
            <a:extLst>
              <a:ext uri="{FF2B5EF4-FFF2-40B4-BE49-F238E27FC236}">
                <a16:creationId xmlns:a16="http://schemas.microsoft.com/office/drawing/2014/main" id="{D2C383B0-8674-0AB1-7709-B1CAAD00D48E}"/>
              </a:ext>
            </a:extLst>
          </p:cNvPr>
          <p:cNvSpPr txBox="1"/>
          <p:nvPr/>
        </p:nvSpPr>
        <p:spPr>
          <a:xfrm>
            <a:off x="565873" y="1111475"/>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11 · ENGAGEMENT</a:t>
            </a:r>
          </a:p>
        </p:txBody>
      </p:sp>
      <p:sp>
        <p:nvSpPr>
          <p:cNvPr id="11" name="HTML Text 10">
            <a:extLst>
              <a:ext uri="{FF2B5EF4-FFF2-40B4-BE49-F238E27FC236}">
                <a16:creationId xmlns:a16="http://schemas.microsoft.com/office/drawing/2014/main" id="{524EB27C-CF48-27BD-AE88-18E41AF2F101}"/>
              </a:ext>
            </a:extLst>
          </p:cNvPr>
          <p:cNvSpPr txBox="1"/>
          <p:nvPr/>
        </p:nvSpPr>
        <p:spPr>
          <a:xfrm>
            <a:off x="565873" y="1333596"/>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Thông báo có chọn lọc, cài đặt đồng bộ theo tài khoản</a:t>
            </a:r>
          </a:p>
        </p:txBody>
      </p:sp>
      <p:sp>
        <p:nvSpPr>
          <p:cNvPr id="12" name="HTML Text 11">
            <a:extLst>
              <a:ext uri="{FF2B5EF4-FFF2-40B4-BE49-F238E27FC236}">
                <a16:creationId xmlns:a16="http://schemas.microsoft.com/office/drawing/2014/main" id="{78399409-0DB7-D385-AB01-A173E55B7E55}"/>
              </a:ext>
            </a:extLst>
          </p:cNvPr>
          <p:cNvSpPr txBox="1"/>
          <p:nvPr/>
        </p:nvSpPr>
        <p:spPr>
          <a:xfrm>
            <a:off x="675190" y="2649080"/>
            <a:ext cx="254000" cy="276999"/>
          </a:xfrm>
          <a:prstGeom prst="rect">
            <a:avLst/>
          </a:prstGeom>
          <a:noFill/>
        </p:spPr>
        <p:txBody>
          <a:bodyPr vert="horz" wrap="square" lIns="0" tIns="0" rIns="0" bIns="0" rtlCol="0">
            <a:noAutofit/>
          </a:bodyPr>
          <a:lstStyle/>
          <a:p>
            <a:r>
              <a:rPr lang="vi-VN" sz="800">
                <a:solidFill>
                  <a:srgbClr val="7AA2F7"/>
                </a:solidFill>
                <a:latin typeface="Aptos" panose="020B0004020202020204" pitchFamily="34" charset="0"/>
              </a:rPr>
              <a:t>♥</a:t>
            </a:r>
          </a:p>
        </p:txBody>
      </p:sp>
      <p:sp>
        <p:nvSpPr>
          <p:cNvPr id="13" name="HTML Text 12">
            <a:extLst>
              <a:ext uri="{FF2B5EF4-FFF2-40B4-BE49-F238E27FC236}">
                <a16:creationId xmlns:a16="http://schemas.microsoft.com/office/drawing/2014/main" id="{E349EC23-0A45-18FA-28AA-77CD3DA75421}"/>
              </a:ext>
            </a:extLst>
          </p:cNvPr>
          <p:cNvSpPr txBox="1"/>
          <p:nvPr/>
        </p:nvSpPr>
        <p:spPr>
          <a:xfrm>
            <a:off x="990279" y="2608192"/>
            <a:ext cx="9398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Bài viết được thích
Thông báo cộng đồng</a:t>
            </a:r>
          </a:p>
        </p:txBody>
      </p:sp>
      <p:sp>
        <p:nvSpPr>
          <p:cNvPr id="14" name="HTML Text 13">
            <a:extLst>
              <a:ext uri="{FF2B5EF4-FFF2-40B4-BE49-F238E27FC236}">
                <a16:creationId xmlns:a16="http://schemas.microsoft.com/office/drawing/2014/main" id="{12C838E0-3699-9319-C4A2-58F84528F95E}"/>
              </a:ext>
            </a:extLst>
          </p:cNvPr>
          <p:cNvSpPr txBox="1"/>
          <p:nvPr/>
        </p:nvSpPr>
        <p:spPr>
          <a:xfrm>
            <a:off x="675190" y="3508283"/>
            <a:ext cx="254000" cy="276999"/>
          </a:xfrm>
          <a:prstGeom prst="rect">
            <a:avLst/>
          </a:prstGeom>
          <a:noFill/>
        </p:spPr>
        <p:txBody>
          <a:bodyPr vert="horz" wrap="square" lIns="0" tIns="0" rIns="0" bIns="0" rtlCol="0">
            <a:noAutofit/>
          </a:bodyPr>
          <a:lstStyle/>
          <a:p>
            <a:r>
              <a:rPr lang="vi-VN" sz="800">
                <a:solidFill>
                  <a:srgbClr val="7AA2F7"/>
                </a:solidFill>
                <a:latin typeface="Aptos" panose="020B0004020202020204" pitchFamily="34" charset="0"/>
              </a:rPr>
              <a:t>↗</a:t>
            </a:r>
          </a:p>
        </p:txBody>
      </p:sp>
      <p:sp>
        <p:nvSpPr>
          <p:cNvPr id="15" name="HTML Text 14">
            <a:extLst>
              <a:ext uri="{FF2B5EF4-FFF2-40B4-BE49-F238E27FC236}">
                <a16:creationId xmlns:a16="http://schemas.microsoft.com/office/drawing/2014/main" id="{D2623B57-B3A1-F8E9-8A8D-C1A8221DE89D}"/>
              </a:ext>
            </a:extLst>
          </p:cNvPr>
          <p:cNvSpPr txBox="1"/>
          <p:nvPr/>
        </p:nvSpPr>
        <p:spPr>
          <a:xfrm>
            <a:off x="990279" y="3467394"/>
            <a:ext cx="8890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Có người theo dõi
Thông báo tài khoản</a:t>
            </a:r>
          </a:p>
        </p:txBody>
      </p:sp>
      <p:sp>
        <p:nvSpPr>
          <p:cNvPr id="16" name="HTML Text 15">
            <a:extLst>
              <a:ext uri="{FF2B5EF4-FFF2-40B4-BE49-F238E27FC236}">
                <a16:creationId xmlns:a16="http://schemas.microsoft.com/office/drawing/2014/main" id="{04A7CAEB-8973-C41F-D840-0D5E6CEBCCCB}"/>
              </a:ext>
            </a:extLst>
          </p:cNvPr>
          <p:cNvSpPr txBox="1"/>
          <p:nvPr/>
        </p:nvSpPr>
        <p:spPr>
          <a:xfrm>
            <a:off x="675190" y="4367485"/>
            <a:ext cx="254000" cy="276999"/>
          </a:xfrm>
          <a:prstGeom prst="rect">
            <a:avLst/>
          </a:prstGeom>
          <a:noFill/>
        </p:spPr>
        <p:txBody>
          <a:bodyPr vert="horz" wrap="square" lIns="0" tIns="0" rIns="0" bIns="0" rtlCol="0">
            <a:noAutofit/>
          </a:bodyPr>
          <a:lstStyle/>
          <a:p>
            <a:r>
              <a:rPr lang="vi-VN" sz="800">
                <a:solidFill>
                  <a:srgbClr val="7AA2F7"/>
                </a:solidFill>
                <a:latin typeface="Aptos" panose="020B0004020202020204" pitchFamily="34" charset="0"/>
              </a:rPr>
              <a:t>◉</a:t>
            </a:r>
          </a:p>
        </p:txBody>
      </p:sp>
      <p:sp>
        <p:nvSpPr>
          <p:cNvPr id="17" name="HTML Text 16">
            <a:extLst>
              <a:ext uri="{FF2B5EF4-FFF2-40B4-BE49-F238E27FC236}">
                <a16:creationId xmlns:a16="http://schemas.microsoft.com/office/drawing/2014/main" id="{1703AEF2-F577-D4F6-7C7A-55D7F562E5B4}"/>
              </a:ext>
            </a:extLst>
          </p:cNvPr>
          <p:cNvSpPr txBox="1"/>
          <p:nvPr/>
        </p:nvSpPr>
        <p:spPr>
          <a:xfrm>
            <a:off x="990279" y="4326596"/>
            <a:ext cx="7366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Tin nhắn mới
Thông báo hội thoại</a:t>
            </a:r>
          </a:p>
        </p:txBody>
      </p:sp>
      <p:sp>
        <p:nvSpPr>
          <p:cNvPr id="18" name="HTML Text 17">
            <a:extLst>
              <a:ext uri="{FF2B5EF4-FFF2-40B4-BE49-F238E27FC236}">
                <a16:creationId xmlns:a16="http://schemas.microsoft.com/office/drawing/2014/main" id="{5D3DE4F3-0C55-D7D2-747D-39FA8D5A86D4}"/>
              </a:ext>
            </a:extLst>
          </p:cNvPr>
          <p:cNvSpPr txBox="1"/>
          <p:nvPr/>
        </p:nvSpPr>
        <p:spPr>
          <a:xfrm>
            <a:off x="675190" y="5226687"/>
            <a:ext cx="254000" cy="276999"/>
          </a:xfrm>
          <a:prstGeom prst="rect">
            <a:avLst/>
          </a:prstGeom>
          <a:noFill/>
        </p:spPr>
        <p:txBody>
          <a:bodyPr vert="horz" wrap="square" lIns="0" tIns="0" rIns="0" bIns="0" rtlCol="0">
            <a:noAutofit/>
          </a:bodyPr>
          <a:lstStyle/>
          <a:p>
            <a:r>
              <a:rPr lang="vi-VN" sz="800">
                <a:solidFill>
                  <a:srgbClr val="7AA2F7"/>
                </a:solidFill>
                <a:latin typeface="Aptos" panose="020B0004020202020204" pitchFamily="34" charset="0"/>
              </a:rPr>
              <a:t>★</a:t>
            </a:r>
          </a:p>
        </p:txBody>
      </p:sp>
      <p:sp>
        <p:nvSpPr>
          <p:cNvPr id="19" name="HTML Text 18">
            <a:extLst>
              <a:ext uri="{FF2B5EF4-FFF2-40B4-BE49-F238E27FC236}">
                <a16:creationId xmlns:a16="http://schemas.microsoft.com/office/drawing/2014/main" id="{B1A2B00D-4838-BEA3-CC36-AA9D1D0490C2}"/>
              </a:ext>
            </a:extLst>
          </p:cNvPr>
          <p:cNvSpPr txBox="1"/>
          <p:nvPr/>
        </p:nvSpPr>
        <p:spPr>
          <a:xfrm>
            <a:off x="990279" y="5185799"/>
            <a:ext cx="876300" cy="276999"/>
          </a:xfrm>
          <a:prstGeom prst="rect">
            <a:avLst/>
          </a:prstGeom>
          <a:noFill/>
        </p:spPr>
        <p:txBody>
          <a:bodyPr vert="horz" wrap="square" lIns="0" tIns="0" rIns="0" bIns="0" rtlCol="0">
            <a:noAutofit/>
          </a:bodyPr>
          <a:lstStyle/>
          <a:p>
            <a:r>
              <a:rPr lang="vi-VN" sz="800">
                <a:solidFill>
                  <a:srgbClr val="C0CAF5"/>
                </a:solidFill>
                <a:latin typeface="Aptos" panose="020B0004020202020204" pitchFamily="34" charset="0"/>
              </a:rPr>
              <a:t>Tương tác tin xe
Thông báo Marketplace</a:t>
            </a:r>
          </a:p>
        </p:txBody>
      </p:sp>
      <p:sp>
        <p:nvSpPr>
          <p:cNvPr id="20" name="HTML Text 19">
            <a:extLst>
              <a:ext uri="{FF2B5EF4-FFF2-40B4-BE49-F238E27FC236}">
                <a16:creationId xmlns:a16="http://schemas.microsoft.com/office/drawing/2014/main" id="{8ABFEC19-D8CC-7652-8D18-9F9FFE7BB7F8}"/>
              </a:ext>
            </a:extLst>
          </p:cNvPr>
          <p:cNvSpPr txBox="1"/>
          <p:nvPr/>
        </p:nvSpPr>
        <p:spPr>
          <a:xfrm>
            <a:off x="6263190" y="2497131"/>
            <a:ext cx="5283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Giao diện</a:t>
            </a:r>
          </a:p>
        </p:txBody>
      </p:sp>
      <p:sp>
        <p:nvSpPr>
          <p:cNvPr id="21" name="HTML Text 20">
            <a:extLst>
              <a:ext uri="{FF2B5EF4-FFF2-40B4-BE49-F238E27FC236}">
                <a16:creationId xmlns:a16="http://schemas.microsoft.com/office/drawing/2014/main" id="{9D9428AE-393F-05C0-7292-EA2F2205480A}"/>
              </a:ext>
            </a:extLst>
          </p:cNvPr>
          <p:cNvSpPr txBox="1"/>
          <p:nvPr/>
        </p:nvSpPr>
        <p:spPr>
          <a:xfrm>
            <a:off x="6263190" y="2684546"/>
            <a:ext cx="5283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Sáng · Tối · Theo hệ thống</a:t>
            </a:r>
          </a:p>
        </p:txBody>
      </p:sp>
      <p:sp>
        <p:nvSpPr>
          <p:cNvPr id="22" name="HTML Text 21">
            <a:extLst>
              <a:ext uri="{FF2B5EF4-FFF2-40B4-BE49-F238E27FC236}">
                <a16:creationId xmlns:a16="http://schemas.microsoft.com/office/drawing/2014/main" id="{E2048267-07FD-576F-155A-2E8944244893}"/>
              </a:ext>
            </a:extLst>
          </p:cNvPr>
          <p:cNvSpPr txBox="1"/>
          <p:nvPr/>
        </p:nvSpPr>
        <p:spPr>
          <a:xfrm>
            <a:off x="6263190" y="3356334"/>
            <a:ext cx="5283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Khả năng đọc</a:t>
            </a:r>
          </a:p>
        </p:txBody>
      </p:sp>
      <p:sp>
        <p:nvSpPr>
          <p:cNvPr id="23" name="HTML Text 22">
            <a:extLst>
              <a:ext uri="{FF2B5EF4-FFF2-40B4-BE49-F238E27FC236}">
                <a16:creationId xmlns:a16="http://schemas.microsoft.com/office/drawing/2014/main" id="{1FCE6BA6-0BF4-2EAF-BA53-825036946F19}"/>
              </a:ext>
            </a:extLst>
          </p:cNvPr>
          <p:cNvSpPr txBox="1"/>
          <p:nvPr/>
        </p:nvSpPr>
        <p:spPr>
          <a:xfrm>
            <a:off x="6263190" y="3543748"/>
            <a:ext cx="5283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Mật độ hiển thị · Cỡ chữ</a:t>
            </a:r>
          </a:p>
        </p:txBody>
      </p:sp>
      <p:sp>
        <p:nvSpPr>
          <p:cNvPr id="24" name="HTML Text 23">
            <a:extLst>
              <a:ext uri="{FF2B5EF4-FFF2-40B4-BE49-F238E27FC236}">
                <a16:creationId xmlns:a16="http://schemas.microsoft.com/office/drawing/2014/main" id="{91267240-F223-5A26-4673-679A33E5E36F}"/>
              </a:ext>
            </a:extLst>
          </p:cNvPr>
          <p:cNvSpPr txBox="1"/>
          <p:nvPr/>
        </p:nvSpPr>
        <p:spPr>
          <a:xfrm>
            <a:off x="6263190" y="4215536"/>
            <a:ext cx="5283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Trợ lý AI</a:t>
            </a:r>
          </a:p>
        </p:txBody>
      </p:sp>
      <p:sp>
        <p:nvSpPr>
          <p:cNvPr id="25" name="HTML Text 24">
            <a:extLst>
              <a:ext uri="{FF2B5EF4-FFF2-40B4-BE49-F238E27FC236}">
                <a16:creationId xmlns:a16="http://schemas.microsoft.com/office/drawing/2014/main" id="{EBBC5CDD-88BB-B135-D7A3-6D5902B46265}"/>
              </a:ext>
            </a:extLst>
          </p:cNvPr>
          <p:cNvSpPr txBox="1"/>
          <p:nvPr/>
        </p:nvSpPr>
        <p:spPr>
          <a:xfrm>
            <a:off x="6263190" y="4402951"/>
            <a:ext cx="5283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Tự động mở một lần mỗi phiên</a:t>
            </a:r>
          </a:p>
        </p:txBody>
      </p:sp>
      <p:sp>
        <p:nvSpPr>
          <p:cNvPr id="26" name="HTML Text 25">
            <a:extLst>
              <a:ext uri="{FF2B5EF4-FFF2-40B4-BE49-F238E27FC236}">
                <a16:creationId xmlns:a16="http://schemas.microsoft.com/office/drawing/2014/main" id="{D86C502F-B656-BF99-6BE0-289C60C92FE5}"/>
              </a:ext>
            </a:extLst>
          </p:cNvPr>
          <p:cNvSpPr txBox="1"/>
          <p:nvPr/>
        </p:nvSpPr>
        <p:spPr>
          <a:xfrm>
            <a:off x="6263190" y="5074738"/>
            <a:ext cx="5283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Kênh thông báo</a:t>
            </a:r>
          </a:p>
        </p:txBody>
      </p:sp>
      <p:sp>
        <p:nvSpPr>
          <p:cNvPr id="27" name="HTML Text 26">
            <a:extLst>
              <a:ext uri="{FF2B5EF4-FFF2-40B4-BE49-F238E27FC236}">
                <a16:creationId xmlns:a16="http://schemas.microsoft.com/office/drawing/2014/main" id="{B61931FA-43BB-43CE-B9F1-479B74BBBF8E}"/>
              </a:ext>
            </a:extLst>
          </p:cNvPr>
          <p:cNvSpPr txBox="1"/>
          <p:nvPr/>
        </p:nvSpPr>
        <p:spPr>
          <a:xfrm>
            <a:off x="6263190" y="5262153"/>
            <a:ext cx="5283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Cộng đồng · Chợ xe · Tin nhắn</a:t>
            </a:r>
          </a:p>
        </p:txBody>
      </p:sp>
      <p:sp>
        <p:nvSpPr>
          <p:cNvPr id="28" name="TextBox 27">
            <a:extLst>
              <a:ext uri="{FF2B5EF4-FFF2-40B4-BE49-F238E27FC236}">
                <a16:creationId xmlns:a16="http://schemas.microsoft.com/office/drawing/2014/main" id="{F7975DC2-7163-89BA-F759-F1F10B747335}"/>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13 / 24</a:t>
            </a:r>
          </a:p>
        </p:txBody>
      </p:sp>
    </p:spTree>
    <p:extLst>
      <p:ext uri="{BB962C8B-B14F-4D97-AF65-F5344CB8AC3E}">
        <p14:creationId xmlns:p14="http://schemas.microsoft.com/office/powerpoint/2010/main" val="309131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83C968CF-3E21-76E8-51D0-BD559480DFB9}"/>
              </a:ext>
            </a:extLst>
          </p:cNvPr>
          <p:cNvSpPr/>
          <p:nvPr/>
        </p:nvSpPr>
        <p:spPr>
          <a:xfrm>
            <a:off x="565873" y="3338872"/>
            <a:ext cx="2553565" cy="90920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B0802742-444B-E228-7AC9-C1D3F9FC0891}"/>
              </a:ext>
            </a:extLst>
          </p:cNvPr>
          <p:cNvSpPr/>
          <p:nvPr/>
        </p:nvSpPr>
        <p:spPr>
          <a:xfrm>
            <a:off x="3401370" y="3338872"/>
            <a:ext cx="2553664" cy="909201"/>
          </a:xfrm>
          <a:prstGeom prst="roundRect">
            <a:avLst/>
          </a:prstGeom>
          <a:noFill/>
          <a:ln w="6430" cap="flat" cmpd="sng" algn="ctr">
            <a:solidFill>
              <a:srgbClr val="7AA2F7"/>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99CFACB1-0365-92BF-6075-B106301732EC}"/>
              </a:ext>
            </a:extLst>
          </p:cNvPr>
          <p:cNvSpPr/>
          <p:nvPr/>
        </p:nvSpPr>
        <p:spPr>
          <a:xfrm>
            <a:off x="6236966" y="3338872"/>
            <a:ext cx="2553564" cy="90920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226AA5F3-5A28-46C5-4CD7-22A79E8DE395}"/>
              </a:ext>
            </a:extLst>
          </p:cNvPr>
          <p:cNvSpPr/>
          <p:nvPr/>
        </p:nvSpPr>
        <p:spPr>
          <a:xfrm>
            <a:off x="9072462" y="3338872"/>
            <a:ext cx="2553664" cy="90920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C2509C8C-7D98-EAC7-3D9B-8B5E2ED25FD8}"/>
              </a:ext>
            </a:extLst>
          </p:cNvPr>
          <p:cNvSpPr/>
          <p:nvPr/>
        </p:nvSpPr>
        <p:spPr>
          <a:xfrm>
            <a:off x="565873" y="4484077"/>
            <a:ext cx="2716836" cy="302597"/>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510D5F3B-B160-427E-CDF0-A42B969EFA30}"/>
              </a:ext>
            </a:extLst>
          </p:cNvPr>
          <p:cNvSpPr/>
          <p:nvPr/>
        </p:nvSpPr>
        <p:spPr>
          <a:xfrm>
            <a:off x="3347013" y="4484077"/>
            <a:ext cx="2716835" cy="302597"/>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09F4952F-8A77-3A35-5BEE-67941FAF265F}"/>
              </a:ext>
            </a:extLst>
          </p:cNvPr>
          <p:cNvSpPr/>
          <p:nvPr/>
        </p:nvSpPr>
        <p:spPr>
          <a:xfrm>
            <a:off x="6128152" y="4484077"/>
            <a:ext cx="2716835" cy="302597"/>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Shape 8">
            <a:extLst>
              <a:ext uri="{FF2B5EF4-FFF2-40B4-BE49-F238E27FC236}">
                <a16:creationId xmlns:a16="http://schemas.microsoft.com/office/drawing/2014/main" id="{3A8195F2-F5F7-A55B-F087-B6E19FCC4D5C}"/>
              </a:ext>
            </a:extLst>
          </p:cNvPr>
          <p:cNvSpPr/>
          <p:nvPr/>
        </p:nvSpPr>
        <p:spPr>
          <a:xfrm>
            <a:off x="8909291" y="4484077"/>
            <a:ext cx="2716836" cy="302597"/>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TML Text 9">
            <a:extLst>
              <a:ext uri="{FF2B5EF4-FFF2-40B4-BE49-F238E27FC236}">
                <a16:creationId xmlns:a16="http://schemas.microsoft.com/office/drawing/2014/main" id="{1B74C1EE-FE2C-9F8B-4909-B6EDC3DB3F9E}"/>
              </a:ext>
            </a:extLst>
          </p:cNvPr>
          <p:cNvSpPr txBox="1"/>
          <p:nvPr/>
        </p:nvSpPr>
        <p:spPr>
          <a:xfrm>
            <a:off x="565873" y="2071218"/>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12 · AI VEHICLE ASSISTANT</a:t>
            </a:r>
          </a:p>
        </p:txBody>
      </p:sp>
      <p:sp>
        <p:nvSpPr>
          <p:cNvPr id="11" name="HTML Text 10">
            <a:extLst>
              <a:ext uri="{FF2B5EF4-FFF2-40B4-BE49-F238E27FC236}">
                <a16:creationId xmlns:a16="http://schemas.microsoft.com/office/drawing/2014/main" id="{071EC67D-F6E4-A10E-F288-76DA85E551C2}"/>
              </a:ext>
            </a:extLst>
          </p:cNvPr>
          <p:cNvSpPr txBox="1"/>
          <p:nvPr/>
        </p:nvSpPr>
        <p:spPr>
          <a:xfrm>
            <a:off x="565873" y="2293339"/>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Câu hỏi tự nhiên được chuyển thành bộ lọc VND có cấu trúc</a:t>
            </a:r>
          </a:p>
        </p:txBody>
      </p:sp>
      <p:sp>
        <p:nvSpPr>
          <p:cNvPr id="12" name="HTML Text 11">
            <a:extLst>
              <a:ext uri="{FF2B5EF4-FFF2-40B4-BE49-F238E27FC236}">
                <a16:creationId xmlns:a16="http://schemas.microsoft.com/office/drawing/2014/main" id="{9567B7E1-F730-745C-FBA0-721CDF71BDA4}"/>
              </a:ext>
            </a:extLst>
          </p:cNvPr>
          <p:cNvSpPr txBox="1"/>
          <p:nvPr/>
        </p:nvSpPr>
        <p:spPr>
          <a:xfrm>
            <a:off x="675190" y="3498521"/>
            <a:ext cx="2362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INPUT</a:t>
            </a:r>
          </a:p>
        </p:txBody>
      </p:sp>
      <p:sp>
        <p:nvSpPr>
          <p:cNvPr id="13" name="HTML Text 12">
            <a:extLst>
              <a:ext uri="{FF2B5EF4-FFF2-40B4-BE49-F238E27FC236}">
                <a16:creationId xmlns:a16="http://schemas.microsoft.com/office/drawing/2014/main" id="{E42A4FDD-1FA5-DB25-CC11-CD0A047CD216}"/>
              </a:ext>
            </a:extLst>
          </p:cNvPr>
          <p:cNvSpPr txBox="1"/>
          <p:nvPr/>
        </p:nvSpPr>
        <p:spPr>
          <a:xfrm>
            <a:off x="675190" y="3748408"/>
            <a:ext cx="2362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“Tìm 3 mẫu Mercedes đắt nhất”</a:t>
            </a:r>
          </a:p>
        </p:txBody>
      </p:sp>
      <p:sp>
        <p:nvSpPr>
          <p:cNvPr id="14" name="HTML Text 13">
            <a:extLst>
              <a:ext uri="{FF2B5EF4-FFF2-40B4-BE49-F238E27FC236}">
                <a16:creationId xmlns:a16="http://schemas.microsoft.com/office/drawing/2014/main" id="{602FE06C-8FCB-DB2D-03D6-B3BFEE7B20BA}"/>
              </a:ext>
            </a:extLst>
          </p:cNvPr>
          <p:cNvSpPr txBox="1"/>
          <p:nvPr/>
        </p:nvSpPr>
        <p:spPr>
          <a:xfrm>
            <a:off x="675190" y="3981592"/>
            <a:ext cx="2362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Tiếng Việt + lịch sử hội thoại</a:t>
            </a:r>
          </a:p>
        </p:txBody>
      </p:sp>
      <p:sp>
        <p:nvSpPr>
          <p:cNvPr id="15" name="HTML Text 14">
            <a:extLst>
              <a:ext uri="{FF2B5EF4-FFF2-40B4-BE49-F238E27FC236}">
                <a16:creationId xmlns:a16="http://schemas.microsoft.com/office/drawing/2014/main" id="{5E1BC2B6-AF9D-2682-A2E8-2B98A46C93ED}"/>
              </a:ext>
            </a:extLst>
          </p:cNvPr>
          <p:cNvSpPr txBox="1"/>
          <p:nvPr/>
        </p:nvSpPr>
        <p:spPr>
          <a:xfrm>
            <a:off x="3190172" y="3338872"/>
            <a:ext cx="165100" cy="276999"/>
          </a:xfrm>
          <a:prstGeom prst="rect">
            <a:avLst/>
          </a:prstGeom>
          <a:noFill/>
        </p:spPr>
        <p:txBody>
          <a:bodyPr vert="horz" wrap="square" lIns="0" tIns="0" rIns="0" bIns="0" rtlCol="0">
            <a:noAutofit/>
          </a:bodyPr>
          <a:lstStyle/>
          <a:p>
            <a:r>
              <a:rPr lang="vi-VN" sz="1100" i="1">
                <a:solidFill>
                  <a:srgbClr val="7AA2F7"/>
                </a:solidFill>
                <a:latin typeface="Aptos" panose="020B0004020202020204" pitchFamily="34" charset="0"/>
              </a:rPr>
              <a:t>→</a:t>
            </a:r>
          </a:p>
        </p:txBody>
      </p:sp>
      <p:sp>
        <p:nvSpPr>
          <p:cNvPr id="16" name="HTML Text 15">
            <a:extLst>
              <a:ext uri="{FF2B5EF4-FFF2-40B4-BE49-F238E27FC236}">
                <a16:creationId xmlns:a16="http://schemas.microsoft.com/office/drawing/2014/main" id="{BBEA753B-766A-A289-518C-FD1331789A94}"/>
              </a:ext>
            </a:extLst>
          </p:cNvPr>
          <p:cNvSpPr txBox="1"/>
          <p:nvPr/>
        </p:nvSpPr>
        <p:spPr>
          <a:xfrm>
            <a:off x="3510686" y="3498521"/>
            <a:ext cx="2362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INTENT</a:t>
            </a:r>
          </a:p>
        </p:txBody>
      </p:sp>
      <p:sp>
        <p:nvSpPr>
          <p:cNvPr id="17" name="HTML Text 16">
            <a:extLst>
              <a:ext uri="{FF2B5EF4-FFF2-40B4-BE49-F238E27FC236}">
                <a16:creationId xmlns:a16="http://schemas.microsoft.com/office/drawing/2014/main" id="{7D7C68D4-A5EE-1098-2A44-FE3E1E71A9E9}"/>
              </a:ext>
            </a:extLst>
          </p:cNvPr>
          <p:cNvSpPr txBox="1"/>
          <p:nvPr/>
        </p:nvSpPr>
        <p:spPr>
          <a:xfrm>
            <a:off x="3510686" y="3748408"/>
            <a:ext cx="2362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make, limit, sort</a:t>
            </a:r>
          </a:p>
        </p:txBody>
      </p:sp>
      <p:sp>
        <p:nvSpPr>
          <p:cNvPr id="18" name="HTML Text 17">
            <a:extLst>
              <a:ext uri="{FF2B5EF4-FFF2-40B4-BE49-F238E27FC236}">
                <a16:creationId xmlns:a16="http://schemas.microsoft.com/office/drawing/2014/main" id="{43FD732A-81FE-7AA2-DC89-034BBF2E0F82}"/>
              </a:ext>
            </a:extLst>
          </p:cNvPr>
          <p:cNvSpPr txBox="1"/>
          <p:nvPr/>
        </p:nvSpPr>
        <p:spPr>
          <a:xfrm>
            <a:off x="3510686" y="3981592"/>
            <a:ext cx="2362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Mercedes-Benz · 3 · price desc</a:t>
            </a:r>
          </a:p>
        </p:txBody>
      </p:sp>
      <p:sp>
        <p:nvSpPr>
          <p:cNvPr id="19" name="HTML Text 18">
            <a:extLst>
              <a:ext uri="{FF2B5EF4-FFF2-40B4-BE49-F238E27FC236}">
                <a16:creationId xmlns:a16="http://schemas.microsoft.com/office/drawing/2014/main" id="{C54D6F5C-23E6-B785-8E15-DF28638E8F5A}"/>
              </a:ext>
            </a:extLst>
          </p:cNvPr>
          <p:cNvSpPr txBox="1"/>
          <p:nvPr/>
        </p:nvSpPr>
        <p:spPr>
          <a:xfrm>
            <a:off x="6025768" y="3338872"/>
            <a:ext cx="165100" cy="276999"/>
          </a:xfrm>
          <a:prstGeom prst="rect">
            <a:avLst/>
          </a:prstGeom>
          <a:noFill/>
        </p:spPr>
        <p:txBody>
          <a:bodyPr vert="horz" wrap="square" lIns="0" tIns="0" rIns="0" bIns="0" rtlCol="0">
            <a:noAutofit/>
          </a:bodyPr>
          <a:lstStyle/>
          <a:p>
            <a:r>
              <a:rPr lang="vi-VN" sz="1100" i="1">
                <a:solidFill>
                  <a:srgbClr val="7AA2F7"/>
                </a:solidFill>
                <a:latin typeface="Aptos" panose="020B0004020202020204" pitchFamily="34" charset="0"/>
              </a:rPr>
              <a:t>→</a:t>
            </a:r>
          </a:p>
        </p:txBody>
      </p:sp>
      <p:sp>
        <p:nvSpPr>
          <p:cNvPr id="20" name="HTML Text 19">
            <a:extLst>
              <a:ext uri="{FF2B5EF4-FFF2-40B4-BE49-F238E27FC236}">
                <a16:creationId xmlns:a16="http://schemas.microsoft.com/office/drawing/2014/main" id="{E7FB54CC-D23F-5259-F24E-E24223A9897A}"/>
              </a:ext>
            </a:extLst>
          </p:cNvPr>
          <p:cNvSpPr txBox="1"/>
          <p:nvPr/>
        </p:nvSpPr>
        <p:spPr>
          <a:xfrm>
            <a:off x="6346282" y="3498521"/>
            <a:ext cx="2362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DATABASE</a:t>
            </a:r>
          </a:p>
        </p:txBody>
      </p:sp>
      <p:sp>
        <p:nvSpPr>
          <p:cNvPr id="21" name="HTML Text 20">
            <a:extLst>
              <a:ext uri="{FF2B5EF4-FFF2-40B4-BE49-F238E27FC236}">
                <a16:creationId xmlns:a16="http://schemas.microsoft.com/office/drawing/2014/main" id="{B2197140-A335-66AE-9108-717B4F7450F7}"/>
              </a:ext>
            </a:extLst>
          </p:cNvPr>
          <p:cNvSpPr txBox="1"/>
          <p:nvPr/>
        </p:nvSpPr>
        <p:spPr>
          <a:xfrm>
            <a:off x="6346282" y="3748408"/>
            <a:ext cx="2362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Prisma filter</a:t>
            </a:r>
          </a:p>
        </p:txBody>
      </p:sp>
      <p:sp>
        <p:nvSpPr>
          <p:cNvPr id="22" name="HTML Text 21">
            <a:extLst>
              <a:ext uri="{FF2B5EF4-FFF2-40B4-BE49-F238E27FC236}">
                <a16:creationId xmlns:a16="http://schemas.microsoft.com/office/drawing/2014/main" id="{6FD54983-5893-9D94-87A0-3D09CA81CBF2}"/>
              </a:ext>
            </a:extLst>
          </p:cNvPr>
          <p:cNvSpPr txBox="1"/>
          <p:nvPr/>
        </p:nvSpPr>
        <p:spPr>
          <a:xfrm>
            <a:off x="6346282" y="3981592"/>
            <a:ext cx="2362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Lọc cứng đúng hãng và điều kiện</a:t>
            </a:r>
          </a:p>
        </p:txBody>
      </p:sp>
      <p:sp>
        <p:nvSpPr>
          <p:cNvPr id="23" name="HTML Text 22">
            <a:extLst>
              <a:ext uri="{FF2B5EF4-FFF2-40B4-BE49-F238E27FC236}">
                <a16:creationId xmlns:a16="http://schemas.microsoft.com/office/drawing/2014/main" id="{E1E6E73C-3C01-BEEE-E3D5-F17374A46294}"/>
              </a:ext>
            </a:extLst>
          </p:cNvPr>
          <p:cNvSpPr txBox="1"/>
          <p:nvPr/>
        </p:nvSpPr>
        <p:spPr>
          <a:xfrm>
            <a:off x="8861265" y="3338872"/>
            <a:ext cx="165100" cy="276999"/>
          </a:xfrm>
          <a:prstGeom prst="rect">
            <a:avLst/>
          </a:prstGeom>
          <a:noFill/>
        </p:spPr>
        <p:txBody>
          <a:bodyPr vert="horz" wrap="square" lIns="0" tIns="0" rIns="0" bIns="0" rtlCol="0">
            <a:noAutofit/>
          </a:bodyPr>
          <a:lstStyle/>
          <a:p>
            <a:r>
              <a:rPr lang="vi-VN" sz="1100" i="1">
                <a:solidFill>
                  <a:srgbClr val="7AA2F7"/>
                </a:solidFill>
                <a:latin typeface="Aptos" panose="020B0004020202020204" pitchFamily="34" charset="0"/>
              </a:rPr>
              <a:t>→</a:t>
            </a:r>
          </a:p>
        </p:txBody>
      </p:sp>
      <p:sp>
        <p:nvSpPr>
          <p:cNvPr id="24" name="HTML Text 23">
            <a:extLst>
              <a:ext uri="{FF2B5EF4-FFF2-40B4-BE49-F238E27FC236}">
                <a16:creationId xmlns:a16="http://schemas.microsoft.com/office/drawing/2014/main" id="{6B313F54-7835-E8AF-A28A-48A00FA73CB8}"/>
              </a:ext>
            </a:extLst>
          </p:cNvPr>
          <p:cNvSpPr txBox="1"/>
          <p:nvPr/>
        </p:nvSpPr>
        <p:spPr>
          <a:xfrm>
            <a:off x="9181778" y="3498521"/>
            <a:ext cx="2362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RESULT</a:t>
            </a:r>
          </a:p>
        </p:txBody>
      </p:sp>
      <p:sp>
        <p:nvSpPr>
          <p:cNvPr id="25" name="HTML Text 24">
            <a:extLst>
              <a:ext uri="{FF2B5EF4-FFF2-40B4-BE49-F238E27FC236}">
                <a16:creationId xmlns:a16="http://schemas.microsoft.com/office/drawing/2014/main" id="{384CEEE7-F86D-EC1C-44B0-29BC2991B600}"/>
              </a:ext>
            </a:extLst>
          </p:cNvPr>
          <p:cNvSpPr txBox="1"/>
          <p:nvPr/>
        </p:nvSpPr>
        <p:spPr>
          <a:xfrm>
            <a:off x="9181778" y="3748408"/>
            <a:ext cx="2362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3 listing thật</a:t>
            </a:r>
          </a:p>
        </p:txBody>
      </p:sp>
      <p:sp>
        <p:nvSpPr>
          <p:cNvPr id="26" name="HTML Text 25">
            <a:extLst>
              <a:ext uri="{FF2B5EF4-FFF2-40B4-BE49-F238E27FC236}">
                <a16:creationId xmlns:a16="http://schemas.microsoft.com/office/drawing/2014/main" id="{01A0BE54-C7DD-91B2-7A13-0A2758ABB06A}"/>
              </a:ext>
            </a:extLst>
          </p:cNvPr>
          <p:cNvSpPr txBox="1"/>
          <p:nvPr/>
        </p:nvSpPr>
        <p:spPr>
          <a:xfrm>
            <a:off x="9181778" y="3981592"/>
            <a:ext cx="2362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G-Class · EQS · S-Class</a:t>
            </a:r>
          </a:p>
        </p:txBody>
      </p:sp>
      <p:sp>
        <p:nvSpPr>
          <p:cNvPr id="27" name="HTML Text 26">
            <a:extLst>
              <a:ext uri="{FF2B5EF4-FFF2-40B4-BE49-F238E27FC236}">
                <a16:creationId xmlns:a16="http://schemas.microsoft.com/office/drawing/2014/main" id="{B2F420D3-38B3-598A-F371-381A3B9FA607}"/>
              </a:ext>
            </a:extLst>
          </p:cNvPr>
          <p:cNvSpPr txBox="1"/>
          <p:nvPr/>
        </p:nvSpPr>
        <p:spPr>
          <a:xfrm>
            <a:off x="565873" y="4484077"/>
            <a:ext cx="2743200" cy="276999"/>
          </a:xfrm>
          <a:prstGeom prst="rect">
            <a:avLst/>
          </a:prstGeom>
          <a:noFill/>
        </p:spPr>
        <p:txBody>
          <a:bodyPr vert="horz" wrap="square" lIns="0" tIns="0" rIns="0" bIns="0" rtlCol="0">
            <a:noAutofit/>
          </a:bodyPr>
          <a:lstStyle/>
          <a:p>
            <a:pPr algn="ctr"/>
            <a:r>
              <a:rPr lang="vi-VN" sz="600">
                <a:solidFill>
                  <a:srgbClr val="A9B1D6"/>
                </a:solidFill>
                <a:latin typeface="Aptos" panose="020B0004020202020204" pitchFamily="34" charset="0"/>
              </a:rPr>
              <a:t>Không tự tạo listing</a:t>
            </a:r>
          </a:p>
        </p:txBody>
      </p:sp>
      <p:sp>
        <p:nvSpPr>
          <p:cNvPr id="28" name="HTML Text 27">
            <a:extLst>
              <a:ext uri="{FF2B5EF4-FFF2-40B4-BE49-F238E27FC236}">
                <a16:creationId xmlns:a16="http://schemas.microsoft.com/office/drawing/2014/main" id="{71FEA4CE-2B51-62A7-B2D4-198D8DA4F244}"/>
              </a:ext>
            </a:extLst>
          </p:cNvPr>
          <p:cNvSpPr txBox="1"/>
          <p:nvPr/>
        </p:nvSpPr>
        <p:spPr>
          <a:xfrm>
            <a:off x="3347013" y="4484077"/>
            <a:ext cx="2743200" cy="276999"/>
          </a:xfrm>
          <a:prstGeom prst="rect">
            <a:avLst/>
          </a:prstGeom>
          <a:noFill/>
        </p:spPr>
        <p:txBody>
          <a:bodyPr vert="horz" wrap="square" lIns="0" tIns="0" rIns="0" bIns="0" rtlCol="0">
            <a:noAutofit/>
          </a:bodyPr>
          <a:lstStyle/>
          <a:p>
            <a:pPr algn="ctr"/>
            <a:r>
              <a:rPr lang="vi-VN" sz="600">
                <a:solidFill>
                  <a:srgbClr val="A9B1D6"/>
                </a:solidFill>
                <a:latin typeface="Aptos" panose="020B0004020202020204" pitchFamily="34" charset="0"/>
              </a:rPr>
              <a:t>Giá trực tiếp bằng VND</a:t>
            </a:r>
          </a:p>
        </p:txBody>
      </p:sp>
      <p:sp>
        <p:nvSpPr>
          <p:cNvPr id="29" name="HTML Text 28">
            <a:extLst>
              <a:ext uri="{FF2B5EF4-FFF2-40B4-BE49-F238E27FC236}">
                <a16:creationId xmlns:a16="http://schemas.microsoft.com/office/drawing/2014/main" id="{D59DBFCA-B964-AD41-8D3D-30115A3991CE}"/>
              </a:ext>
            </a:extLst>
          </p:cNvPr>
          <p:cNvSpPr txBox="1"/>
          <p:nvPr/>
        </p:nvSpPr>
        <p:spPr>
          <a:xfrm>
            <a:off x="6128152" y="4484077"/>
            <a:ext cx="2743200" cy="276999"/>
          </a:xfrm>
          <a:prstGeom prst="rect">
            <a:avLst/>
          </a:prstGeom>
          <a:noFill/>
        </p:spPr>
        <p:txBody>
          <a:bodyPr vert="horz" wrap="square" lIns="0" tIns="0" rIns="0" bIns="0" rtlCol="0">
            <a:noAutofit/>
          </a:bodyPr>
          <a:lstStyle/>
          <a:p>
            <a:pPr algn="ctr"/>
            <a:r>
              <a:rPr lang="vi-VN" sz="600">
                <a:solidFill>
                  <a:srgbClr val="A9B1D6"/>
                </a:solidFill>
                <a:latin typeface="Aptos" panose="020B0004020202020204" pitchFamily="34" charset="0"/>
              </a:rPr>
              <a:t>Hiểu câu hỏi nối tiếp</a:t>
            </a:r>
          </a:p>
        </p:txBody>
      </p:sp>
      <p:sp>
        <p:nvSpPr>
          <p:cNvPr id="30" name="HTML Text 29">
            <a:extLst>
              <a:ext uri="{FF2B5EF4-FFF2-40B4-BE49-F238E27FC236}">
                <a16:creationId xmlns:a16="http://schemas.microsoft.com/office/drawing/2014/main" id="{8B7D9F22-9F32-9AAD-C8B8-4D2064B661B5}"/>
              </a:ext>
            </a:extLst>
          </p:cNvPr>
          <p:cNvSpPr txBox="1"/>
          <p:nvPr/>
        </p:nvSpPr>
        <p:spPr>
          <a:xfrm>
            <a:off x="8909291" y="4484077"/>
            <a:ext cx="2743200" cy="276999"/>
          </a:xfrm>
          <a:prstGeom prst="rect">
            <a:avLst/>
          </a:prstGeom>
          <a:noFill/>
        </p:spPr>
        <p:txBody>
          <a:bodyPr vert="horz" wrap="square" lIns="0" tIns="0" rIns="0" bIns="0" rtlCol="0">
            <a:noAutofit/>
          </a:bodyPr>
          <a:lstStyle/>
          <a:p>
            <a:pPr algn="ctr"/>
            <a:r>
              <a:rPr lang="vi-VN" sz="600">
                <a:solidFill>
                  <a:srgbClr val="A9B1D6"/>
                </a:solidFill>
                <a:latin typeface="Aptos" panose="020B0004020202020204" pitchFamily="34" charset="0"/>
              </a:rPr>
              <a:t>Tối đa 20 kết quả</a:t>
            </a:r>
          </a:p>
        </p:txBody>
      </p:sp>
      <p:sp>
        <p:nvSpPr>
          <p:cNvPr id="31" name="TextBox 30">
            <a:extLst>
              <a:ext uri="{FF2B5EF4-FFF2-40B4-BE49-F238E27FC236}">
                <a16:creationId xmlns:a16="http://schemas.microsoft.com/office/drawing/2014/main" id="{62BC287C-84E9-FDE2-4128-239F903187F5}"/>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14 / 24</a:t>
            </a:r>
          </a:p>
        </p:txBody>
      </p:sp>
    </p:spTree>
    <p:extLst>
      <p:ext uri="{BB962C8B-B14F-4D97-AF65-F5344CB8AC3E}">
        <p14:creationId xmlns:p14="http://schemas.microsoft.com/office/powerpoint/2010/main" val="3202231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0FCB9D30-FDAD-496C-43A2-F56D015EB248}"/>
              </a:ext>
            </a:extLst>
          </p:cNvPr>
          <p:cNvSpPr/>
          <p:nvPr/>
        </p:nvSpPr>
        <p:spPr>
          <a:xfrm>
            <a:off x="565873" y="3137683"/>
            <a:ext cx="11060253" cy="40530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F649769E-1296-32D2-570F-ADAFA203BF6E}"/>
              </a:ext>
            </a:extLst>
          </p:cNvPr>
          <p:cNvSpPr/>
          <p:nvPr/>
        </p:nvSpPr>
        <p:spPr>
          <a:xfrm>
            <a:off x="565873" y="3619343"/>
            <a:ext cx="11060253" cy="40530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8E652543-258D-FC7C-9A4B-2464915D6F81}"/>
              </a:ext>
            </a:extLst>
          </p:cNvPr>
          <p:cNvSpPr/>
          <p:nvPr/>
        </p:nvSpPr>
        <p:spPr>
          <a:xfrm>
            <a:off x="565873" y="4101004"/>
            <a:ext cx="11060253" cy="40530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D1C433DE-8EA5-BCE3-19A3-CA7FBB3D77F7}"/>
              </a:ext>
            </a:extLst>
          </p:cNvPr>
          <p:cNvSpPr/>
          <p:nvPr/>
        </p:nvSpPr>
        <p:spPr>
          <a:xfrm>
            <a:off x="565873" y="4582665"/>
            <a:ext cx="11060253" cy="40530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Text 5">
            <a:extLst>
              <a:ext uri="{FF2B5EF4-FFF2-40B4-BE49-F238E27FC236}">
                <a16:creationId xmlns:a16="http://schemas.microsoft.com/office/drawing/2014/main" id="{76409678-0D89-E4FD-DF27-29BA5D68B66E}"/>
              </a:ext>
            </a:extLst>
          </p:cNvPr>
          <p:cNvSpPr txBox="1"/>
          <p:nvPr/>
        </p:nvSpPr>
        <p:spPr>
          <a:xfrm>
            <a:off x="565873" y="1870028"/>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13 · AI RELIABILITY</a:t>
            </a:r>
          </a:p>
        </p:txBody>
      </p:sp>
      <p:sp>
        <p:nvSpPr>
          <p:cNvPr id="7" name="HTML Text 6">
            <a:extLst>
              <a:ext uri="{FF2B5EF4-FFF2-40B4-BE49-F238E27FC236}">
                <a16:creationId xmlns:a16="http://schemas.microsoft.com/office/drawing/2014/main" id="{407805B3-4E9F-0DBF-8166-D3D2F6FBA1E3}"/>
              </a:ext>
            </a:extLst>
          </p:cNvPr>
          <p:cNvSpPr txBox="1"/>
          <p:nvPr/>
        </p:nvSpPr>
        <p:spPr>
          <a:xfrm>
            <a:off x="565873" y="2092150"/>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AI phân tích ý định, backend giữ quyền quyết định dữ liệu</a:t>
            </a:r>
          </a:p>
        </p:txBody>
      </p:sp>
      <p:sp>
        <p:nvSpPr>
          <p:cNvPr id="8" name="HTML Text 7">
            <a:extLst>
              <a:ext uri="{FF2B5EF4-FFF2-40B4-BE49-F238E27FC236}">
                <a16:creationId xmlns:a16="http://schemas.microsoft.com/office/drawing/2014/main" id="{721D20EB-28D5-C5F9-7EB1-3D692538367B}"/>
              </a:ext>
            </a:extLst>
          </p:cNvPr>
          <p:cNvSpPr txBox="1"/>
          <p:nvPr/>
        </p:nvSpPr>
        <p:spPr>
          <a:xfrm>
            <a:off x="700911" y="3262626"/>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01</a:t>
            </a:r>
          </a:p>
        </p:txBody>
      </p:sp>
      <p:sp>
        <p:nvSpPr>
          <p:cNvPr id="9" name="HTML Text 8">
            <a:extLst>
              <a:ext uri="{FF2B5EF4-FFF2-40B4-BE49-F238E27FC236}">
                <a16:creationId xmlns:a16="http://schemas.microsoft.com/office/drawing/2014/main" id="{6A23278E-7AA0-059C-8CCE-0067978BB646}"/>
              </a:ext>
            </a:extLst>
          </p:cNvPr>
          <p:cNvSpPr txBox="1"/>
          <p:nvPr/>
        </p:nvSpPr>
        <p:spPr>
          <a:xfrm>
            <a:off x="1035291" y="3262626"/>
            <a:ext cx="104775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Structured outputOpenRouter trả JSON theo schema, không trả văn bản tự do cho bộ lọc.</a:t>
            </a:r>
          </a:p>
        </p:txBody>
      </p:sp>
      <p:sp>
        <p:nvSpPr>
          <p:cNvPr id="10" name="HTML Text 9">
            <a:extLst>
              <a:ext uri="{FF2B5EF4-FFF2-40B4-BE49-F238E27FC236}">
                <a16:creationId xmlns:a16="http://schemas.microsoft.com/office/drawing/2014/main" id="{EAC26C86-A191-E542-E796-22241F5B8CB0}"/>
              </a:ext>
            </a:extLst>
          </p:cNvPr>
          <p:cNvSpPr txBox="1"/>
          <p:nvPr/>
        </p:nvSpPr>
        <p:spPr>
          <a:xfrm>
            <a:off x="700911" y="3744287"/>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02</a:t>
            </a:r>
          </a:p>
        </p:txBody>
      </p:sp>
      <p:sp>
        <p:nvSpPr>
          <p:cNvPr id="11" name="HTML Text 10">
            <a:extLst>
              <a:ext uri="{FF2B5EF4-FFF2-40B4-BE49-F238E27FC236}">
                <a16:creationId xmlns:a16="http://schemas.microsoft.com/office/drawing/2014/main" id="{D9EFFC29-10FA-5BA4-AFF0-AD76A0A4AF44}"/>
              </a:ext>
            </a:extLst>
          </p:cNvPr>
          <p:cNvSpPr txBox="1"/>
          <p:nvPr/>
        </p:nvSpPr>
        <p:spPr>
          <a:xfrm>
            <a:off x="1035291" y="3744287"/>
            <a:ext cx="104775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Hard filteringHãng, mẫu, kiểu xe, năm, nhiên liệu, hộp số và giá là điều kiện bắt buộc.</a:t>
            </a:r>
          </a:p>
        </p:txBody>
      </p:sp>
      <p:sp>
        <p:nvSpPr>
          <p:cNvPr id="12" name="HTML Text 11">
            <a:extLst>
              <a:ext uri="{FF2B5EF4-FFF2-40B4-BE49-F238E27FC236}">
                <a16:creationId xmlns:a16="http://schemas.microsoft.com/office/drawing/2014/main" id="{7157C9F8-9639-06E7-2A1E-93448F742D07}"/>
              </a:ext>
            </a:extLst>
          </p:cNvPr>
          <p:cNvSpPr txBox="1"/>
          <p:nvPr/>
        </p:nvSpPr>
        <p:spPr>
          <a:xfrm>
            <a:off x="700911" y="4225947"/>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03</a:t>
            </a:r>
          </a:p>
        </p:txBody>
      </p:sp>
      <p:sp>
        <p:nvSpPr>
          <p:cNvPr id="13" name="HTML Text 12">
            <a:extLst>
              <a:ext uri="{FF2B5EF4-FFF2-40B4-BE49-F238E27FC236}">
                <a16:creationId xmlns:a16="http://schemas.microsoft.com/office/drawing/2014/main" id="{9A6DD6CC-7C13-67AB-1AD0-D7D61F1CD420}"/>
              </a:ext>
            </a:extLst>
          </p:cNvPr>
          <p:cNvSpPr txBox="1"/>
          <p:nvPr/>
        </p:nvSpPr>
        <p:spPr>
          <a:xfrm>
            <a:off x="1035291" y="4225947"/>
            <a:ext cx="104775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Local fallbackTruy vấn phổ biến được xử lý nội bộ để giảm timeout và phụ thuộc model.</a:t>
            </a:r>
          </a:p>
        </p:txBody>
      </p:sp>
      <p:sp>
        <p:nvSpPr>
          <p:cNvPr id="14" name="HTML Text 13">
            <a:extLst>
              <a:ext uri="{FF2B5EF4-FFF2-40B4-BE49-F238E27FC236}">
                <a16:creationId xmlns:a16="http://schemas.microsoft.com/office/drawing/2014/main" id="{4AF8A24A-4A73-D15B-95E7-29A7EF926F19}"/>
              </a:ext>
            </a:extLst>
          </p:cNvPr>
          <p:cNvSpPr txBox="1"/>
          <p:nvPr/>
        </p:nvSpPr>
        <p:spPr>
          <a:xfrm>
            <a:off x="700911" y="4707608"/>
            <a:ext cx="355600" cy="276999"/>
          </a:xfrm>
          <a:prstGeom prst="rect">
            <a:avLst/>
          </a:prstGeom>
          <a:noFill/>
        </p:spPr>
        <p:txBody>
          <a:bodyPr vert="horz" wrap="square" lIns="0" tIns="0" rIns="0" bIns="0" rtlCol="0">
            <a:noAutofit/>
          </a:bodyPr>
          <a:lstStyle/>
          <a:p>
            <a:r>
              <a:rPr lang="vi-VN" sz="700" b="1">
                <a:solidFill>
                  <a:srgbClr val="7AA2F7"/>
                </a:solidFill>
                <a:latin typeface="Consolas" panose="020B0609020204030204" pitchFamily="49" charset="0"/>
              </a:rPr>
              <a:t>04</a:t>
            </a:r>
          </a:p>
        </p:txBody>
      </p:sp>
      <p:sp>
        <p:nvSpPr>
          <p:cNvPr id="15" name="HTML Text 14">
            <a:extLst>
              <a:ext uri="{FF2B5EF4-FFF2-40B4-BE49-F238E27FC236}">
                <a16:creationId xmlns:a16="http://schemas.microsoft.com/office/drawing/2014/main" id="{F2600C1F-DC0D-D620-6A11-75E6252C6130}"/>
              </a:ext>
            </a:extLst>
          </p:cNvPr>
          <p:cNvSpPr txBox="1"/>
          <p:nvPr/>
        </p:nvSpPr>
        <p:spPr>
          <a:xfrm>
            <a:off x="1035291" y="4707608"/>
            <a:ext cx="10477500" cy="276999"/>
          </a:xfrm>
          <a:prstGeom prst="rect">
            <a:avLst/>
          </a:prstGeom>
          <a:noFill/>
        </p:spPr>
        <p:txBody>
          <a:bodyPr vert="horz" wrap="square" lIns="0" tIns="0" rIns="0" bIns="0" rtlCol="0">
            <a:noAutofit/>
          </a:bodyPr>
          <a:lstStyle/>
          <a:p>
            <a:r>
              <a:rPr lang="vi-VN" sz="700">
                <a:solidFill>
                  <a:srgbClr val="A9B1D6"/>
                </a:solidFill>
                <a:latin typeface="Aptos" panose="020B0004020202020204" pitchFamily="34" charset="0"/>
              </a:rPr>
              <a:t>Image allow-listẢnh AI chỉ tải từ host cho phép, đúng MIME và không vượt 4 MB.</a:t>
            </a:r>
          </a:p>
        </p:txBody>
      </p:sp>
      <p:sp>
        <p:nvSpPr>
          <p:cNvPr id="16" name="TextBox 15">
            <a:extLst>
              <a:ext uri="{FF2B5EF4-FFF2-40B4-BE49-F238E27FC236}">
                <a16:creationId xmlns:a16="http://schemas.microsoft.com/office/drawing/2014/main" id="{71B6642A-BE03-C61C-8658-96829F07735C}"/>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15 / 24</a:t>
            </a:r>
          </a:p>
        </p:txBody>
      </p:sp>
    </p:spTree>
    <p:extLst>
      <p:ext uri="{BB962C8B-B14F-4D97-AF65-F5344CB8AC3E}">
        <p14:creationId xmlns:p14="http://schemas.microsoft.com/office/powerpoint/2010/main" val="2305990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1772422E-3BA9-27AC-DD51-D86E9B3D4FC3}"/>
              </a:ext>
            </a:extLst>
          </p:cNvPr>
          <p:cNvSpPr/>
          <p:nvPr/>
        </p:nvSpPr>
        <p:spPr>
          <a:xfrm>
            <a:off x="565873" y="2983564"/>
            <a:ext cx="3630955" cy="709314"/>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8AC69006-7855-E98E-C0D0-11781C116B30}"/>
              </a:ext>
            </a:extLst>
          </p:cNvPr>
          <p:cNvSpPr/>
          <p:nvPr/>
        </p:nvSpPr>
        <p:spPr>
          <a:xfrm>
            <a:off x="4280422" y="2983564"/>
            <a:ext cx="3631055" cy="709314"/>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58459D5A-68C2-3349-2041-E28D2AD8BAB5}"/>
              </a:ext>
            </a:extLst>
          </p:cNvPr>
          <p:cNvSpPr/>
          <p:nvPr/>
        </p:nvSpPr>
        <p:spPr>
          <a:xfrm>
            <a:off x="7995072" y="2983564"/>
            <a:ext cx="3631054" cy="709314"/>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2B2D4B0C-B150-DEB2-ECA7-0BEFEE5F3191}"/>
              </a:ext>
            </a:extLst>
          </p:cNvPr>
          <p:cNvSpPr/>
          <p:nvPr/>
        </p:nvSpPr>
        <p:spPr>
          <a:xfrm>
            <a:off x="565873" y="3783114"/>
            <a:ext cx="3630955" cy="709314"/>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7E31A086-D6D5-B2A9-8A5D-201CA1B33DA6}"/>
              </a:ext>
            </a:extLst>
          </p:cNvPr>
          <p:cNvSpPr/>
          <p:nvPr/>
        </p:nvSpPr>
        <p:spPr>
          <a:xfrm>
            <a:off x="4280422" y="3783114"/>
            <a:ext cx="3631055" cy="709314"/>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D6DA9C94-269F-8397-0243-9D939751DC8E}"/>
              </a:ext>
            </a:extLst>
          </p:cNvPr>
          <p:cNvSpPr/>
          <p:nvPr/>
        </p:nvSpPr>
        <p:spPr>
          <a:xfrm>
            <a:off x="7995072" y="3783114"/>
            <a:ext cx="3631054" cy="709314"/>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F4D38B8E-1C35-EE3C-51F8-48BEAE1A9F1C}"/>
              </a:ext>
            </a:extLst>
          </p:cNvPr>
          <p:cNvSpPr/>
          <p:nvPr/>
        </p:nvSpPr>
        <p:spPr>
          <a:xfrm>
            <a:off x="565873" y="4728432"/>
            <a:ext cx="11060253" cy="413658"/>
          </a:xfrm>
          <a:prstGeom prst="rect">
            <a:avLst/>
          </a:prstGeom>
          <a:noFill/>
          <a:ln w="25722" cap="flat" cmpd="sng" algn="ctr">
            <a:solidFill>
              <a:srgbClr val="A9B1D6"/>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Text 8">
            <a:extLst>
              <a:ext uri="{FF2B5EF4-FFF2-40B4-BE49-F238E27FC236}">
                <a16:creationId xmlns:a16="http://schemas.microsoft.com/office/drawing/2014/main" id="{C1D475F1-4F39-C957-1809-F1D6C7FBFBFA}"/>
              </a:ext>
            </a:extLst>
          </p:cNvPr>
          <p:cNvSpPr txBox="1"/>
          <p:nvPr/>
        </p:nvSpPr>
        <p:spPr>
          <a:xfrm>
            <a:off x="565873" y="1715910"/>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14 · ADMINISTRATION</a:t>
            </a:r>
          </a:p>
        </p:txBody>
      </p:sp>
      <p:sp>
        <p:nvSpPr>
          <p:cNvPr id="10" name="HTML Text 9">
            <a:extLst>
              <a:ext uri="{FF2B5EF4-FFF2-40B4-BE49-F238E27FC236}">
                <a16:creationId xmlns:a16="http://schemas.microsoft.com/office/drawing/2014/main" id="{0DB36BD7-2AF9-3D83-9772-9D6347CE424B}"/>
              </a:ext>
            </a:extLst>
          </p:cNvPr>
          <p:cNvSpPr txBox="1"/>
          <p:nvPr/>
        </p:nvSpPr>
        <p:spPr>
          <a:xfrm>
            <a:off x="565873" y="1938031"/>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Một dashboard để theo dõi và kiểm duyệt toàn hệ thống</a:t>
            </a:r>
          </a:p>
        </p:txBody>
      </p:sp>
      <p:sp>
        <p:nvSpPr>
          <p:cNvPr id="11" name="HTML Text 10">
            <a:extLst>
              <a:ext uri="{FF2B5EF4-FFF2-40B4-BE49-F238E27FC236}">
                <a16:creationId xmlns:a16="http://schemas.microsoft.com/office/drawing/2014/main" id="{3938B888-B797-78DD-DF98-E8926123F6F9}"/>
              </a:ext>
            </a:extLst>
          </p:cNvPr>
          <p:cNvSpPr txBox="1"/>
          <p:nvPr/>
        </p:nvSpPr>
        <p:spPr>
          <a:xfrm>
            <a:off x="707342" y="3136273"/>
            <a:ext cx="3378200" cy="276999"/>
          </a:xfrm>
          <a:prstGeom prst="rect">
            <a:avLst/>
          </a:prstGeom>
          <a:noFill/>
        </p:spPr>
        <p:txBody>
          <a:bodyPr vert="horz" wrap="square" lIns="0" tIns="0" rIns="0" bIns="0" rtlCol="0">
            <a:noAutofit/>
          </a:bodyPr>
          <a:lstStyle/>
          <a:p>
            <a:r>
              <a:rPr lang="vi-VN" sz="1000" b="1">
                <a:solidFill>
                  <a:srgbClr val="7AA2F7"/>
                </a:solidFill>
                <a:latin typeface="Aptos" panose="020B0004020202020204" pitchFamily="34" charset="0"/>
              </a:rPr>
              <a:t>Users</a:t>
            </a:r>
          </a:p>
        </p:txBody>
      </p:sp>
      <p:sp>
        <p:nvSpPr>
          <p:cNvPr id="12" name="HTML Text 11">
            <a:extLst>
              <a:ext uri="{FF2B5EF4-FFF2-40B4-BE49-F238E27FC236}">
                <a16:creationId xmlns:a16="http://schemas.microsoft.com/office/drawing/2014/main" id="{341CC147-1723-8ECD-A8EC-96E960795BD7}"/>
              </a:ext>
            </a:extLst>
          </p:cNvPr>
          <p:cNvSpPr txBox="1"/>
          <p:nvPr/>
        </p:nvSpPr>
        <p:spPr>
          <a:xfrm>
            <a:off x="707342" y="3406983"/>
            <a:ext cx="3378200" cy="276999"/>
          </a:xfrm>
          <a:prstGeom prst="rect">
            <a:avLst/>
          </a:prstGeom>
          <a:noFill/>
        </p:spPr>
        <p:txBody>
          <a:bodyPr vert="horz" wrap="square" lIns="0" tIns="0" rIns="0" bIns="0" rtlCol="0">
            <a:noAutofit/>
          </a:bodyPr>
          <a:lstStyle/>
          <a:p>
            <a:r>
              <a:rPr lang="en-US" sz="600">
                <a:solidFill>
                  <a:srgbClr val="565F89"/>
                </a:solidFill>
                <a:latin typeface="Aptos" panose="020B0004020202020204" pitchFamily="34" charset="0"/>
              </a:rPr>
              <a:t>Tài khoản · verified · vai trò</a:t>
            </a:r>
            <a:endParaRPr lang="vi-VN" sz="600">
              <a:solidFill>
                <a:srgbClr val="565F89"/>
              </a:solidFill>
              <a:latin typeface="Aptos" panose="020B0004020202020204" pitchFamily="34" charset="0"/>
            </a:endParaRPr>
          </a:p>
        </p:txBody>
      </p:sp>
      <p:sp>
        <p:nvSpPr>
          <p:cNvPr id="13" name="HTML Text 12">
            <a:extLst>
              <a:ext uri="{FF2B5EF4-FFF2-40B4-BE49-F238E27FC236}">
                <a16:creationId xmlns:a16="http://schemas.microsoft.com/office/drawing/2014/main" id="{9CE85763-D3E0-C9D2-D14B-E9B8C6A0CD7E}"/>
              </a:ext>
            </a:extLst>
          </p:cNvPr>
          <p:cNvSpPr txBox="1"/>
          <p:nvPr/>
        </p:nvSpPr>
        <p:spPr>
          <a:xfrm>
            <a:off x="4421891" y="3136273"/>
            <a:ext cx="3378200" cy="276999"/>
          </a:xfrm>
          <a:prstGeom prst="rect">
            <a:avLst/>
          </a:prstGeom>
          <a:noFill/>
        </p:spPr>
        <p:txBody>
          <a:bodyPr vert="horz" wrap="square" lIns="0" tIns="0" rIns="0" bIns="0" rtlCol="0">
            <a:noAutofit/>
          </a:bodyPr>
          <a:lstStyle/>
          <a:p>
            <a:r>
              <a:rPr lang="vi-VN" sz="1000" b="1">
                <a:solidFill>
                  <a:srgbClr val="7AA2F7"/>
                </a:solidFill>
                <a:latin typeface="Aptos" panose="020B0004020202020204" pitchFamily="34" charset="0"/>
              </a:rPr>
              <a:t>Posts</a:t>
            </a:r>
          </a:p>
        </p:txBody>
      </p:sp>
      <p:sp>
        <p:nvSpPr>
          <p:cNvPr id="14" name="HTML Text 13">
            <a:extLst>
              <a:ext uri="{FF2B5EF4-FFF2-40B4-BE49-F238E27FC236}">
                <a16:creationId xmlns:a16="http://schemas.microsoft.com/office/drawing/2014/main" id="{6D1CAB91-2A9E-90F2-FC30-21D920FD6B58}"/>
              </a:ext>
            </a:extLst>
          </p:cNvPr>
          <p:cNvSpPr txBox="1"/>
          <p:nvPr/>
        </p:nvSpPr>
        <p:spPr>
          <a:xfrm>
            <a:off x="4421891" y="3406983"/>
            <a:ext cx="3378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Đăng · ẩn · xóa nội dung</a:t>
            </a:r>
          </a:p>
        </p:txBody>
      </p:sp>
      <p:sp>
        <p:nvSpPr>
          <p:cNvPr id="15" name="HTML Text 14">
            <a:extLst>
              <a:ext uri="{FF2B5EF4-FFF2-40B4-BE49-F238E27FC236}">
                <a16:creationId xmlns:a16="http://schemas.microsoft.com/office/drawing/2014/main" id="{E571999F-01EC-31A6-C78B-EFBC64AAEA66}"/>
              </a:ext>
            </a:extLst>
          </p:cNvPr>
          <p:cNvSpPr txBox="1"/>
          <p:nvPr/>
        </p:nvSpPr>
        <p:spPr>
          <a:xfrm>
            <a:off x="8136541" y="3136273"/>
            <a:ext cx="3378200" cy="276999"/>
          </a:xfrm>
          <a:prstGeom prst="rect">
            <a:avLst/>
          </a:prstGeom>
          <a:noFill/>
        </p:spPr>
        <p:txBody>
          <a:bodyPr vert="horz" wrap="square" lIns="0" tIns="0" rIns="0" bIns="0" rtlCol="0">
            <a:noAutofit/>
          </a:bodyPr>
          <a:lstStyle/>
          <a:p>
            <a:r>
              <a:rPr lang="vi-VN" sz="1000" b="1">
                <a:solidFill>
                  <a:srgbClr val="7AA2F7"/>
                </a:solidFill>
                <a:latin typeface="Aptos" panose="020B0004020202020204" pitchFamily="34" charset="0"/>
              </a:rPr>
              <a:t>Vehicles</a:t>
            </a:r>
          </a:p>
        </p:txBody>
      </p:sp>
      <p:sp>
        <p:nvSpPr>
          <p:cNvPr id="16" name="HTML Text 15">
            <a:extLst>
              <a:ext uri="{FF2B5EF4-FFF2-40B4-BE49-F238E27FC236}">
                <a16:creationId xmlns:a16="http://schemas.microsoft.com/office/drawing/2014/main" id="{9FB6216A-9644-3C54-F3F3-2FC481C250AD}"/>
              </a:ext>
            </a:extLst>
          </p:cNvPr>
          <p:cNvSpPr txBox="1"/>
          <p:nvPr/>
        </p:nvSpPr>
        <p:spPr>
          <a:xfrm>
            <a:off x="8136541" y="3406983"/>
            <a:ext cx="3378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Listing · Garage · trạng thái</a:t>
            </a:r>
          </a:p>
        </p:txBody>
      </p:sp>
      <p:sp>
        <p:nvSpPr>
          <p:cNvPr id="17" name="HTML Text 16">
            <a:extLst>
              <a:ext uri="{FF2B5EF4-FFF2-40B4-BE49-F238E27FC236}">
                <a16:creationId xmlns:a16="http://schemas.microsoft.com/office/drawing/2014/main" id="{F33C7AEF-0186-68F7-C1F3-B89B086F1CD2}"/>
              </a:ext>
            </a:extLst>
          </p:cNvPr>
          <p:cNvSpPr txBox="1"/>
          <p:nvPr/>
        </p:nvSpPr>
        <p:spPr>
          <a:xfrm>
            <a:off x="707342" y="3935823"/>
            <a:ext cx="3378200" cy="276999"/>
          </a:xfrm>
          <a:prstGeom prst="rect">
            <a:avLst/>
          </a:prstGeom>
          <a:noFill/>
        </p:spPr>
        <p:txBody>
          <a:bodyPr vert="horz" wrap="square" lIns="0" tIns="0" rIns="0" bIns="0" rtlCol="0">
            <a:noAutofit/>
          </a:bodyPr>
          <a:lstStyle/>
          <a:p>
            <a:r>
              <a:rPr lang="vi-VN" sz="1000" b="1">
                <a:solidFill>
                  <a:srgbClr val="7AA2F7"/>
                </a:solidFill>
                <a:latin typeface="Aptos" panose="020B0004020202020204" pitchFamily="34" charset="0"/>
              </a:rPr>
              <a:t>Editorial</a:t>
            </a:r>
          </a:p>
        </p:txBody>
      </p:sp>
      <p:sp>
        <p:nvSpPr>
          <p:cNvPr id="18" name="HTML Text 17">
            <a:extLst>
              <a:ext uri="{FF2B5EF4-FFF2-40B4-BE49-F238E27FC236}">
                <a16:creationId xmlns:a16="http://schemas.microsoft.com/office/drawing/2014/main" id="{89418A4A-3C37-6B15-55D6-7008F7D76CFD}"/>
              </a:ext>
            </a:extLst>
          </p:cNvPr>
          <p:cNvSpPr txBox="1"/>
          <p:nvPr/>
        </p:nvSpPr>
        <p:spPr>
          <a:xfrm>
            <a:off x="707342" y="4206534"/>
            <a:ext cx="3378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Chuyên đề draft/published</a:t>
            </a:r>
          </a:p>
        </p:txBody>
      </p:sp>
      <p:sp>
        <p:nvSpPr>
          <p:cNvPr id="19" name="HTML Text 18">
            <a:extLst>
              <a:ext uri="{FF2B5EF4-FFF2-40B4-BE49-F238E27FC236}">
                <a16:creationId xmlns:a16="http://schemas.microsoft.com/office/drawing/2014/main" id="{B6997C05-2207-A350-2175-DB20728F6F3D}"/>
              </a:ext>
            </a:extLst>
          </p:cNvPr>
          <p:cNvSpPr txBox="1"/>
          <p:nvPr/>
        </p:nvSpPr>
        <p:spPr>
          <a:xfrm>
            <a:off x="4421891" y="3935823"/>
            <a:ext cx="3378200" cy="276999"/>
          </a:xfrm>
          <a:prstGeom prst="rect">
            <a:avLst/>
          </a:prstGeom>
          <a:noFill/>
        </p:spPr>
        <p:txBody>
          <a:bodyPr vert="horz" wrap="square" lIns="0" tIns="0" rIns="0" bIns="0" rtlCol="0">
            <a:noAutofit/>
          </a:bodyPr>
          <a:lstStyle/>
          <a:p>
            <a:r>
              <a:rPr lang="vi-VN" sz="1000" b="1">
                <a:solidFill>
                  <a:srgbClr val="7AA2F7"/>
                </a:solidFill>
                <a:latin typeface="Aptos" panose="020B0004020202020204" pitchFamily="34" charset="0"/>
              </a:rPr>
              <a:t>Engagement</a:t>
            </a:r>
          </a:p>
        </p:txBody>
      </p:sp>
      <p:sp>
        <p:nvSpPr>
          <p:cNvPr id="20" name="HTML Text 19">
            <a:extLst>
              <a:ext uri="{FF2B5EF4-FFF2-40B4-BE49-F238E27FC236}">
                <a16:creationId xmlns:a16="http://schemas.microsoft.com/office/drawing/2014/main" id="{93E4868C-B736-9925-DFDE-2E3FA44DB285}"/>
              </a:ext>
            </a:extLst>
          </p:cNvPr>
          <p:cNvSpPr txBox="1"/>
          <p:nvPr/>
        </p:nvSpPr>
        <p:spPr>
          <a:xfrm>
            <a:off x="4421891" y="4206534"/>
            <a:ext cx="3378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Comment · rating · follow</a:t>
            </a:r>
          </a:p>
        </p:txBody>
      </p:sp>
      <p:sp>
        <p:nvSpPr>
          <p:cNvPr id="21" name="HTML Text 20">
            <a:extLst>
              <a:ext uri="{FF2B5EF4-FFF2-40B4-BE49-F238E27FC236}">
                <a16:creationId xmlns:a16="http://schemas.microsoft.com/office/drawing/2014/main" id="{B8E8E6DC-E056-A096-DE98-51030695B4BF}"/>
              </a:ext>
            </a:extLst>
          </p:cNvPr>
          <p:cNvSpPr txBox="1"/>
          <p:nvPr/>
        </p:nvSpPr>
        <p:spPr>
          <a:xfrm>
            <a:off x="8136541" y="3935823"/>
            <a:ext cx="3378200" cy="276999"/>
          </a:xfrm>
          <a:prstGeom prst="rect">
            <a:avLst/>
          </a:prstGeom>
          <a:noFill/>
        </p:spPr>
        <p:txBody>
          <a:bodyPr vert="horz" wrap="square" lIns="0" tIns="0" rIns="0" bIns="0" rtlCol="0">
            <a:noAutofit/>
          </a:bodyPr>
          <a:lstStyle/>
          <a:p>
            <a:r>
              <a:rPr lang="vi-VN" sz="1000" b="1">
                <a:solidFill>
                  <a:srgbClr val="7AA2F7"/>
                </a:solidFill>
                <a:latin typeface="Aptos" panose="020B0004020202020204" pitchFamily="34" charset="0"/>
              </a:rPr>
              <a:t>Pagination</a:t>
            </a:r>
          </a:p>
        </p:txBody>
      </p:sp>
      <p:sp>
        <p:nvSpPr>
          <p:cNvPr id="22" name="HTML Text 21">
            <a:extLst>
              <a:ext uri="{FF2B5EF4-FFF2-40B4-BE49-F238E27FC236}">
                <a16:creationId xmlns:a16="http://schemas.microsoft.com/office/drawing/2014/main" id="{BB1FCF27-951A-262A-4EA6-73C3AE1B0F3D}"/>
              </a:ext>
            </a:extLst>
          </p:cNvPr>
          <p:cNvSpPr txBox="1"/>
          <p:nvPr/>
        </p:nvSpPr>
        <p:spPr>
          <a:xfrm>
            <a:off x="8136541" y="4206534"/>
            <a:ext cx="33782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Hiển thị toàn bộ theo từng trang</a:t>
            </a:r>
          </a:p>
        </p:txBody>
      </p:sp>
      <p:sp>
        <p:nvSpPr>
          <p:cNvPr id="23" name="HTML Text 22">
            <a:extLst>
              <a:ext uri="{FF2B5EF4-FFF2-40B4-BE49-F238E27FC236}">
                <a16:creationId xmlns:a16="http://schemas.microsoft.com/office/drawing/2014/main" id="{BD060FFB-B288-F306-42A7-177352C6AF12}"/>
              </a:ext>
            </a:extLst>
          </p:cNvPr>
          <p:cNvSpPr txBox="1"/>
          <p:nvPr/>
        </p:nvSpPr>
        <p:spPr>
          <a:xfrm>
            <a:off x="733063" y="4860317"/>
            <a:ext cx="584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Ràng buộc:</a:t>
            </a:r>
          </a:p>
        </p:txBody>
      </p:sp>
      <p:sp>
        <p:nvSpPr>
          <p:cNvPr id="24" name="TextBox 23">
            <a:extLst>
              <a:ext uri="{FF2B5EF4-FFF2-40B4-BE49-F238E27FC236}">
                <a16:creationId xmlns:a16="http://schemas.microsoft.com/office/drawing/2014/main" id="{396A5B5F-83C0-EACD-011D-39239C1D5C9B}"/>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16 / 24</a:t>
            </a:r>
          </a:p>
        </p:txBody>
      </p:sp>
    </p:spTree>
    <p:extLst>
      <p:ext uri="{BB962C8B-B14F-4D97-AF65-F5344CB8AC3E}">
        <p14:creationId xmlns:p14="http://schemas.microsoft.com/office/powerpoint/2010/main" val="1658908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088DB0DC-32BA-8587-8AFA-6338451ABC7D}"/>
              </a:ext>
            </a:extLst>
          </p:cNvPr>
          <p:cNvSpPr/>
          <p:nvPr/>
        </p:nvSpPr>
        <p:spPr>
          <a:xfrm>
            <a:off x="565873" y="2971091"/>
            <a:ext cx="6751899" cy="441423"/>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9FDAAA32-223E-9CF8-51DD-20EC90D4701E}"/>
              </a:ext>
            </a:extLst>
          </p:cNvPr>
          <p:cNvSpPr/>
          <p:nvPr/>
        </p:nvSpPr>
        <p:spPr>
          <a:xfrm>
            <a:off x="565873" y="3627694"/>
            <a:ext cx="6751899" cy="441424"/>
          </a:xfrm>
          <a:prstGeom prst="roundRect">
            <a:avLst/>
          </a:prstGeom>
          <a:noFill/>
          <a:ln w="6430" cap="flat" cmpd="sng" algn="ctr">
            <a:solidFill>
              <a:srgbClr val="7AA2F7"/>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D18E0CEF-D75A-2610-6530-9CEAC0A0CBA3}"/>
              </a:ext>
            </a:extLst>
          </p:cNvPr>
          <p:cNvSpPr/>
          <p:nvPr/>
        </p:nvSpPr>
        <p:spPr>
          <a:xfrm>
            <a:off x="565873" y="4284298"/>
            <a:ext cx="2199190" cy="8702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9BEEEA94-7C98-4A17-2D14-4D27EA0C15DE}"/>
              </a:ext>
            </a:extLst>
          </p:cNvPr>
          <p:cNvSpPr/>
          <p:nvPr/>
        </p:nvSpPr>
        <p:spPr>
          <a:xfrm>
            <a:off x="2842228" y="4284298"/>
            <a:ext cx="2199190" cy="8702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BD18238C-E561-75AC-6735-3B5017C5375D}"/>
              </a:ext>
            </a:extLst>
          </p:cNvPr>
          <p:cNvSpPr/>
          <p:nvPr/>
        </p:nvSpPr>
        <p:spPr>
          <a:xfrm>
            <a:off x="5118582" y="4284298"/>
            <a:ext cx="2199190" cy="8702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Text 6">
            <a:extLst>
              <a:ext uri="{FF2B5EF4-FFF2-40B4-BE49-F238E27FC236}">
                <a16:creationId xmlns:a16="http://schemas.microsoft.com/office/drawing/2014/main" id="{C24E43CA-FEF8-BB88-C7E9-16D7515B691A}"/>
              </a:ext>
            </a:extLst>
          </p:cNvPr>
          <p:cNvSpPr txBox="1"/>
          <p:nvPr/>
        </p:nvSpPr>
        <p:spPr>
          <a:xfrm>
            <a:off x="565873" y="1703437"/>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15 · SYSTEM ARCHITECTURE</a:t>
            </a:r>
          </a:p>
        </p:txBody>
      </p:sp>
      <p:sp>
        <p:nvSpPr>
          <p:cNvPr id="8" name="HTML Text 7">
            <a:extLst>
              <a:ext uri="{FF2B5EF4-FFF2-40B4-BE49-F238E27FC236}">
                <a16:creationId xmlns:a16="http://schemas.microsoft.com/office/drawing/2014/main" id="{72C2A819-1013-524F-683C-58DE204F007D}"/>
              </a:ext>
            </a:extLst>
          </p:cNvPr>
          <p:cNvSpPr txBox="1"/>
          <p:nvPr/>
        </p:nvSpPr>
        <p:spPr>
          <a:xfrm>
            <a:off x="565873" y="1925559"/>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Monorepo tách lớp, một domain khi lên production</a:t>
            </a:r>
          </a:p>
        </p:txBody>
      </p:sp>
      <p:sp>
        <p:nvSpPr>
          <p:cNvPr id="9" name="HTML Text 8">
            <a:extLst>
              <a:ext uri="{FF2B5EF4-FFF2-40B4-BE49-F238E27FC236}">
                <a16:creationId xmlns:a16="http://schemas.microsoft.com/office/drawing/2014/main" id="{504B0626-8F7C-4F9B-2271-B78075898E17}"/>
              </a:ext>
            </a:extLst>
          </p:cNvPr>
          <p:cNvSpPr txBox="1"/>
          <p:nvPr/>
        </p:nvSpPr>
        <p:spPr>
          <a:xfrm>
            <a:off x="726633" y="3150155"/>
            <a:ext cx="8001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CLIENT</a:t>
            </a:r>
          </a:p>
        </p:txBody>
      </p:sp>
      <p:sp>
        <p:nvSpPr>
          <p:cNvPr id="10" name="HTML Text 9">
            <a:extLst>
              <a:ext uri="{FF2B5EF4-FFF2-40B4-BE49-F238E27FC236}">
                <a16:creationId xmlns:a16="http://schemas.microsoft.com/office/drawing/2014/main" id="{E375AF38-151F-A823-70B2-B3E3143C28FF}"/>
              </a:ext>
            </a:extLst>
          </p:cNvPr>
          <p:cNvSpPr txBox="1"/>
          <p:nvPr/>
        </p:nvSpPr>
        <p:spPr>
          <a:xfrm>
            <a:off x="1614025" y="3102976"/>
            <a:ext cx="2743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React 19 + Vite + TypeScript</a:t>
            </a:r>
          </a:p>
        </p:txBody>
      </p:sp>
      <p:sp>
        <p:nvSpPr>
          <p:cNvPr id="11" name="HTML Text 10">
            <a:extLst>
              <a:ext uri="{FF2B5EF4-FFF2-40B4-BE49-F238E27FC236}">
                <a16:creationId xmlns:a16="http://schemas.microsoft.com/office/drawing/2014/main" id="{CFE2D89D-D451-F83A-997A-9E6F73F6696A}"/>
              </a:ext>
            </a:extLst>
          </p:cNvPr>
          <p:cNvSpPr txBox="1"/>
          <p:nvPr/>
        </p:nvSpPr>
        <p:spPr>
          <a:xfrm>
            <a:off x="4443392" y="3125210"/>
            <a:ext cx="2743200" cy="276999"/>
          </a:xfrm>
          <a:prstGeom prst="rect">
            <a:avLst/>
          </a:prstGeom>
          <a:noFill/>
        </p:spPr>
        <p:txBody>
          <a:bodyPr vert="horz" wrap="square" lIns="0" tIns="0" rIns="0" bIns="0" rtlCol="0">
            <a:noAutofit/>
          </a:bodyPr>
          <a:lstStyle/>
          <a:p>
            <a:r>
              <a:rPr lang="fr-FR" sz="600">
                <a:solidFill>
                  <a:srgbClr val="565F89"/>
                </a:solidFill>
                <a:latin typeface="Aptos" panose="020B0004020202020204" pitchFamily="34" charset="0"/>
              </a:rPr>
              <a:t>Pages · Components · Zustand · API client</a:t>
            </a:r>
            <a:endParaRPr lang="vi-VN" sz="600">
              <a:solidFill>
                <a:srgbClr val="565F89"/>
              </a:solidFill>
              <a:latin typeface="Aptos" panose="020B0004020202020204" pitchFamily="34" charset="0"/>
            </a:endParaRPr>
          </a:p>
        </p:txBody>
      </p:sp>
      <p:sp>
        <p:nvSpPr>
          <p:cNvPr id="12" name="HTML Text 11">
            <a:extLst>
              <a:ext uri="{FF2B5EF4-FFF2-40B4-BE49-F238E27FC236}">
                <a16:creationId xmlns:a16="http://schemas.microsoft.com/office/drawing/2014/main" id="{6844ACC7-C6FC-250F-181B-BB92EFE3AA87}"/>
              </a:ext>
            </a:extLst>
          </p:cNvPr>
          <p:cNvSpPr txBox="1"/>
          <p:nvPr/>
        </p:nvSpPr>
        <p:spPr>
          <a:xfrm>
            <a:off x="565873" y="3412515"/>
            <a:ext cx="6781800" cy="276999"/>
          </a:xfrm>
          <a:prstGeom prst="rect">
            <a:avLst/>
          </a:prstGeom>
          <a:noFill/>
        </p:spPr>
        <p:txBody>
          <a:bodyPr vert="horz" wrap="square" lIns="0" tIns="0" rIns="0" bIns="0" rtlCol="0">
            <a:noAutofit/>
          </a:bodyPr>
          <a:lstStyle/>
          <a:p>
            <a:pPr algn="ctr"/>
            <a:r>
              <a:rPr lang="vi-VN" sz="500" b="1">
                <a:solidFill>
                  <a:srgbClr val="565F89"/>
                </a:solidFill>
                <a:latin typeface="Consolas" panose="020B0609020204030204" pitchFamily="49" charset="0"/>
              </a:rPr>
              <a:t>REST / JSON · Bearer JWT</a:t>
            </a:r>
          </a:p>
        </p:txBody>
      </p:sp>
      <p:sp>
        <p:nvSpPr>
          <p:cNvPr id="13" name="HTML Text 12">
            <a:extLst>
              <a:ext uri="{FF2B5EF4-FFF2-40B4-BE49-F238E27FC236}">
                <a16:creationId xmlns:a16="http://schemas.microsoft.com/office/drawing/2014/main" id="{73B21362-AFCC-1370-14F5-D3830B6A44ED}"/>
              </a:ext>
            </a:extLst>
          </p:cNvPr>
          <p:cNvSpPr txBox="1"/>
          <p:nvPr/>
        </p:nvSpPr>
        <p:spPr>
          <a:xfrm>
            <a:off x="726633" y="3806758"/>
            <a:ext cx="8001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APPLICATION</a:t>
            </a:r>
          </a:p>
        </p:txBody>
      </p:sp>
      <p:sp>
        <p:nvSpPr>
          <p:cNvPr id="14" name="HTML Text 13">
            <a:extLst>
              <a:ext uri="{FF2B5EF4-FFF2-40B4-BE49-F238E27FC236}">
                <a16:creationId xmlns:a16="http://schemas.microsoft.com/office/drawing/2014/main" id="{8416CE56-2B0F-123F-D4C5-9294CB02778B}"/>
              </a:ext>
            </a:extLst>
          </p:cNvPr>
          <p:cNvSpPr txBox="1"/>
          <p:nvPr/>
        </p:nvSpPr>
        <p:spPr>
          <a:xfrm>
            <a:off x="1614025" y="3759579"/>
            <a:ext cx="27432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Express + Controllers + Services</a:t>
            </a:r>
          </a:p>
        </p:txBody>
      </p:sp>
      <p:sp>
        <p:nvSpPr>
          <p:cNvPr id="15" name="HTML Text 14">
            <a:extLst>
              <a:ext uri="{FF2B5EF4-FFF2-40B4-BE49-F238E27FC236}">
                <a16:creationId xmlns:a16="http://schemas.microsoft.com/office/drawing/2014/main" id="{3E97E05A-56E1-F387-B6EC-FB884AA1100D}"/>
              </a:ext>
            </a:extLst>
          </p:cNvPr>
          <p:cNvSpPr txBox="1"/>
          <p:nvPr/>
        </p:nvSpPr>
        <p:spPr>
          <a:xfrm>
            <a:off x="4443392" y="3781813"/>
            <a:ext cx="2743200" cy="276999"/>
          </a:xfrm>
          <a:prstGeom prst="rect">
            <a:avLst/>
          </a:prstGeom>
          <a:noFill/>
        </p:spPr>
        <p:txBody>
          <a:bodyPr vert="horz" wrap="square" lIns="0" tIns="0" rIns="0" bIns="0" rtlCol="0">
            <a:noAutofit/>
          </a:bodyPr>
          <a:lstStyle/>
          <a:p>
            <a:r>
              <a:rPr lang="en-US" sz="600">
                <a:solidFill>
                  <a:srgbClr val="565F89"/>
                </a:solidFill>
                <a:latin typeface="Aptos" panose="020B0004020202020204" pitchFamily="34" charset="0"/>
              </a:rPr>
              <a:t>Routes · Zod · Auth middleware · Business logic</a:t>
            </a:r>
            <a:endParaRPr lang="vi-VN" sz="600">
              <a:solidFill>
                <a:srgbClr val="565F89"/>
              </a:solidFill>
              <a:latin typeface="Aptos" panose="020B0004020202020204" pitchFamily="34" charset="0"/>
            </a:endParaRPr>
          </a:p>
        </p:txBody>
      </p:sp>
      <p:sp>
        <p:nvSpPr>
          <p:cNvPr id="16" name="HTML Text 15">
            <a:extLst>
              <a:ext uri="{FF2B5EF4-FFF2-40B4-BE49-F238E27FC236}">
                <a16:creationId xmlns:a16="http://schemas.microsoft.com/office/drawing/2014/main" id="{30E0CEF3-8191-772F-6528-9FDBFC0304CB}"/>
              </a:ext>
            </a:extLst>
          </p:cNvPr>
          <p:cNvSpPr txBox="1"/>
          <p:nvPr/>
        </p:nvSpPr>
        <p:spPr>
          <a:xfrm>
            <a:off x="565873" y="4069118"/>
            <a:ext cx="6781800" cy="276999"/>
          </a:xfrm>
          <a:prstGeom prst="rect">
            <a:avLst/>
          </a:prstGeom>
          <a:noFill/>
        </p:spPr>
        <p:txBody>
          <a:bodyPr vert="horz" wrap="square" lIns="0" tIns="0" rIns="0" bIns="0" rtlCol="0">
            <a:noAutofit/>
          </a:bodyPr>
          <a:lstStyle/>
          <a:p>
            <a:pPr algn="ctr"/>
            <a:r>
              <a:rPr lang="vi-VN" sz="500" b="1">
                <a:solidFill>
                  <a:srgbClr val="565F89"/>
                </a:solidFill>
                <a:latin typeface="Consolas" panose="020B0609020204030204" pitchFamily="49" charset="0"/>
              </a:rPr>
              <a:t>Prisma ORM</a:t>
            </a:r>
          </a:p>
        </p:txBody>
      </p:sp>
      <p:sp>
        <p:nvSpPr>
          <p:cNvPr id="17" name="HTML Text 16">
            <a:extLst>
              <a:ext uri="{FF2B5EF4-FFF2-40B4-BE49-F238E27FC236}">
                <a16:creationId xmlns:a16="http://schemas.microsoft.com/office/drawing/2014/main" id="{81B758D8-E46A-44E5-25C9-34D26BE80B9D}"/>
              </a:ext>
            </a:extLst>
          </p:cNvPr>
          <p:cNvSpPr txBox="1"/>
          <p:nvPr/>
        </p:nvSpPr>
        <p:spPr>
          <a:xfrm>
            <a:off x="726633" y="4478654"/>
            <a:ext cx="1905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DATA</a:t>
            </a:r>
          </a:p>
        </p:txBody>
      </p:sp>
      <p:sp>
        <p:nvSpPr>
          <p:cNvPr id="18" name="HTML Text 17">
            <a:extLst>
              <a:ext uri="{FF2B5EF4-FFF2-40B4-BE49-F238E27FC236}">
                <a16:creationId xmlns:a16="http://schemas.microsoft.com/office/drawing/2014/main" id="{8A6C4CF3-AB69-DB76-2686-4444C56032CF}"/>
              </a:ext>
            </a:extLst>
          </p:cNvPr>
          <p:cNvSpPr txBox="1"/>
          <p:nvPr/>
        </p:nvSpPr>
        <p:spPr>
          <a:xfrm>
            <a:off x="726633" y="4677132"/>
            <a:ext cx="19050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Neon PostgreSQL</a:t>
            </a:r>
          </a:p>
        </p:txBody>
      </p:sp>
      <p:sp>
        <p:nvSpPr>
          <p:cNvPr id="19" name="HTML Text 18">
            <a:extLst>
              <a:ext uri="{FF2B5EF4-FFF2-40B4-BE49-F238E27FC236}">
                <a16:creationId xmlns:a16="http://schemas.microsoft.com/office/drawing/2014/main" id="{ECF6265A-7503-9CA8-9FB1-F763BAD66F2C}"/>
              </a:ext>
            </a:extLst>
          </p:cNvPr>
          <p:cNvSpPr txBox="1"/>
          <p:nvPr/>
        </p:nvSpPr>
        <p:spPr>
          <a:xfrm>
            <a:off x="726633" y="4889492"/>
            <a:ext cx="1905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19 domain models</a:t>
            </a:r>
          </a:p>
        </p:txBody>
      </p:sp>
      <p:sp>
        <p:nvSpPr>
          <p:cNvPr id="20" name="HTML Text 19">
            <a:extLst>
              <a:ext uri="{FF2B5EF4-FFF2-40B4-BE49-F238E27FC236}">
                <a16:creationId xmlns:a16="http://schemas.microsoft.com/office/drawing/2014/main" id="{B39195FB-3CB9-72CB-FF0E-2A2DD5BC4529}"/>
              </a:ext>
            </a:extLst>
          </p:cNvPr>
          <p:cNvSpPr txBox="1"/>
          <p:nvPr/>
        </p:nvSpPr>
        <p:spPr>
          <a:xfrm>
            <a:off x="3002987" y="4478654"/>
            <a:ext cx="2286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MEDIA</a:t>
            </a:r>
          </a:p>
        </p:txBody>
      </p:sp>
      <p:sp>
        <p:nvSpPr>
          <p:cNvPr id="21" name="HTML Text 20">
            <a:extLst>
              <a:ext uri="{FF2B5EF4-FFF2-40B4-BE49-F238E27FC236}">
                <a16:creationId xmlns:a16="http://schemas.microsoft.com/office/drawing/2014/main" id="{AA7C58D0-DBE3-149D-F5E0-489F9A0EA678}"/>
              </a:ext>
            </a:extLst>
          </p:cNvPr>
          <p:cNvSpPr txBox="1"/>
          <p:nvPr/>
        </p:nvSpPr>
        <p:spPr>
          <a:xfrm>
            <a:off x="3002987" y="4677132"/>
            <a:ext cx="19050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Vercel Blob</a:t>
            </a:r>
          </a:p>
        </p:txBody>
      </p:sp>
      <p:sp>
        <p:nvSpPr>
          <p:cNvPr id="22" name="HTML Text 21">
            <a:extLst>
              <a:ext uri="{FF2B5EF4-FFF2-40B4-BE49-F238E27FC236}">
                <a16:creationId xmlns:a16="http://schemas.microsoft.com/office/drawing/2014/main" id="{C914F5F1-178A-2263-81FC-9A32B2F26462}"/>
              </a:ext>
            </a:extLst>
          </p:cNvPr>
          <p:cNvSpPr txBox="1"/>
          <p:nvPr/>
        </p:nvSpPr>
        <p:spPr>
          <a:xfrm>
            <a:off x="3002987" y="4889492"/>
            <a:ext cx="1905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URL + metadata</a:t>
            </a:r>
          </a:p>
        </p:txBody>
      </p:sp>
      <p:sp>
        <p:nvSpPr>
          <p:cNvPr id="23" name="HTML Text 22">
            <a:extLst>
              <a:ext uri="{FF2B5EF4-FFF2-40B4-BE49-F238E27FC236}">
                <a16:creationId xmlns:a16="http://schemas.microsoft.com/office/drawing/2014/main" id="{C028A372-19A8-170C-49E6-7CC2570883EB}"/>
              </a:ext>
            </a:extLst>
          </p:cNvPr>
          <p:cNvSpPr txBox="1"/>
          <p:nvPr/>
        </p:nvSpPr>
        <p:spPr>
          <a:xfrm>
            <a:off x="5279342" y="4478654"/>
            <a:ext cx="1143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AI</a:t>
            </a:r>
          </a:p>
        </p:txBody>
      </p:sp>
      <p:sp>
        <p:nvSpPr>
          <p:cNvPr id="24" name="HTML Text 23">
            <a:extLst>
              <a:ext uri="{FF2B5EF4-FFF2-40B4-BE49-F238E27FC236}">
                <a16:creationId xmlns:a16="http://schemas.microsoft.com/office/drawing/2014/main" id="{3D154CDD-3C08-7853-7756-1D111CFE1E13}"/>
              </a:ext>
            </a:extLst>
          </p:cNvPr>
          <p:cNvSpPr txBox="1"/>
          <p:nvPr/>
        </p:nvSpPr>
        <p:spPr>
          <a:xfrm>
            <a:off x="5279342" y="4677132"/>
            <a:ext cx="19050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OpenRouter</a:t>
            </a:r>
          </a:p>
        </p:txBody>
      </p:sp>
      <p:sp>
        <p:nvSpPr>
          <p:cNvPr id="25" name="HTML Text 24">
            <a:extLst>
              <a:ext uri="{FF2B5EF4-FFF2-40B4-BE49-F238E27FC236}">
                <a16:creationId xmlns:a16="http://schemas.microsoft.com/office/drawing/2014/main" id="{5FCE87F6-549C-BF8B-84A9-0004F48B62DA}"/>
              </a:ext>
            </a:extLst>
          </p:cNvPr>
          <p:cNvSpPr txBox="1"/>
          <p:nvPr/>
        </p:nvSpPr>
        <p:spPr>
          <a:xfrm>
            <a:off x="5279342" y="4889492"/>
            <a:ext cx="1905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Structured intent analysis</a:t>
            </a:r>
          </a:p>
        </p:txBody>
      </p:sp>
      <p:sp>
        <p:nvSpPr>
          <p:cNvPr id="26" name="TextBox 25">
            <a:extLst>
              <a:ext uri="{FF2B5EF4-FFF2-40B4-BE49-F238E27FC236}">
                <a16:creationId xmlns:a16="http://schemas.microsoft.com/office/drawing/2014/main" id="{F0729EB1-AC6A-1FA6-A38D-F596C76E9DF5}"/>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17 / 24</a:t>
            </a:r>
          </a:p>
        </p:txBody>
      </p:sp>
    </p:spTree>
    <p:extLst>
      <p:ext uri="{BB962C8B-B14F-4D97-AF65-F5344CB8AC3E}">
        <p14:creationId xmlns:p14="http://schemas.microsoft.com/office/powerpoint/2010/main" val="3320480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FFC43D3C-B6BA-7FD1-53D7-DA8D6B4EDA80}"/>
              </a:ext>
            </a:extLst>
          </p:cNvPr>
          <p:cNvSpPr/>
          <p:nvPr/>
        </p:nvSpPr>
        <p:spPr>
          <a:xfrm>
            <a:off x="565873" y="3060244"/>
            <a:ext cx="11060253" cy="2005166"/>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87A0AFEE-A4C8-FCA4-A754-4F242E258D8B}"/>
              </a:ext>
            </a:extLst>
          </p:cNvPr>
          <p:cNvSpPr/>
          <p:nvPr/>
        </p:nvSpPr>
        <p:spPr>
          <a:xfrm>
            <a:off x="726633" y="3233776"/>
            <a:ext cx="10738735" cy="284593"/>
          </a:xfrm>
          <a:prstGeom prst="rect">
            <a:avLst/>
          </a:prstGeom>
          <a:noFill/>
          <a:ln w="6430" cap="flat" cmpd="sng" algn="ctr">
            <a:solidFill>
              <a:srgbClr val="7AA2F7"/>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Text 3">
            <a:extLst>
              <a:ext uri="{FF2B5EF4-FFF2-40B4-BE49-F238E27FC236}">
                <a16:creationId xmlns:a16="http://schemas.microsoft.com/office/drawing/2014/main" id="{B432F94D-53C6-BCAC-8FD8-3299F8102E6D}"/>
              </a:ext>
            </a:extLst>
          </p:cNvPr>
          <p:cNvSpPr txBox="1"/>
          <p:nvPr/>
        </p:nvSpPr>
        <p:spPr>
          <a:xfrm>
            <a:off x="565873" y="1792590"/>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16 · CODE ORGANIZATION</a:t>
            </a:r>
          </a:p>
        </p:txBody>
      </p:sp>
      <p:sp>
        <p:nvSpPr>
          <p:cNvPr id="5" name="HTML Text 4">
            <a:extLst>
              <a:ext uri="{FF2B5EF4-FFF2-40B4-BE49-F238E27FC236}">
                <a16:creationId xmlns:a16="http://schemas.microsoft.com/office/drawing/2014/main" id="{4469508C-BC9F-2469-62DA-1A513E04978D}"/>
              </a:ext>
            </a:extLst>
          </p:cNvPr>
          <p:cNvSpPr txBox="1"/>
          <p:nvPr/>
        </p:nvSpPr>
        <p:spPr>
          <a:xfrm>
            <a:off x="565873" y="2014711"/>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Cấu trúc thư mục phản ánh đúng ranh giới trách nhiệm</a:t>
            </a:r>
          </a:p>
        </p:txBody>
      </p:sp>
      <p:sp>
        <p:nvSpPr>
          <p:cNvPr id="6" name="HTML Text 5">
            <a:extLst>
              <a:ext uri="{FF2B5EF4-FFF2-40B4-BE49-F238E27FC236}">
                <a16:creationId xmlns:a16="http://schemas.microsoft.com/office/drawing/2014/main" id="{B3FC195D-AFFA-5D67-F6BF-CEFC70772288}"/>
              </a:ext>
            </a:extLst>
          </p:cNvPr>
          <p:cNvSpPr txBox="1"/>
          <p:nvPr/>
        </p:nvSpPr>
        <p:spPr>
          <a:xfrm>
            <a:off x="726633" y="3233776"/>
            <a:ext cx="10769600" cy="276999"/>
          </a:xfrm>
          <a:prstGeom prst="rect">
            <a:avLst/>
          </a:prstGeom>
          <a:noFill/>
        </p:spPr>
        <p:txBody>
          <a:bodyPr vert="horz" wrap="square" lIns="0" tIns="0" rIns="0" bIns="0" rtlCol="0">
            <a:noAutofit/>
          </a:bodyPr>
          <a:lstStyle/>
          <a:p>
            <a:r>
              <a:rPr lang="vi-VN" sz="900" b="1">
                <a:solidFill>
                  <a:srgbClr val="7AA2F7"/>
                </a:solidFill>
                <a:latin typeface="Consolas" panose="020B0609020204030204" pitchFamily="49" charset="0"/>
              </a:rPr>
              <a:t>KTPM___/</a:t>
            </a:r>
          </a:p>
        </p:txBody>
      </p:sp>
      <p:sp>
        <p:nvSpPr>
          <p:cNvPr id="7" name="HTML Text 6">
            <a:extLst>
              <a:ext uri="{FF2B5EF4-FFF2-40B4-BE49-F238E27FC236}">
                <a16:creationId xmlns:a16="http://schemas.microsoft.com/office/drawing/2014/main" id="{70BE4C35-B107-DFCD-5306-A3686CD80C62}"/>
              </a:ext>
            </a:extLst>
          </p:cNvPr>
          <p:cNvSpPr txBox="1"/>
          <p:nvPr/>
        </p:nvSpPr>
        <p:spPr>
          <a:xfrm>
            <a:off x="829519" y="3754373"/>
            <a:ext cx="2425700" cy="276999"/>
          </a:xfrm>
          <a:prstGeom prst="rect">
            <a:avLst/>
          </a:prstGeom>
          <a:noFill/>
        </p:spPr>
        <p:txBody>
          <a:bodyPr vert="horz" wrap="square" lIns="0" tIns="0" rIns="0" bIns="0" rtlCol="0">
            <a:noAutofit/>
          </a:bodyPr>
          <a:lstStyle/>
          <a:p>
            <a:r>
              <a:rPr lang="vi-VN" sz="700" b="1">
                <a:solidFill>
                  <a:srgbClr val="C0CAF5"/>
                </a:solidFill>
                <a:latin typeface="Consolas" panose="020B0609020204030204" pitchFamily="49" charset="0"/>
              </a:rPr>
              <a:t>frontend/</a:t>
            </a:r>
          </a:p>
        </p:txBody>
      </p:sp>
      <p:sp>
        <p:nvSpPr>
          <p:cNvPr id="8" name="HTML Text 7">
            <a:extLst>
              <a:ext uri="{FF2B5EF4-FFF2-40B4-BE49-F238E27FC236}">
                <a16:creationId xmlns:a16="http://schemas.microsoft.com/office/drawing/2014/main" id="{492BF49A-3908-ADDC-D678-0117BBA52AF0}"/>
              </a:ext>
            </a:extLst>
          </p:cNvPr>
          <p:cNvSpPr txBox="1"/>
          <p:nvPr/>
        </p:nvSpPr>
        <p:spPr>
          <a:xfrm>
            <a:off x="829519" y="3969553"/>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components/</a:t>
            </a:r>
          </a:p>
        </p:txBody>
      </p:sp>
      <p:sp>
        <p:nvSpPr>
          <p:cNvPr id="9" name="HTML Text 8">
            <a:extLst>
              <a:ext uri="{FF2B5EF4-FFF2-40B4-BE49-F238E27FC236}">
                <a16:creationId xmlns:a16="http://schemas.microsoft.com/office/drawing/2014/main" id="{6342AA09-64D3-6AED-1450-CC27965EDDA3}"/>
              </a:ext>
            </a:extLst>
          </p:cNvPr>
          <p:cNvSpPr txBox="1"/>
          <p:nvPr/>
        </p:nvSpPr>
        <p:spPr>
          <a:xfrm>
            <a:off x="829519" y="4111091"/>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pages/</a:t>
            </a:r>
          </a:p>
        </p:txBody>
      </p:sp>
      <p:sp>
        <p:nvSpPr>
          <p:cNvPr id="10" name="HTML Text 9">
            <a:extLst>
              <a:ext uri="{FF2B5EF4-FFF2-40B4-BE49-F238E27FC236}">
                <a16:creationId xmlns:a16="http://schemas.microsoft.com/office/drawing/2014/main" id="{D86E5B07-4728-B788-74D5-B271AF1DA879}"/>
              </a:ext>
            </a:extLst>
          </p:cNvPr>
          <p:cNvSpPr txBox="1"/>
          <p:nvPr/>
        </p:nvSpPr>
        <p:spPr>
          <a:xfrm>
            <a:off x="829519" y="4252628"/>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lib/</a:t>
            </a:r>
          </a:p>
        </p:txBody>
      </p:sp>
      <p:sp>
        <p:nvSpPr>
          <p:cNvPr id="11" name="HTML Text 10">
            <a:extLst>
              <a:ext uri="{FF2B5EF4-FFF2-40B4-BE49-F238E27FC236}">
                <a16:creationId xmlns:a16="http://schemas.microsoft.com/office/drawing/2014/main" id="{1940AA6B-883E-1792-F7B8-038025093734}"/>
              </a:ext>
            </a:extLst>
          </p:cNvPr>
          <p:cNvSpPr txBox="1"/>
          <p:nvPr/>
        </p:nvSpPr>
        <p:spPr>
          <a:xfrm>
            <a:off x="829519" y="4394166"/>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store/</a:t>
            </a:r>
          </a:p>
        </p:txBody>
      </p:sp>
      <p:sp>
        <p:nvSpPr>
          <p:cNvPr id="12" name="HTML Text 11">
            <a:extLst>
              <a:ext uri="{FF2B5EF4-FFF2-40B4-BE49-F238E27FC236}">
                <a16:creationId xmlns:a16="http://schemas.microsoft.com/office/drawing/2014/main" id="{9C0F202B-9E8F-8A83-66C0-AD2E5EE6F5D8}"/>
              </a:ext>
            </a:extLst>
          </p:cNvPr>
          <p:cNvSpPr txBox="1"/>
          <p:nvPr/>
        </p:nvSpPr>
        <p:spPr>
          <a:xfrm>
            <a:off x="829519" y="4632881"/>
            <a:ext cx="2425700" cy="276999"/>
          </a:xfrm>
          <a:prstGeom prst="rect">
            <a:avLst/>
          </a:prstGeom>
          <a:noFill/>
        </p:spPr>
        <p:txBody>
          <a:bodyPr vert="horz" wrap="square" lIns="0" tIns="0" rIns="0" bIns="0" rtlCol="0">
            <a:noAutofit/>
          </a:bodyPr>
          <a:lstStyle/>
          <a:p>
            <a:r>
              <a:rPr lang="en-US" sz="700">
                <a:solidFill>
                  <a:srgbClr val="565F89"/>
                </a:solidFill>
                <a:latin typeface="Aptos" panose="020B0004020202020204" pitchFamily="34" charset="0"/>
              </a:rPr>
              <a:t>React UI và client state</a:t>
            </a:r>
            <a:endParaRPr lang="vi-VN" sz="700">
              <a:solidFill>
                <a:srgbClr val="565F89"/>
              </a:solidFill>
              <a:latin typeface="Aptos" panose="020B0004020202020204" pitchFamily="34" charset="0"/>
            </a:endParaRPr>
          </a:p>
        </p:txBody>
      </p:sp>
      <p:sp>
        <p:nvSpPr>
          <p:cNvPr id="13" name="HTML Text 12">
            <a:extLst>
              <a:ext uri="{FF2B5EF4-FFF2-40B4-BE49-F238E27FC236}">
                <a16:creationId xmlns:a16="http://schemas.microsoft.com/office/drawing/2014/main" id="{6D2BEE82-D56F-E846-55CF-A56FE27A0861}"/>
              </a:ext>
            </a:extLst>
          </p:cNvPr>
          <p:cNvSpPr txBox="1"/>
          <p:nvPr/>
        </p:nvSpPr>
        <p:spPr>
          <a:xfrm>
            <a:off x="3538317" y="3754373"/>
            <a:ext cx="2425700" cy="276999"/>
          </a:xfrm>
          <a:prstGeom prst="rect">
            <a:avLst/>
          </a:prstGeom>
          <a:noFill/>
        </p:spPr>
        <p:txBody>
          <a:bodyPr vert="horz" wrap="square" lIns="0" tIns="0" rIns="0" bIns="0" rtlCol="0">
            <a:noAutofit/>
          </a:bodyPr>
          <a:lstStyle/>
          <a:p>
            <a:r>
              <a:rPr lang="vi-VN" sz="700" b="1">
                <a:solidFill>
                  <a:srgbClr val="C0CAF5"/>
                </a:solidFill>
                <a:latin typeface="Consolas" panose="020B0609020204030204" pitchFamily="49" charset="0"/>
              </a:rPr>
              <a:t>backend/</a:t>
            </a:r>
          </a:p>
        </p:txBody>
      </p:sp>
      <p:sp>
        <p:nvSpPr>
          <p:cNvPr id="14" name="HTML Text 13">
            <a:extLst>
              <a:ext uri="{FF2B5EF4-FFF2-40B4-BE49-F238E27FC236}">
                <a16:creationId xmlns:a16="http://schemas.microsoft.com/office/drawing/2014/main" id="{972D8F3D-2C7E-1528-2D89-71739D1E53F9}"/>
              </a:ext>
            </a:extLst>
          </p:cNvPr>
          <p:cNvSpPr txBox="1"/>
          <p:nvPr/>
        </p:nvSpPr>
        <p:spPr>
          <a:xfrm>
            <a:off x="3538317" y="3969553"/>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controllers/</a:t>
            </a:r>
          </a:p>
        </p:txBody>
      </p:sp>
      <p:sp>
        <p:nvSpPr>
          <p:cNvPr id="15" name="HTML Text 14">
            <a:extLst>
              <a:ext uri="{FF2B5EF4-FFF2-40B4-BE49-F238E27FC236}">
                <a16:creationId xmlns:a16="http://schemas.microsoft.com/office/drawing/2014/main" id="{D7439A27-A246-4DE6-C7A3-CCF5E9901043}"/>
              </a:ext>
            </a:extLst>
          </p:cNvPr>
          <p:cNvSpPr txBox="1"/>
          <p:nvPr/>
        </p:nvSpPr>
        <p:spPr>
          <a:xfrm>
            <a:off x="3538317" y="4111091"/>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routes/</a:t>
            </a:r>
          </a:p>
        </p:txBody>
      </p:sp>
      <p:sp>
        <p:nvSpPr>
          <p:cNvPr id="16" name="HTML Text 15">
            <a:extLst>
              <a:ext uri="{FF2B5EF4-FFF2-40B4-BE49-F238E27FC236}">
                <a16:creationId xmlns:a16="http://schemas.microsoft.com/office/drawing/2014/main" id="{37278069-555D-6141-6038-371C45F5B812}"/>
              </a:ext>
            </a:extLst>
          </p:cNvPr>
          <p:cNvSpPr txBox="1"/>
          <p:nvPr/>
        </p:nvSpPr>
        <p:spPr>
          <a:xfrm>
            <a:off x="3538317" y="4252628"/>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services/</a:t>
            </a:r>
          </a:p>
        </p:txBody>
      </p:sp>
      <p:sp>
        <p:nvSpPr>
          <p:cNvPr id="17" name="HTML Text 16">
            <a:extLst>
              <a:ext uri="{FF2B5EF4-FFF2-40B4-BE49-F238E27FC236}">
                <a16:creationId xmlns:a16="http://schemas.microsoft.com/office/drawing/2014/main" id="{E191A1C8-D2BD-576B-5D4A-322720133965}"/>
              </a:ext>
            </a:extLst>
          </p:cNvPr>
          <p:cNvSpPr txBox="1"/>
          <p:nvPr/>
        </p:nvSpPr>
        <p:spPr>
          <a:xfrm>
            <a:off x="3538317" y="4394166"/>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middlewares/</a:t>
            </a:r>
          </a:p>
        </p:txBody>
      </p:sp>
      <p:sp>
        <p:nvSpPr>
          <p:cNvPr id="18" name="HTML Text 17">
            <a:extLst>
              <a:ext uri="{FF2B5EF4-FFF2-40B4-BE49-F238E27FC236}">
                <a16:creationId xmlns:a16="http://schemas.microsoft.com/office/drawing/2014/main" id="{CDFC1737-8D19-55CE-9444-13CE46D103A2}"/>
              </a:ext>
            </a:extLst>
          </p:cNvPr>
          <p:cNvSpPr txBox="1"/>
          <p:nvPr/>
        </p:nvSpPr>
        <p:spPr>
          <a:xfrm>
            <a:off x="3538317" y="4632881"/>
            <a:ext cx="24257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API và business logic</a:t>
            </a:r>
          </a:p>
        </p:txBody>
      </p:sp>
      <p:sp>
        <p:nvSpPr>
          <p:cNvPr id="19" name="HTML Text 18">
            <a:extLst>
              <a:ext uri="{FF2B5EF4-FFF2-40B4-BE49-F238E27FC236}">
                <a16:creationId xmlns:a16="http://schemas.microsoft.com/office/drawing/2014/main" id="{A3D59D3A-56C2-7621-ADAF-288F2F8BFFF5}"/>
              </a:ext>
            </a:extLst>
          </p:cNvPr>
          <p:cNvSpPr txBox="1"/>
          <p:nvPr/>
        </p:nvSpPr>
        <p:spPr>
          <a:xfrm>
            <a:off x="6247114" y="3754373"/>
            <a:ext cx="2425700" cy="276999"/>
          </a:xfrm>
          <a:prstGeom prst="rect">
            <a:avLst/>
          </a:prstGeom>
          <a:noFill/>
        </p:spPr>
        <p:txBody>
          <a:bodyPr vert="horz" wrap="square" lIns="0" tIns="0" rIns="0" bIns="0" rtlCol="0">
            <a:noAutofit/>
          </a:bodyPr>
          <a:lstStyle/>
          <a:p>
            <a:r>
              <a:rPr lang="vi-VN" sz="700" b="1">
                <a:solidFill>
                  <a:srgbClr val="C0CAF5"/>
                </a:solidFill>
                <a:latin typeface="Consolas" panose="020B0609020204030204" pitchFamily="49" charset="0"/>
              </a:rPr>
              <a:t>prisma/</a:t>
            </a:r>
          </a:p>
        </p:txBody>
      </p:sp>
      <p:sp>
        <p:nvSpPr>
          <p:cNvPr id="20" name="HTML Text 19">
            <a:extLst>
              <a:ext uri="{FF2B5EF4-FFF2-40B4-BE49-F238E27FC236}">
                <a16:creationId xmlns:a16="http://schemas.microsoft.com/office/drawing/2014/main" id="{BB57231D-F756-A057-8AEF-2EA9A960A37E}"/>
              </a:ext>
            </a:extLst>
          </p:cNvPr>
          <p:cNvSpPr txBox="1"/>
          <p:nvPr/>
        </p:nvSpPr>
        <p:spPr>
          <a:xfrm>
            <a:off x="6247114" y="3969553"/>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schema.prisma</a:t>
            </a:r>
          </a:p>
        </p:txBody>
      </p:sp>
      <p:sp>
        <p:nvSpPr>
          <p:cNvPr id="21" name="HTML Text 20">
            <a:extLst>
              <a:ext uri="{FF2B5EF4-FFF2-40B4-BE49-F238E27FC236}">
                <a16:creationId xmlns:a16="http://schemas.microsoft.com/office/drawing/2014/main" id="{BBC37FE9-CE49-B56F-4499-8507927F8606}"/>
              </a:ext>
            </a:extLst>
          </p:cNvPr>
          <p:cNvSpPr txBox="1"/>
          <p:nvPr/>
        </p:nvSpPr>
        <p:spPr>
          <a:xfrm>
            <a:off x="6247114" y="4111091"/>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migrations/</a:t>
            </a:r>
          </a:p>
        </p:txBody>
      </p:sp>
      <p:sp>
        <p:nvSpPr>
          <p:cNvPr id="22" name="HTML Text 21">
            <a:extLst>
              <a:ext uri="{FF2B5EF4-FFF2-40B4-BE49-F238E27FC236}">
                <a16:creationId xmlns:a16="http://schemas.microsoft.com/office/drawing/2014/main" id="{5EF86EFA-3A5C-CAED-469C-371CD1AFC1EB}"/>
              </a:ext>
            </a:extLst>
          </p:cNvPr>
          <p:cNvSpPr txBox="1"/>
          <p:nvPr/>
        </p:nvSpPr>
        <p:spPr>
          <a:xfrm>
            <a:off x="6247114" y="4252628"/>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seed.ts</a:t>
            </a:r>
          </a:p>
        </p:txBody>
      </p:sp>
      <p:sp>
        <p:nvSpPr>
          <p:cNvPr id="23" name="HTML Text 22">
            <a:extLst>
              <a:ext uri="{FF2B5EF4-FFF2-40B4-BE49-F238E27FC236}">
                <a16:creationId xmlns:a16="http://schemas.microsoft.com/office/drawing/2014/main" id="{3519EC77-4ACE-228B-D8E4-5F3787D7F7B7}"/>
              </a:ext>
            </a:extLst>
          </p:cNvPr>
          <p:cNvSpPr txBox="1"/>
          <p:nvPr/>
        </p:nvSpPr>
        <p:spPr>
          <a:xfrm>
            <a:off x="6247114" y="4394166"/>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scripts/</a:t>
            </a:r>
          </a:p>
        </p:txBody>
      </p:sp>
      <p:sp>
        <p:nvSpPr>
          <p:cNvPr id="24" name="HTML Text 23">
            <a:extLst>
              <a:ext uri="{FF2B5EF4-FFF2-40B4-BE49-F238E27FC236}">
                <a16:creationId xmlns:a16="http://schemas.microsoft.com/office/drawing/2014/main" id="{2F4727B7-48CB-72FC-8D5D-0B5FB1B04D91}"/>
              </a:ext>
            </a:extLst>
          </p:cNvPr>
          <p:cNvSpPr txBox="1"/>
          <p:nvPr/>
        </p:nvSpPr>
        <p:spPr>
          <a:xfrm>
            <a:off x="6247114" y="4632881"/>
            <a:ext cx="24257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Schema và vận hành dữ liệu</a:t>
            </a:r>
          </a:p>
        </p:txBody>
      </p:sp>
      <p:sp>
        <p:nvSpPr>
          <p:cNvPr id="25" name="HTML Text 24">
            <a:extLst>
              <a:ext uri="{FF2B5EF4-FFF2-40B4-BE49-F238E27FC236}">
                <a16:creationId xmlns:a16="http://schemas.microsoft.com/office/drawing/2014/main" id="{A7701D49-24DE-D425-6620-8AF66FF0D517}"/>
              </a:ext>
            </a:extLst>
          </p:cNvPr>
          <p:cNvSpPr txBox="1"/>
          <p:nvPr/>
        </p:nvSpPr>
        <p:spPr>
          <a:xfrm>
            <a:off x="8955911" y="3754373"/>
            <a:ext cx="2425700" cy="276999"/>
          </a:xfrm>
          <a:prstGeom prst="rect">
            <a:avLst/>
          </a:prstGeom>
          <a:noFill/>
        </p:spPr>
        <p:txBody>
          <a:bodyPr vert="horz" wrap="square" lIns="0" tIns="0" rIns="0" bIns="0" rtlCol="0">
            <a:noAutofit/>
          </a:bodyPr>
          <a:lstStyle/>
          <a:p>
            <a:r>
              <a:rPr lang="vi-VN" sz="700" b="1">
                <a:solidFill>
                  <a:srgbClr val="C0CAF5"/>
                </a:solidFill>
                <a:latin typeface="Consolas" panose="020B0609020204030204" pitchFamily="49" charset="0"/>
              </a:rPr>
              <a:t>root/</a:t>
            </a:r>
          </a:p>
        </p:txBody>
      </p:sp>
      <p:sp>
        <p:nvSpPr>
          <p:cNvPr id="26" name="HTML Text 25">
            <a:extLst>
              <a:ext uri="{FF2B5EF4-FFF2-40B4-BE49-F238E27FC236}">
                <a16:creationId xmlns:a16="http://schemas.microsoft.com/office/drawing/2014/main" id="{660CCA21-CA1A-DFBC-F8BE-7F03EE707F63}"/>
              </a:ext>
            </a:extLst>
          </p:cNvPr>
          <p:cNvSpPr txBox="1"/>
          <p:nvPr/>
        </p:nvSpPr>
        <p:spPr>
          <a:xfrm>
            <a:off x="8955911" y="3969553"/>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vercel.json</a:t>
            </a:r>
          </a:p>
        </p:txBody>
      </p:sp>
      <p:sp>
        <p:nvSpPr>
          <p:cNvPr id="27" name="HTML Text 26">
            <a:extLst>
              <a:ext uri="{FF2B5EF4-FFF2-40B4-BE49-F238E27FC236}">
                <a16:creationId xmlns:a16="http://schemas.microsoft.com/office/drawing/2014/main" id="{1503A8B9-8E8D-8568-A098-8D3346E0FDB0}"/>
              </a:ext>
            </a:extLst>
          </p:cNvPr>
          <p:cNvSpPr txBox="1"/>
          <p:nvPr/>
        </p:nvSpPr>
        <p:spPr>
          <a:xfrm>
            <a:off x="8955911" y="4111091"/>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note.txt</a:t>
            </a:r>
          </a:p>
        </p:txBody>
      </p:sp>
      <p:sp>
        <p:nvSpPr>
          <p:cNvPr id="28" name="HTML Text 27">
            <a:extLst>
              <a:ext uri="{FF2B5EF4-FFF2-40B4-BE49-F238E27FC236}">
                <a16:creationId xmlns:a16="http://schemas.microsoft.com/office/drawing/2014/main" id="{AE87EBE3-E64F-7E2D-6462-B5C8C1C5CDE8}"/>
              </a:ext>
            </a:extLst>
          </p:cNvPr>
          <p:cNvSpPr txBox="1"/>
          <p:nvPr/>
        </p:nvSpPr>
        <p:spPr>
          <a:xfrm>
            <a:off x="8955911" y="4252628"/>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README.md</a:t>
            </a:r>
          </a:p>
        </p:txBody>
      </p:sp>
      <p:sp>
        <p:nvSpPr>
          <p:cNvPr id="29" name="HTML Text 28">
            <a:extLst>
              <a:ext uri="{FF2B5EF4-FFF2-40B4-BE49-F238E27FC236}">
                <a16:creationId xmlns:a16="http://schemas.microsoft.com/office/drawing/2014/main" id="{131D8D1B-CB8C-4587-F55E-6530A816D37B}"/>
              </a:ext>
            </a:extLst>
          </p:cNvPr>
          <p:cNvSpPr txBox="1"/>
          <p:nvPr/>
        </p:nvSpPr>
        <p:spPr>
          <a:xfrm>
            <a:off x="8955911" y="4394166"/>
            <a:ext cx="2425700" cy="276999"/>
          </a:xfrm>
          <a:prstGeom prst="rect">
            <a:avLst/>
          </a:prstGeom>
          <a:noFill/>
        </p:spPr>
        <p:txBody>
          <a:bodyPr vert="horz" wrap="square" lIns="0" tIns="0" rIns="0" bIns="0" rtlCol="0">
            <a:noAutofit/>
          </a:bodyPr>
          <a:lstStyle/>
          <a:p>
            <a:r>
              <a:rPr lang="vi-VN" sz="600">
                <a:solidFill>
                  <a:srgbClr val="A9B1D6"/>
                </a:solidFill>
                <a:latin typeface="Aptos" panose="020B0004020202020204" pitchFamily="34" charset="0"/>
              </a:rPr>
              <a:t>use-cases.puml</a:t>
            </a:r>
          </a:p>
        </p:txBody>
      </p:sp>
      <p:sp>
        <p:nvSpPr>
          <p:cNvPr id="30" name="HTML Text 29">
            <a:extLst>
              <a:ext uri="{FF2B5EF4-FFF2-40B4-BE49-F238E27FC236}">
                <a16:creationId xmlns:a16="http://schemas.microsoft.com/office/drawing/2014/main" id="{5C0FF848-64DF-C9C1-0587-DB6ACA331ACC}"/>
              </a:ext>
            </a:extLst>
          </p:cNvPr>
          <p:cNvSpPr txBox="1"/>
          <p:nvPr/>
        </p:nvSpPr>
        <p:spPr>
          <a:xfrm>
            <a:off x="8955911" y="4632881"/>
            <a:ext cx="24257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Workspace và tài liệu</a:t>
            </a:r>
          </a:p>
        </p:txBody>
      </p:sp>
      <p:sp>
        <p:nvSpPr>
          <p:cNvPr id="31" name="TextBox 30">
            <a:extLst>
              <a:ext uri="{FF2B5EF4-FFF2-40B4-BE49-F238E27FC236}">
                <a16:creationId xmlns:a16="http://schemas.microsoft.com/office/drawing/2014/main" id="{D80AF5A9-4865-AC9C-4DC9-6333BE34BCDB}"/>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18 / 24</a:t>
            </a:r>
          </a:p>
        </p:txBody>
      </p:sp>
    </p:spTree>
    <p:extLst>
      <p:ext uri="{BB962C8B-B14F-4D97-AF65-F5344CB8AC3E}">
        <p14:creationId xmlns:p14="http://schemas.microsoft.com/office/powerpoint/2010/main" val="3642030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C5DA7EC1-EF37-94E5-9D4D-A6FB7908771F}"/>
              </a:ext>
            </a:extLst>
          </p:cNvPr>
          <p:cNvSpPr/>
          <p:nvPr/>
        </p:nvSpPr>
        <p:spPr>
          <a:xfrm>
            <a:off x="565873" y="3111870"/>
            <a:ext cx="2692722" cy="14229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9CBE6CB8-0A29-4B7D-71C1-58D7BDBADDD6}"/>
              </a:ext>
            </a:extLst>
          </p:cNvPr>
          <p:cNvSpPr/>
          <p:nvPr/>
        </p:nvSpPr>
        <p:spPr>
          <a:xfrm>
            <a:off x="3355051" y="3111870"/>
            <a:ext cx="2692721" cy="14229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73128C9F-2B06-CFE6-A5B5-B44F1FB31938}"/>
              </a:ext>
            </a:extLst>
          </p:cNvPr>
          <p:cNvSpPr/>
          <p:nvPr/>
        </p:nvSpPr>
        <p:spPr>
          <a:xfrm>
            <a:off x="6144228" y="3111870"/>
            <a:ext cx="2692721" cy="1422965"/>
          </a:xfrm>
          <a:prstGeom prst="roundRect">
            <a:avLst/>
          </a:prstGeom>
          <a:noFill/>
          <a:ln w="6430" cap="flat" cmpd="sng" algn="ctr">
            <a:solidFill>
              <a:srgbClr val="7AA2F7"/>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4519B3C0-8BA0-6775-2032-D28959DA4E98}"/>
              </a:ext>
            </a:extLst>
          </p:cNvPr>
          <p:cNvSpPr/>
          <p:nvPr/>
        </p:nvSpPr>
        <p:spPr>
          <a:xfrm>
            <a:off x="8933405" y="3111870"/>
            <a:ext cx="2692722" cy="1422965"/>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57AD891E-66E7-D2DD-B2E5-808636DA3764}"/>
              </a:ext>
            </a:extLst>
          </p:cNvPr>
          <p:cNvSpPr/>
          <p:nvPr/>
        </p:nvSpPr>
        <p:spPr>
          <a:xfrm>
            <a:off x="4048125" y="4770839"/>
            <a:ext cx="1575945" cy="242945"/>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2AFCAB67-B430-B4FF-799C-5EB75ECCD610}"/>
              </a:ext>
            </a:extLst>
          </p:cNvPr>
          <p:cNvSpPr/>
          <p:nvPr/>
        </p:nvSpPr>
        <p:spPr>
          <a:xfrm>
            <a:off x="5681944" y="4770839"/>
            <a:ext cx="1275526" cy="242945"/>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4E932A68-2A32-F58B-7EC4-18F591BC777D}"/>
              </a:ext>
            </a:extLst>
          </p:cNvPr>
          <p:cNvSpPr/>
          <p:nvPr/>
        </p:nvSpPr>
        <p:spPr>
          <a:xfrm>
            <a:off x="7015343" y="4770839"/>
            <a:ext cx="1128532" cy="242945"/>
          </a:xfrm>
          <a:prstGeom prst="ellipse">
            <a:avLst/>
          </a:prstGeom>
          <a:noFill/>
          <a:ln w="6430" cap="flat" cmpd="sng" algn="ctr">
            <a:solidFill>
              <a:srgbClr val="C0CAF5">
                <a:alpha val="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Text 8">
            <a:extLst>
              <a:ext uri="{FF2B5EF4-FFF2-40B4-BE49-F238E27FC236}">
                <a16:creationId xmlns:a16="http://schemas.microsoft.com/office/drawing/2014/main" id="{07D926DA-A359-A6E8-B566-8FE6B17D277E}"/>
              </a:ext>
            </a:extLst>
          </p:cNvPr>
          <p:cNvSpPr txBox="1"/>
          <p:nvPr/>
        </p:nvSpPr>
        <p:spPr>
          <a:xfrm>
            <a:off x="565873" y="1844216"/>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17 · DATA MODEL</a:t>
            </a:r>
          </a:p>
        </p:txBody>
      </p:sp>
      <p:sp>
        <p:nvSpPr>
          <p:cNvPr id="10" name="HTML Text 9">
            <a:extLst>
              <a:ext uri="{FF2B5EF4-FFF2-40B4-BE49-F238E27FC236}">
                <a16:creationId xmlns:a16="http://schemas.microsoft.com/office/drawing/2014/main" id="{991C5D88-E545-EFD7-60FA-F911D37F7299}"/>
              </a:ext>
            </a:extLst>
          </p:cNvPr>
          <p:cNvSpPr txBox="1"/>
          <p:nvPr/>
        </p:nvSpPr>
        <p:spPr>
          <a:xfrm>
            <a:off x="565873" y="2066337"/>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19 model được chia thành bốn miền nghiệp vụ</a:t>
            </a:r>
          </a:p>
        </p:txBody>
      </p:sp>
      <p:sp>
        <p:nvSpPr>
          <p:cNvPr id="11" name="HTML Text 10">
            <a:extLst>
              <a:ext uri="{FF2B5EF4-FFF2-40B4-BE49-F238E27FC236}">
                <a16:creationId xmlns:a16="http://schemas.microsoft.com/office/drawing/2014/main" id="{44055590-9F9B-86BF-E5E5-2A5799094029}"/>
              </a:ext>
            </a:extLst>
          </p:cNvPr>
          <p:cNvSpPr txBox="1"/>
          <p:nvPr/>
        </p:nvSpPr>
        <p:spPr>
          <a:xfrm>
            <a:off x="720203" y="3278461"/>
            <a:ext cx="24130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IDENTITY</a:t>
            </a:r>
          </a:p>
        </p:txBody>
      </p:sp>
      <p:sp>
        <p:nvSpPr>
          <p:cNvPr id="12" name="HTML Text 11">
            <a:extLst>
              <a:ext uri="{FF2B5EF4-FFF2-40B4-BE49-F238E27FC236}">
                <a16:creationId xmlns:a16="http://schemas.microsoft.com/office/drawing/2014/main" id="{E6F046A6-F53D-C044-D30E-0F8A36C8FE8A}"/>
              </a:ext>
            </a:extLst>
          </p:cNvPr>
          <p:cNvSpPr txBox="1"/>
          <p:nvPr/>
        </p:nvSpPr>
        <p:spPr>
          <a:xfrm>
            <a:off x="720203" y="3918578"/>
            <a:ext cx="2413000" cy="276999"/>
          </a:xfrm>
          <a:prstGeom prst="rect">
            <a:avLst/>
          </a:prstGeom>
          <a:noFill/>
        </p:spPr>
        <p:txBody>
          <a:bodyPr vert="horz" wrap="square" lIns="0" tIns="0" rIns="0" bIns="0" rtlCol="0">
            <a:noAutofit/>
          </a:bodyPr>
          <a:lstStyle/>
          <a:p>
            <a:r>
              <a:rPr lang="vi-VN" sz="1200" b="1">
                <a:solidFill>
                  <a:srgbClr val="C0CAF5"/>
                </a:solidFill>
                <a:latin typeface="Aptos" panose="020B0004020202020204" pitchFamily="34" charset="0"/>
              </a:rPr>
              <a:t>User</a:t>
            </a:r>
          </a:p>
        </p:txBody>
      </p:sp>
      <p:sp>
        <p:nvSpPr>
          <p:cNvPr id="13" name="HTML Text 12">
            <a:extLst>
              <a:ext uri="{FF2B5EF4-FFF2-40B4-BE49-F238E27FC236}">
                <a16:creationId xmlns:a16="http://schemas.microsoft.com/office/drawing/2014/main" id="{4AB2EAC1-E6A1-B1DB-D1DC-D9E04B5EFFCA}"/>
              </a:ext>
            </a:extLst>
          </p:cNvPr>
          <p:cNvSpPr txBox="1"/>
          <p:nvPr/>
        </p:nvSpPr>
        <p:spPr>
          <a:xfrm>
            <a:off x="720203" y="4229527"/>
            <a:ext cx="24130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Follow · Rating · PasswordResetToken</a:t>
            </a:r>
          </a:p>
        </p:txBody>
      </p:sp>
      <p:sp>
        <p:nvSpPr>
          <p:cNvPr id="14" name="HTML Text 13">
            <a:extLst>
              <a:ext uri="{FF2B5EF4-FFF2-40B4-BE49-F238E27FC236}">
                <a16:creationId xmlns:a16="http://schemas.microsoft.com/office/drawing/2014/main" id="{26E763C8-FBC7-435E-3587-E4C4861DEBBC}"/>
              </a:ext>
            </a:extLst>
          </p:cNvPr>
          <p:cNvSpPr txBox="1"/>
          <p:nvPr/>
        </p:nvSpPr>
        <p:spPr>
          <a:xfrm>
            <a:off x="3509380" y="3278461"/>
            <a:ext cx="24130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COMMUNITY</a:t>
            </a:r>
          </a:p>
        </p:txBody>
      </p:sp>
      <p:sp>
        <p:nvSpPr>
          <p:cNvPr id="15" name="HTML Text 14">
            <a:extLst>
              <a:ext uri="{FF2B5EF4-FFF2-40B4-BE49-F238E27FC236}">
                <a16:creationId xmlns:a16="http://schemas.microsoft.com/office/drawing/2014/main" id="{0EABC990-8404-14C7-900A-13FE28AD3426}"/>
              </a:ext>
            </a:extLst>
          </p:cNvPr>
          <p:cNvSpPr txBox="1"/>
          <p:nvPr/>
        </p:nvSpPr>
        <p:spPr>
          <a:xfrm>
            <a:off x="3509380" y="3918578"/>
            <a:ext cx="2413000" cy="276999"/>
          </a:xfrm>
          <a:prstGeom prst="rect">
            <a:avLst/>
          </a:prstGeom>
          <a:noFill/>
        </p:spPr>
        <p:txBody>
          <a:bodyPr vert="horz" wrap="square" lIns="0" tIns="0" rIns="0" bIns="0" rtlCol="0">
            <a:noAutofit/>
          </a:bodyPr>
          <a:lstStyle/>
          <a:p>
            <a:r>
              <a:rPr lang="vi-VN" sz="1200" b="1">
                <a:solidFill>
                  <a:srgbClr val="C0CAF5"/>
                </a:solidFill>
                <a:latin typeface="Aptos" panose="020B0004020202020204" pitchFamily="34" charset="0"/>
              </a:rPr>
              <a:t>Post</a:t>
            </a:r>
          </a:p>
        </p:txBody>
      </p:sp>
      <p:sp>
        <p:nvSpPr>
          <p:cNvPr id="16" name="HTML Text 15">
            <a:extLst>
              <a:ext uri="{FF2B5EF4-FFF2-40B4-BE49-F238E27FC236}">
                <a16:creationId xmlns:a16="http://schemas.microsoft.com/office/drawing/2014/main" id="{978C84B5-7A1E-F947-8DEA-0CECB86F42E1}"/>
              </a:ext>
            </a:extLst>
          </p:cNvPr>
          <p:cNvSpPr txBox="1"/>
          <p:nvPr/>
        </p:nvSpPr>
        <p:spPr>
          <a:xfrm>
            <a:off x="3509380" y="4229527"/>
            <a:ext cx="2413000" cy="276999"/>
          </a:xfrm>
          <a:prstGeom prst="rect">
            <a:avLst/>
          </a:prstGeom>
          <a:noFill/>
        </p:spPr>
        <p:txBody>
          <a:bodyPr vert="horz" wrap="square" lIns="0" tIns="0" rIns="0" bIns="0" rtlCol="0">
            <a:noAutofit/>
          </a:bodyPr>
          <a:lstStyle/>
          <a:p>
            <a:r>
              <a:rPr lang="en-US" sz="700">
                <a:solidFill>
                  <a:srgbClr val="565F89"/>
                </a:solidFill>
                <a:latin typeface="Aptos" panose="020B0004020202020204" pitchFamily="34" charset="0"/>
              </a:rPr>
              <a:t>Image · Like · Comment · Bookmark · Share · Article</a:t>
            </a:r>
            <a:endParaRPr lang="vi-VN" sz="700">
              <a:solidFill>
                <a:srgbClr val="565F89"/>
              </a:solidFill>
              <a:latin typeface="Aptos" panose="020B0004020202020204" pitchFamily="34" charset="0"/>
            </a:endParaRPr>
          </a:p>
        </p:txBody>
      </p:sp>
      <p:sp>
        <p:nvSpPr>
          <p:cNvPr id="17" name="HTML Text 16">
            <a:extLst>
              <a:ext uri="{FF2B5EF4-FFF2-40B4-BE49-F238E27FC236}">
                <a16:creationId xmlns:a16="http://schemas.microsoft.com/office/drawing/2014/main" id="{8C55663E-1887-BAB1-21F4-DCD9FC59E671}"/>
              </a:ext>
            </a:extLst>
          </p:cNvPr>
          <p:cNvSpPr txBox="1"/>
          <p:nvPr/>
        </p:nvSpPr>
        <p:spPr>
          <a:xfrm>
            <a:off x="6298557" y="3278461"/>
            <a:ext cx="24130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COMMERCE</a:t>
            </a:r>
          </a:p>
        </p:txBody>
      </p:sp>
      <p:sp>
        <p:nvSpPr>
          <p:cNvPr id="18" name="HTML Text 17">
            <a:extLst>
              <a:ext uri="{FF2B5EF4-FFF2-40B4-BE49-F238E27FC236}">
                <a16:creationId xmlns:a16="http://schemas.microsoft.com/office/drawing/2014/main" id="{F8C3A3CE-02CA-ECFA-A0CE-99450DB16904}"/>
              </a:ext>
            </a:extLst>
          </p:cNvPr>
          <p:cNvSpPr txBox="1"/>
          <p:nvPr/>
        </p:nvSpPr>
        <p:spPr>
          <a:xfrm>
            <a:off x="6298557" y="3918578"/>
            <a:ext cx="2413000" cy="276999"/>
          </a:xfrm>
          <a:prstGeom prst="rect">
            <a:avLst/>
          </a:prstGeom>
          <a:noFill/>
        </p:spPr>
        <p:txBody>
          <a:bodyPr vert="horz" wrap="square" lIns="0" tIns="0" rIns="0" bIns="0" rtlCol="0">
            <a:noAutofit/>
          </a:bodyPr>
          <a:lstStyle/>
          <a:p>
            <a:r>
              <a:rPr lang="vi-VN" sz="1200" b="1">
                <a:solidFill>
                  <a:srgbClr val="C0CAF5"/>
                </a:solidFill>
                <a:latin typeface="Aptos" panose="020B0004020202020204" pitchFamily="34" charset="0"/>
              </a:rPr>
              <a:t>GarageVehicle</a:t>
            </a:r>
          </a:p>
        </p:txBody>
      </p:sp>
      <p:sp>
        <p:nvSpPr>
          <p:cNvPr id="19" name="HTML Text 18">
            <a:extLst>
              <a:ext uri="{FF2B5EF4-FFF2-40B4-BE49-F238E27FC236}">
                <a16:creationId xmlns:a16="http://schemas.microsoft.com/office/drawing/2014/main" id="{B893BC79-47A7-D2FF-71BB-F6647D728AAD}"/>
              </a:ext>
            </a:extLst>
          </p:cNvPr>
          <p:cNvSpPr txBox="1"/>
          <p:nvPr/>
        </p:nvSpPr>
        <p:spPr>
          <a:xfrm>
            <a:off x="6298557" y="4229527"/>
            <a:ext cx="24130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VehicleListing · Favorite · ListingComment · Vehicle legacy</a:t>
            </a:r>
          </a:p>
        </p:txBody>
      </p:sp>
      <p:sp>
        <p:nvSpPr>
          <p:cNvPr id="20" name="HTML Text 19">
            <a:extLst>
              <a:ext uri="{FF2B5EF4-FFF2-40B4-BE49-F238E27FC236}">
                <a16:creationId xmlns:a16="http://schemas.microsoft.com/office/drawing/2014/main" id="{AA269C13-2D3D-394E-FE9C-7B373EDD414C}"/>
              </a:ext>
            </a:extLst>
          </p:cNvPr>
          <p:cNvSpPr txBox="1"/>
          <p:nvPr/>
        </p:nvSpPr>
        <p:spPr>
          <a:xfrm>
            <a:off x="9087734" y="3278461"/>
            <a:ext cx="24130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ENGAGEMENT</a:t>
            </a:r>
          </a:p>
        </p:txBody>
      </p:sp>
      <p:sp>
        <p:nvSpPr>
          <p:cNvPr id="21" name="HTML Text 20">
            <a:extLst>
              <a:ext uri="{FF2B5EF4-FFF2-40B4-BE49-F238E27FC236}">
                <a16:creationId xmlns:a16="http://schemas.microsoft.com/office/drawing/2014/main" id="{16E12444-74A7-E0CB-C865-A046FF5E9186}"/>
              </a:ext>
            </a:extLst>
          </p:cNvPr>
          <p:cNvSpPr txBox="1"/>
          <p:nvPr/>
        </p:nvSpPr>
        <p:spPr>
          <a:xfrm>
            <a:off x="9087734" y="3918578"/>
            <a:ext cx="2413000" cy="276999"/>
          </a:xfrm>
          <a:prstGeom prst="rect">
            <a:avLst/>
          </a:prstGeom>
          <a:noFill/>
        </p:spPr>
        <p:txBody>
          <a:bodyPr vert="horz" wrap="square" lIns="0" tIns="0" rIns="0" bIns="0" rtlCol="0">
            <a:noAutofit/>
          </a:bodyPr>
          <a:lstStyle/>
          <a:p>
            <a:r>
              <a:rPr lang="vi-VN" sz="1200" b="1">
                <a:solidFill>
                  <a:srgbClr val="C0CAF5"/>
                </a:solidFill>
                <a:latin typeface="Aptos" panose="020B0004020202020204" pitchFamily="34" charset="0"/>
              </a:rPr>
              <a:t>Conversation</a:t>
            </a:r>
          </a:p>
        </p:txBody>
      </p:sp>
      <p:sp>
        <p:nvSpPr>
          <p:cNvPr id="22" name="HTML Text 21">
            <a:extLst>
              <a:ext uri="{FF2B5EF4-FFF2-40B4-BE49-F238E27FC236}">
                <a16:creationId xmlns:a16="http://schemas.microsoft.com/office/drawing/2014/main" id="{1855366B-5F6A-F5CF-4BB6-CE2296509330}"/>
              </a:ext>
            </a:extLst>
          </p:cNvPr>
          <p:cNvSpPr txBox="1"/>
          <p:nvPr/>
        </p:nvSpPr>
        <p:spPr>
          <a:xfrm>
            <a:off x="9087734" y="4229527"/>
            <a:ext cx="24130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Message · Notification</a:t>
            </a:r>
          </a:p>
        </p:txBody>
      </p:sp>
      <p:sp>
        <p:nvSpPr>
          <p:cNvPr id="23" name="HTML Text 22">
            <a:extLst>
              <a:ext uri="{FF2B5EF4-FFF2-40B4-BE49-F238E27FC236}">
                <a16:creationId xmlns:a16="http://schemas.microsoft.com/office/drawing/2014/main" id="{11C51A71-9B11-9622-410E-CF7AA046457C}"/>
              </a:ext>
            </a:extLst>
          </p:cNvPr>
          <p:cNvSpPr txBox="1"/>
          <p:nvPr/>
        </p:nvSpPr>
        <p:spPr>
          <a:xfrm>
            <a:off x="4048125" y="4770839"/>
            <a:ext cx="1600200" cy="276999"/>
          </a:xfrm>
          <a:prstGeom prst="rect">
            <a:avLst/>
          </a:prstGeom>
          <a:noFill/>
        </p:spPr>
        <p:txBody>
          <a:bodyPr vert="horz" wrap="square" lIns="0" tIns="0" rIns="0" bIns="0" rtlCol="0">
            <a:noAutofit/>
          </a:bodyPr>
          <a:lstStyle/>
          <a:p>
            <a:r>
              <a:rPr lang="vi-VN" sz="500" b="1">
                <a:solidFill>
                  <a:srgbClr val="A9B1D6"/>
                </a:solidFill>
                <a:latin typeface="Consolas" panose="020B0609020204030204" pitchFamily="49" charset="0"/>
              </a:rPr>
              <a:t>User → GarageVehicle → VehicleListing</a:t>
            </a:r>
          </a:p>
        </p:txBody>
      </p:sp>
      <p:sp>
        <p:nvSpPr>
          <p:cNvPr id="24" name="HTML Text 23">
            <a:extLst>
              <a:ext uri="{FF2B5EF4-FFF2-40B4-BE49-F238E27FC236}">
                <a16:creationId xmlns:a16="http://schemas.microsoft.com/office/drawing/2014/main" id="{C8A77386-5187-0935-DEC7-1BE6FCDD5519}"/>
              </a:ext>
            </a:extLst>
          </p:cNvPr>
          <p:cNvSpPr txBox="1"/>
          <p:nvPr/>
        </p:nvSpPr>
        <p:spPr>
          <a:xfrm>
            <a:off x="5681944" y="4770839"/>
            <a:ext cx="1295400" cy="276999"/>
          </a:xfrm>
          <a:prstGeom prst="rect">
            <a:avLst/>
          </a:prstGeom>
          <a:noFill/>
        </p:spPr>
        <p:txBody>
          <a:bodyPr vert="horz" wrap="square" lIns="0" tIns="0" rIns="0" bIns="0" rtlCol="0">
            <a:noAutofit/>
          </a:bodyPr>
          <a:lstStyle/>
          <a:p>
            <a:r>
              <a:rPr lang="vi-VN" sz="500" b="1">
                <a:solidFill>
                  <a:srgbClr val="A9B1D6"/>
                </a:solidFill>
                <a:latin typeface="Consolas" panose="020B0609020204030204" pitchFamily="49" charset="0"/>
              </a:rPr>
              <a:t>User ↔ Conversation ↔ Message</a:t>
            </a:r>
          </a:p>
        </p:txBody>
      </p:sp>
      <p:sp>
        <p:nvSpPr>
          <p:cNvPr id="25" name="HTML Text 24">
            <a:extLst>
              <a:ext uri="{FF2B5EF4-FFF2-40B4-BE49-F238E27FC236}">
                <a16:creationId xmlns:a16="http://schemas.microsoft.com/office/drawing/2014/main" id="{075381D4-5D6E-A500-C15D-E74407C538C1}"/>
              </a:ext>
            </a:extLst>
          </p:cNvPr>
          <p:cNvSpPr txBox="1"/>
          <p:nvPr/>
        </p:nvSpPr>
        <p:spPr>
          <a:xfrm>
            <a:off x="7015343" y="4770839"/>
            <a:ext cx="1155700" cy="276999"/>
          </a:xfrm>
          <a:prstGeom prst="rect">
            <a:avLst/>
          </a:prstGeom>
          <a:noFill/>
        </p:spPr>
        <p:txBody>
          <a:bodyPr vert="horz" wrap="square" lIns="0" tIns="0" rIns="0" bIns="0" rtlCol="0">
            <a:noAutofit/>
          </a:bodyPr>
          <a:lstStyle/>
          <a:p>
            <a:r>
              <a:rPr lang="vi-VN" sz="500" b="1">
                <a:solidFill>
                  <a:srgbClr val="A9B1D6"/>
                </a:solidFill>
                <a:latin typeface="Consolas" panose="020B0609020204030204" pitchFamily="49" charset="0"/>
              </a:rPr>
              <a:t>Post → Interaction models</a:t>
            </a:r>
          </a:p>
        </p:txBody>
      </p:sp>
      <p:sp>
        <p:nvSpPr>
          <p:cNvPr id="26" name="TextBox 25">
            <a:extLst>
              <a:ext uri="{FF2B5EF4-FFF2-40B4-BE49-F238E27FC236}">
                <a16:creationId xmlns:a16="http://schemas.microsoft.com/office/drawing/2014/main" id="{45B93D52-9389-2322-2781-38A84022F3A8}"/>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19 / 24</a:t>
            </a:r>
          </a:p>
        </p:txBody>
      </p:sp>
    </p:spTree>
    <p:extLst>
      <p:ext uri="{BB962C8B-B14F-4D97-AF65-F5344CB8AC3E}">
        <p14:creationId xmlns:p14="http://schemas.microsoft.com/office/powerpoint/2010/main" val="2080409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9EA04DC0-C79E-E581-6912-2B1B3D19CF2C}"/>
              </a:ext>
            </a:extLst>
          </p:cNvPr>
          <p:cNvSpPr/>
          <p:nvPr/>
        </p:nvSpPr>
        <p:spPr>
          <a:xfrm>
            <a:off x="565873" y="3066100"/>
            <a:ext cx="11060253" cy="43036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2A3E48B4-7244-92E9-F7CC-A1906CCAC304}"/>
              </a:ext>
            </a:extLst>
          </p:cNvPr>
          <p:cNvSpPr/>
          <p:nvPr/>
        </p:nvSpPr>
        <p:spPr>
          <a:xfrm>
            <a:off x="565873" y="3579756"/>
            <a:ext cx="11060253" cy="430360"/>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1CC84C56-C95C-03C4-D871-410589D4DB88}"/>
              </a:ext>
            </a:extLst>
          </p:cNvPr>
          <p:cNvSpPr/>
          <p:nvPr/>
        </p:nvSpPr>
        <p:spPr>
          <a:xfrm>
            <a:off x="565873" y="4093412"/>
            <a:ext cx="11060253" cy="430360"/>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C8893C4A-2F09-B21A-3A49-9E9D5632BD2E}"/>
              </a:ext>
            </a:extLst>
          </p:cNvPr>
          <p:cNvSpPr/>
          <p:nvPr/>
        </p:nvSpPr>
        <p:spPr>
          <a:xfrm>
            <a:off x="4346334" y="4759777"/>
            <a:ext cx="495943" cy="29977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75C27E7E-CA39-C6CA-FF2E-20B1E932B014}"/>
              </a:ext>
            </a:extLst>
          </p:cNvPr>
          <p:cNvSpPr/>
          <p:nvPr/>
        </p:nvSpPr>
        <p:spPr>
          <a:xfrm>
            <a:off x="5085626" y="4759777"/>
            <a:ext cx="551908" cy="29977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AF0A3164-D990-F1D4-00E6-925A2FA0E5EE}"/>
              </a:ext>
            </a:extLst>
          </p:cNvPr>
          <p:cNvSpPr/>
          <p:nvPr/>
        </p:nvSpPr>
        <p:spPr>
          <a:xfrm>
            <a:off x="5880884" y="4759777"/>
            <a:ext cx="554419" cy="29977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7DF600CF-D483-9F7D-72FE-6BB2BE615CAA}"/>
              </a:ext>
            </a:extLst>
          </p:cNvPr>
          <p:cNvSpPr/>
          <p:nvPr/>
        </p:nvSpPr>
        <p:spPr>
          <a:xfrm>
            <a:off x="6678653" y="4759777"/>
            <a:ext cx="474541" cy="29977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Shape 8">
            <a:extLst>
              <a:ext uri="{FF2B5EF4-FFF2-40B4-BE49-F238E27FC236}">
                <a16:creationId xmlns:a16="http://schemas.microsoft.com/office/drawing/2014/main" id="{6A4C56DC-504D-CA07-4D85-3730D1276800}"/>
              </a:ext>
            </a:extLst>
          </p:cNvPr>
          <p:cNvSpPr/>
          <p:nvPr/>
        </p:nvSpPr>
        <p:spPr>
          <a:xfrm>
            <a:off x="7396545" y="4759777"/>
            <a:ext cx="449122" cy="299777"/>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TML Text 9">
            <a:extLst>
              <a:ext uri="{FF2B5EF4-FFF2-40B4-BE49-F238E27FC236}">
                <a16:creationId xmlns:a16="http://schemas.microsoft.com/office/drawing/2014/main" id="{352E06F9-90FA-E0C8-8E5F-F011891175B7}"/>
              </a:ext>
            </a:extLst>
          </p:cNvPr>
          <p:cNvSpPr txBox="1"/>
          <p:nvPr/>
        </p:nvSpPr>
        <p:spPr>
          <a:xfrm>
            <a:off x="565873" y="1798446"/>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18 · API SURFACE</a:t>
            </a:r>
          </a:p>
        </p:txBody>
      </p:sp>
      <p:sp>
        <p:nvSpPr>
          <p:cNvPr id="11" name="HTML Text 10">
            <a:extLst>
              <a:ext uri="{FF2B5EF4-FFF2-40B4-BE49-F238E27FC236}">
                <a16:creationId xmlns:a16="http://schemas.microsoft.com/office/drawing/2014/main" id="{8723F5A0-29F6-370B-ACE9-87C4C6DA8FBE}"/>
              </a:ext>
            </a:extLst>
          </p:cNvPr>
          <p:cNvSpPr txBox="1"/>
          <p:nvPr/>
        </p:nvSpPr>
        <p:spPr>
          <a:xfrm>
            <a:off x="565873" y="2020568"/>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API được nhóm theo tài nguyên và mức quyền</a:t>
            </a:r>
          </a:p>
        </p:txBody>
      </p:sp>
      <p:sp>
        <p:nvSpPr>
          <p:cNvPr id="12" name="HTML Text 11">
            <a:extLst>
              <a:ext uri="{FF2B5EF4-FFF2-40B4-BE49-F238E27FC236}">
                <a16:creationId xmlns:a16="http://schemas.microsoft.com/office/drawing/2014/main" id="{09D3BC08-2B33-B22F-2008-12B91B881CA3}"/>
              </a:ext>
            </a:extLst>
          </p:cNvPr>
          <p:cNvSpPr txBox="1"/>
          <p:nvPr/>
        </p:nvSpPr>
        <p:spPr>
          <a:xfrm>
            <a:off x="707342" y="3236162"/>
            <a:ext cx="6731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PUBLIC</a:t>
            </a:r>
          </a:p>
        </p:txBody>
      </p:sp>
      <p:sp>
        <p:nvSpPr>
          <p:cNvPr id="13" name="HTML Text 12">
            <a:extLst>
              <a:ext uri="{FF2B5EF4-FFF2-40B4-BE49-F238E27FC236}">
                <a16:creationId xmlns:a16="http://schemas.microsoft.com/office/drawing/2014/main" id="{8C5D2C67-EBAA-26C0-9F76-73E08B46FE9D}"/>
              </a:ext>
            </a:extLst>
          </p:cNvPr>
          <p:cNvSpPr txBox="1"/>
          <p:nvPr/>
        </p:nvSpPr>
        <p:spPr>
          <a:xfrm>
            <a:off x="1350380" y="3197985"/>
            <a:ext cx="8483600" cy="276999"/>
          </a:xfrm>
          <a:prstGeom prst="rect">
            <a:avLst/>
          </a:prstGeom>
          <a:noFill/>
        </p:spPr>
        <p:txBody>
          <a:bodyPr vert="horz" wrap="square" lIns="0" tIns="0" rIns="0" bIns="0" rtlCol="0">
            <a:noAutofit/>
          </a:bodyPr>
          <a:lstStyle/>
          <a:p>
            <a:r>
              <a:rPr lang="en-US" sz="800" b="1">
                <a:solidFill>
                  <a:srgbClr val="C0CAF5"/>
                </a:solidFill>
                <a:latin typeface="Aptos" panose="020B0004020202020204" pitchFamily="34" charset="0"/>
              </a:rPr>
              <a:t>/auth · /posts · /vehicles · /articles · /users/:id</a:t>
            </a:r>
            <a:endParaRPr lang="vi-VN" sz="800" b="1">
              <a:solidFill>
                <a:srgbClr val="C0CAF5"/>
              </a:solidFill>
              <a:latin typeface="Aptos" panose="020B0004020202020204" pitchFamily="34" charset="0"/>
            </a:endParaRPr>
          </a:p>
        </p:txBody>
      </p:sp>
      <p:sp>
        <p:nvSpPr>
          <p:cNvPr id="14" name="HTML Text 13">
            <a:extLst>
              <a:ext uri="{FF2B5EF4-FFF2-40B4-BE49-F238E27FC236}">
                <a16:creationId xmlns:a16="http://schemas.microsoft.com/office/drawing/2014/main" id="{E5C97316-FE0E-B789-B4D7-348DA8C801CF}"/>
              </a:ext>
            </a:extLst>
          </p:cNvPr>
          <p:cNvSpPr txBox="1"/>
          <p:nvPr/>
        </p:nvSpPr>
        <p:spPr>
          <a:xfrm>
            <a:off x="9812759" y="3207312"/>
            <a:ext cx="17018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Đăng nhập và đọc dữ liệu công khai</a:t>
            </a:r>
          </a:p>
        </p:txBody>
      </p:sp>
      <p:sp>
        <p:nvSpPr>
          <p:cNvPr id="15" name="HTML Text 14">
            <a:extLst>
              <a:ext uri="{FF2B5EF4-FFF2-40B4-BE49-F238E27FC236}">
                <a16:creationId xmlns:a16="http://schemas.microsoft.com/office/drawing/2014/main" id="{273600C9-A79C-5400-B057-6A80108D8434}"/>
              </a:ext>
            </a:extLst>
          </p:cNvPr>
          <p:cNvSpPr txBox="1"/>
          <p:nvPr/>
        </p:nvSpPr>
        <p:spPr>
          <a:xfrm>
            <a:off x="707342" y="3749818"/>
            <a:ext cx="6731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MEMBER</a:t>
            </a:r>
          </a:p>
        </p:txBody>
      </p:sp>
      <p:sp>
        <p:nvSpPr>
          <p:cNvPr id="16" name="HTML Text 15">
            <a:extLst>
              <a:ext uri="{FF2B5EF4-FFF2-40B4-BE49-F238E27FC236}">
                <a16:creationId xmlns:a16="http://schemas.microsoft.com/office/drawing/2014/main" id="{0185A5B9-5DC2-C417-0AA9-5410BBF348E8}"/>
              </a:ext>
            </a:extLst>
          </p:cNvPr>
          <p:cNvSpPr txBox="1"/>
          <p:nvPr/>
        </p:nvSpPr>
        <p:spPr>
          <a:xfrm>
            <a:off x="1350380" y="3711641"/>
            <a:ext cx="84836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/garage · /messages · /notifications · /uploads · /ai</a:t>
            </a:r>
          </a:p>
        </p:txBody>
      </p:sp>
      <p:sp>
        <p:nvSpPr>
          <p:cNvPr id="17" name="HTML Text 16">
            <a:extLst>
              <a:ext uri="{FF2B5EF4-FFF2-40B4-BE49-F238E27FC236}">
                <a16:creationId xmlns:a16="http://schemas.microsoft.com/office/drawing/2014/main" id="{D39C8C48-B15F-6E82-6024-4B5DA07425DF}"/>
              </a:ext>
            </a:extLst>
          </p:cNvPr>
          <p:cNvSpPr txBox="1"/>
          <p:nvPr/>
        </p:nvSpPr>
        <p:spPr>
          <a:xfrm>
            <a:off x="9812759" y="3720968"/>
            <a:ext cx="17018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Yêu cầu Bearer JWT</a:t>
            </a:r>
          </a:p>
        </p:txBody>
      </p:sp>
      <p:sp>
        <p:nvSpPr>
          <p:cNvPr id="18" name="HTML Text 17">
            <a:extLst>
              <a:ext uri="{FF2B5EF4-FFF2-40B4-BE49-F238E27FC236}">
                <a16:creationId xmlns:a16="http://schemas.microsoft.com/office/drawing/2014/main" id="{3ABCEF4F-C63D-C5B5-4896-F4E824DA5547}"/>
              </a:ext>
            </a:extLst>
          </p:cNvPr>
          <p:cNvSpPr txBox="1"/>
          <p:nvPr/>
        </p:nvSpPr>
        <p:spPr>
          <a:xfrm>
            <a:off x="707342" y="4263474"/>
            <a:ext cx="6731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ADMIN</a:t>
            </a:r>
          </a:p>
        </p:txBody>
      </p:sp>
      <p:sp>
        <p:nvSpPr>
          <p:cNvPr id="19" name="HTML Text 18">
            <a:extLst>
              <a:ext uri="{FF2B5EF4-FFF2-40B4-BE49-F238E27FC236}">
                <a16:creationId xmlns:a16="http://schemas.microsoft.com/office/drawing/2014/main" id="{82F0CCB9-2477-91C3-592B-269C07CD2567}"/>
              </a:ext>
            </a:extLst>
          </p:cNvPr>
          <p:cNvSpPr txBox="1"/>
          <p:nvPr/>
        </p:nvSpPr>
        <p:spPr>
          <a:xfrm>
            <a:off x="1350380" y="4225297"/>
            <a:ext cx="8483600" cy="276999"/>
          </a:xfrm>
          <a:prstGeom prst="rect">
            <a:avLst/>
          </a:prstGeom>
          <a:noFill/>
        </p:spPr>
        <p:txBody>
          <a:bodyPr vert="horz" wrap="square" lIns="0" tIns="0" rIns="0" bIns="0" rtlCol="0">
            <a:noAutofit/>
          </a:bodyPr>
          <a:lstStyle/>
          <a:p>
            <a:r>
              <a:rPr lang="fr-FR" sz="800" b="1">
                <a:solidFill>
                  <a:srgbClr val="C0CAF5"/>
                </a:solidFill>
                <a:latin typeface="Aptos" panose="020B0004020202020204" pitchFamily="34" charset="0"/>
              </a:rPr>
              <a:t>/admin/users · posts · vehicles · articles · engagement</a:t>
            </a:r>
            <a:endParaRPr lang="vi-VN" sz="800" b="1">
              <a:solidFill>
                <a:srgbClr val="C0CAF5"/>
              </a:solidFill>
              <a:latin typeface="Aptos" panose="020B0004020202020204" pitchFamily="34" charset="0"/>
            </a:endParaRPr>
          </a:p>
        </p:txBody>
      </p:sp>
      <p:sp>
        <p:nvSpPr>
          <p:cNvPr id="20" name="HTML Text 19">
            <a:extLst>
              <a:ext uri="{FF2B5EF4-FFF2-40B4-BE49-F238E27FC236}">
                <a16:creationId xmlns:a16="http://schemas.microsoft.com/office/drawing/2014/main" id="{3EED4A87-9999-D1A4-28C8-DF4E19355B3E}"/>
              </a:ext>
            </a:extLst>
          </p:cNvPr>
          <p:cNvSpPr txBox="1"/>
          <p:nvPr/>
        </p:nvSpPr>
        <p:spPr>
          <a:xfrm>
            <a:off x="9812759" y="4234624"/>
            <a:ext cx="17018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Yêu cầu role ADMIN</a:t>
            </a:r>
          </a:p>
        </p:txBody>
      </p:sp>
      <p:sp>
        <p:nvSpPr>
          <p:cNvPr id="21" name="HTML Text 20">
            <a:extLst>
              <a:ext uri="{FF2B5EF4-FFF2-40B4-BE49-F238E27FC236}">
                <a16:creationId xmlns:a16="http://schemas.microsoft.com/office/drawing/2014/main" id="{D28E90F2-AE04-5E13-FFDE-E23D45D81B71}"/>
              </a:ext>
            </a:extLst>
          </p:cNvPr>
          <p:cNvSpPr txBox="1"/>
          <p:nvPr/>
        </p:nvSpPr>
        <p:spPr>
          <a:xfrm>
            <a:off x="4346334" y="4759777"/>
            <a:ext cx="520700" cy="276999"/>
          </a:xfrm>
          <a:prstGeom prst="rect">
            <a:avLst/>
          </a:prstGeom>
          <a:noFill/>
        </p:spPr>
        <p:txBody>
          <a:bodyPr vert="horz" wrap="square" lIns="0" tIns="0" rIns="0" bIns="0" rtlCol="0">
            <a:noAutofit/>
          </a:bodyPr>
          <a:lstStyle/>
          <a:p>
            <a:r>
              <a:rPr lang="vi-VN" sz="600">
                <a:solidFill>
                  <a:srgbClr val="C0CAF5"/>
                </a:solidFill>
                <a:latin typeface="Aptos" panose="020B0004020202020204" pitchFamily="34" charset="0"/>
              </a:rPr>
              <a:t>Request</a:t>
            </a:r>
          </a:p>
        </p:txBody>
      </p:sp>
      <p:sp>
        <p:nvSpPr>
          <p:cNvPr id="22" name="HTML Text 21">
            <a:extLst>
              <a:ext uri="{FF2B5EF4-FFF2-40B4-BE49-F238E27FC236}">
                <a16:creationId xmlns:a16="http://schemas.microsoft.com/office/drawing/2014/main" id="{B60D4CD3-1225-37BF-3D13-CEB0087F58B4}"/>
              </a:ext>
            </a:extLst>
          </p:cNvPr>
          <p:cNvSpPr txBox="1"/>
          <p:nvPr/>
        </p:nvSpPr>
        <p:spPr>
          <a:xfrm>
            <a:off x="4913011" y="4820838"/>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23" name="HTML Text 22">
            <a:extLst>
              <a:ext uri="{FF2B5EF4-FFF2-40B4-BE49-F238E27FC236}">
                <a16:creationId xmlns:a16="http://schemas.microsoft.com/office/drawing/2014/main" id="{E0511E8E-BFBB-8914-C7FA-AEEEF43C2F2C}"/>
              </a:ext>
            </a:extLst>
          </p:cNvPr>
          <p:cNvSpPr txBox="1"/>
          <p:nvPr/>
        </p:nvSpPr>
        <p:spPr>
          <a:xfrm>
            <a:off x="5085626" y="4759777"/>
            <a:ext cx="571500" cy="276999"/>
          </a:xfrm>
          <a:prstGeom prst="rect">
            <a:avLst/>
          </a:prstGeom>
          <a:noFill/>
        </p:spPr>
        <p:txBody>
          <a:bodyPr vert="horz" wrap="square" lIns="0" tIns="0" rIns="0" bIns="0" rtlCol="0">
            <a:noAutofit/>
          </a:bodyPr>
          <a:lstStyle/>
          <a:p>
            <a:r>
              <a:rPr lang="vi-VN" sz="600">
                <a:solidFill>
                  <a:srgbClr val="C0CAF5"/>
                </a:solidFill>
                <a:latin typeface="Aptos" panose="020B0004020202020204" pitchFamily="34" charset="0"/>
              </a:rPr>
              <a:t>Validation</a:t>
            </a:r>
          </a:p>
        </p:txBody>
      </p:sp>
      <p:sp>
        <p:nvSpPr>
          <p:cNvPr id="24" name="HTML Text 23">
            <a:extLst>
              <a:ext uri="{FF2B5EF4-FFF2-40B4-BE49-F238E27FC236}">
                <a16:creationId xmlns:a16="http://schemas.microsoft.com/office/drawing/2014/main" id="{0B216797-998A-ED28-FAD5-A9957F5F5C70}"/>
              </a:ext>
            </a:extLst>
          </p:cNvPr>
          <p:cNvSpPr txBox="1"/>
          <p:nvPr/>
        </p:nvSpPr>
        <p:spPr>
          <a:xfrm>
            <a:off x="5708268" y="4820838"/>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25" name="HTML Text 24">
            <a:extLst>
              <a:ext uri="{FF2B5EF4-FFF2-40B4-BE49-F238E27FC236}">
                <a16:creationId xmlns:a16="http://schemas.microsoft.com/office/drawing/2014/main" id="{4902B805-0112-2ACB-ECF1-0E337CFBDFB3}"/>
              </a:ext>
            </a:extLst>
          </p:cNvPr>
          <p:cNvSpPr txBox="1"/>
          <p:nvPr/>
        </p:nvSpPr>
        <p:spPr>
          <a:xfrm>
            <a:off x="5880884" y="4759777"/>
            <a:ext cx="584200" cy="276999"/>
          </a:xfrm>
          <a:prstGeom prst="rect">
            <a:avLst/>
          </a:prstGeom>
          <a:noFill/>
        </p:spPr>
        <p:txBody>
          <a:bodyPr vert="horz" wrap="square" lIns="0" tIns="0" rIns="0" bIns="0" rtlCol="0">
            <a:noAutofit/>
          </a:bodyPr>
          <a:lstStyle/>
          <a:p>
            <a:r>
              <a:rPr lang="vi-VN" sz="600">
                <a:solidFill>
                  <a:srgbClr val="C0CAF5"/>
                </a:solidFill>
                <a:latin typeface="Aptos" panose="020B0004020202020204" pitchFamily="34" charset="0"/>
              </a:rPr>
              <a:t>Controller</a:t>
            </a:r>
          </a:p>
        </p:txBody>
      </p:sp>
      <p:sp>
        <p:nvSpPr>
          <p:cNvPr id="26" name="HTML Text 25">
            <a:extLst>
              <a:ext uri="{FF2B5EF4-FFF2-40B4-BE49-F238E27FC236}">
                <a16:creationId xmlns:a16="http://schemas.microsoft.com/office/drawing/2014/main" id="{11ED62F2-AB5F-066E-667D-A48714F503BA}"/>
              </a:ext>
            </a:extLst>
          </p:cNvPr>
          <p:cNvSpPr txBox="1"/>
          <p:nvPr/>
        </p:nvSpPr>
        <p:spPr>
          <a:xfrm>
            <a:off x="6506037" y="4820838"/>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27" name="HTML Text 26">
            <a:extLst>
              <a:ext uri="{FF2B5EF4-FFF2-40B4-BE49-F238E27FC236}">
                <a16:creationId xmlns:a16="http://schemas.microsoft.com/office/drawing/2014/main" id="{562D0A2A-5AAC-7038-56A5-FD9130E6834B}"/>
              </a:ext>
            </a:extLst>
          </p:cNvPr>
          <p:cNvSpPr txBox="1"/>
          <p:nvPr/>
        </p:nvSpPr>
        <p:spPr>
          <a:xfrm>
            <a:off x="6678653" y="4759777"/>
            <a:ext cx="495300" cy="276999"/>
          </a:xfrm>
          <a:prstGeom prst="rect">
            <a:avLst/>
          </a:prstGeom>
          <a:noFill/>
        </p:spPr>
        <p:txBody>
          <a:bodyPr vert="horz" wrap="square" lIns="0" tIns="0" rIns="0" bIns="0" rtlCol="0">
            <a:noAutofit/>
          </a:bodyPr>
          <a:lstStyle/>
          <a:p>
            <a:r>
              <a:rPr lang="vi-VN" sz="600">
                <a:solidFill>
                  <a:srgbClr val="C0CAF5"/>
                </a:solidFill>
                <a:latin typeface="Aptos" panose="020B0004020202020204" pitchFamily="34" charset="0"/>
              </a:rPr>
              <a:t>Service</a:t>
            </a:r>
          </a:p>
        </p:txBody>
      </p:sp>
      <p:sp>
        <p:nvSpPr>
          <p:cNvPr id="28" name="HTML Text 27">
            <a:extLst>
              <a:ext uri="{FF2B5EF4-FFF2-40B4-BE49-F238E27FC236}">
                <a16:creationId xmlns:a16="http://schemas.microsoft.com/office/drawing/2014/main" id="{1B7C2AC3-4FD1-EBF9-6AFB-702FECC6F31B}"/>
              </a:ext>
            </a:extLst>
          </p:cNvPr>
          <p:cNvSpPr txBox="1"/>
          <p:nvPr/>
        </p:nvSpPr>
        <p:spPr>
          <a:xfrm>
            <a:off x="7223929" y="4820838"/>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29" name="HTML Text 28">
            <a:extLst>
              <a:ext uri="{FF2B5EF4-FFF2-40B4-BE49-F238E27FC236}">
                <a16:creationId xmlns:a16="http://schemas.microsoft.com/office/drawing/2014/main" id="{2A510D53-F26E-D6E8-3E44-C65F22D0BEC4}"/>
              </a:ext>
            </a:extLst>
          </p:cNvPr>
          <p:cNvSpPr txBox="1"/>
          <p:nvPr/>
        </p:nvSpPr>
        <p:spPr>
          <a:xfrm>
            <a:off x="7396545" y="4759777"/>
            <a:ext cx="469900" cy="276999"/>
          </a:xfrm>
          <a:prstGeom prst="rect">
            <a:avLst/>
          </a:prstGeom>
          <a:noFill/>
        </p:spPr>
        <p:txBody>
          <a:bodyPr vert="horz" wrap="square" lIns="0" tIns="0" rIns="0" bIns="0" rtlCol="0">
            <a:noAutofit/>
          </a:bodyPr>
          <a:lstStyle/>
          <a:p>
            <a:r>
              <a:rPr lang="vi-VN" sz="600">
                <a:solidFill>
                  <a:srgbClr val="C0CAF5"/>
                </a:solidFill>
                <a:latin typeface="Aptos" panose="020B0004020202020204" pitchFamily="34" charset="0"/>
              </a:rPr>
              <a:t>Prisma</a:t>
            </a:r>
          </a:p>
        </p:txBody>
      </p:sp>
      <p:sp>
        <p:nvSpPr>
          <p:cNvPr id="30" name="TextBox 29">
            <a:extLst>
              <a:ext uri="{FF2B5EF4-FFF2-40B4-BE49-F238E27FC236}">
                <a16:creationId xmlns:a16="http://schemas.microsoft.com/office/drawing/2014/main" id="{B3201D66-D249-D0BD-81DB-993F0561696B}"/>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20 / 24</a:t>
            </a:r>
          </a:p>
        </p:txBody>
      </p:sp>
    </p:spTree>
    <p:extLst>
      <p:ext uri="{BB962C8B-B14F-4D97-AF65-F5344CB8AC3E}">
        <p14:creationId xmlns:p14="http://schemas.microsoft.com/office/powerpoint/2010/main" val="2789927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3B102BC6-228B-C9BE-361C-B2C0E441C80D}"/>
              </a:ext>
            </a:extLst>
          </p:cNvPr>
          <p:cNvSpPr/>
          <p:nvPr/>
        </p:nvSpPr>
        <p:spPr>
          <a:xfrm>
            <a:off x="565873" y="3126078"/>
            <a:ext cx="3630955" cy="89163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269A6594-876B-2F41-EAD3-425978066F9A}"/>
              </a:ext>
            </a:extLst>
          </p:cNvPr>
          <p:cNvSpPr/>
          <p:nvPr/>
        </p:nvSpPr>
        <p:spPr>
          <a:xfrm>
            <a:off x="4280422" y="3126078"/>
            <a:ext cx="3631055" cy="89163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0F67E31E-4864-9F32-D779-26C68D1BA714}"/>
              </a:ext>
            </a:extLst>
          </p:cNvPr>
          <p:cNvSpPr/>
          <p:nvPr/>
        </p:nvSpPr>
        <p:spPr>
          <a:xfrm>
            <a:off x="7995072" y="3126078"/>
            <a:ext cx="3631054" cy="89163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02008EC9-BA63-3656-F911-44A1A3992063}"/>
              </a:ext>
            </a:extLst>
          </p:cNvPr>
          <p:cNvSpPr/>
          <p:nvPr/>
        </p:nvSpPr>
        <p:spPr>
          <a:xfrm>
            <a:off x="565873" y="4107945"/>
            <a:ext cx="3630955" cy="89163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23E37A4B-0F80-A0D0-2729-DBCA6F9D2873}"/>
              </a:ext>
            </a:extLst>
          </p:cNvPr>
          <p:cNvSpPr/>
          <p:nvPr/>
        </p:nvSpPr>
        <p:spPr>
          <a:xfrm>
            <a:off x="4280422" y="4107945"/>
            <a:ext cx="3631055" cy="89163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609226EA-3C87-0D57-90F9-B7D128993786}"/>
              </a:ext>
            </a:extLst>
          </p:cNvPr>
          <p:cNvSpPr/>
          <p:nvPr/>
        </p:nvSpPr>
        <p:spPr>
          <a:xfrm>
            <a:off x="7995072" y="4107945"/>
            <a:ext cx="3631054" cy="89163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67E90C9E-728C-62F5-3C49-83002A354EE0}"/>
              </a:ext>
            </a:extLst>
          </p:cNvPr>
          <p:cNvSpPr txBox="1"/>
          <p:nvPr/>
        </p:nvSpPr>
        <p:spPr>
          <a:xfrm>
            <a:off x="565873" y="1858423"/>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19 · SECURITY</a:t>
            </a:r>
          </a:p>
        </p:txBody>
      </p:sp>
      <p:sp>
        <p:nvSpPr>
          <p:cNvPr id="9" name="HTML Text 8">
            <a:extLst>
              <a:ext uri="{FF2B5EF4-FFF2-40B4-BE49-F238E27FC236}">
                <a16:creationId xmlns:a16="http://schemas.microsoft.com/office/drawing/2014/main" id="{7CF98759-C46F-3919-9803-01C496863277}"/>
              </a:ext>
            </a:extLst>
          </p:cNvPr>
          <p:cNvSpPr txBox="1"/>
          <p:nvPr/>
        </p:nvSpPr>
        <p:spPr>
          <a:xfrm>
            <a:off x="565873" y="2080545"/>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Phòng thủ theo nhiều lớp, từ HTTP tới quyền sở hữu</a:t>
            </a:r>
          </a:p>
        </p:txBody>
      </p:sp>
      <p:sp>
        <p:nvSpPr>
          <p:cNvPr id="10" name="HTML Text 9">
            <a:extLst>
              <a:ext uri="{FF2B5EF4-FFF2-40B4-BE49-F238E27FC236}">
                <a16:creationId xmlns:a16="http://schemas.microsoft.com/office/drawing/2014/main" id="{9EB1ECB5-4A7F-566E-0DB6-E69D62AB75A7}"/>
              </a:ext>
            </a:extLst>
          </p:cNvPr>
          <p:cNvSpPr txBox="1"/>
          <p:nvPr/>
        </p:nvSpPr>
        <p:spPr>
          <a:xfrm>
            <a:off x="707342" y="3278786"/>
            <a:ext cx="3378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AUTH</a:t>
            </a:r>
          </a:p>
        </p:txBody>
      </p:sp>
      <p:sp>
        <p:nvSpPr>
          <p:cNvPr id="11" name="HTML Text 10">
            <a:extLst>
              <a:ext uri="{FF2B5EF4-FFF2-40B4-BE49-F238E27FC236}">
                <a16:creationId xmlns:a16="http://schemas.microsoft.com/office/drawing/2014/main" id="{2EA84690-C6D0-629B-5D6D-CCEF62EBD9C0}"/>
              </a:ext>
            </a:extLst>
          </p:cNvPr>
          <p:cNvSpPr txBox="1"/>
          <p:nvPr/>
        </p:nvSpPr>
        <p:spPr>
          <a:xfrm>
            <a:off x="707342" y="3487025"/>
            <a:ext cx="33782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JWT + bcrypt</a:t>
            </a:r>
          </a:p>
        </p:txBody>
      </p:sp>
      <p:sp>
        <p:nvSpPr>
          <p:cNvPr id="12" name="HTML Text 11">
            <a:extLst>
              <a:ext uri="{FF2B5EF4-FFF2-40B4-BE49-F238E27FC236}">
                <a16:creationId xmlns:a16="http://schemas.microsoft.com/office/drawing/2014/main" id="{50C9E55C-F99C-F0C1-43B6-904119972A1A}"/>
              </a:ext>
            </a:extLst>
          </p:cNvPr>
          <p:cNvSpPr txBox="1"/>
          <p:nvPr/>
        </p:nvSpPr>
        <p:spPr>
          <a:xfrm>
            <a:off x="707342" y="3735501"/>
            <a:ext cx="33782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Token có hạn, mật khẩu không lưu dạng rõ</a:t>
            </a:r>
          </a:p>
        </p:txBody>
      </p:sp>
      <p:sp>
        <p:nvSpPr>
          <p:cNvPr id="13" name="HTML Text 12">
            <a:extLst>
              <a:ext uri="{FF2B5EF4-FFF2-40B4-BE49-F238E27FC236}">
                <a16:creationId xmlns:a16="http://schemas.microsoft.com/office/drawing/2014/main" id="{F853DDB5-1528-298B-418D-4FA9BE4B56AD}"/>
              </a:ext>
            </a:extLst>
          </p:cNvPr>
          <p:cNvSpPr txBox="1"/>
          <p:nvPr/>
        </p:nvSpPr>
        <p:spPr>
          <a:xfrm>
            <a:off x="4421891" y="3278786"/>
            <a:ext cx="3378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INPUT</a:t>
            </a:r>
          </a:p>
        </p:txBody>
      </p:sp>
      <p:sp>
        <p:nvSpPr>
          <p:cNvPr id="14" name="HTML Text 13">
            <a:extLst>
              <a:ext uri="{FF2B5EF4-FFF2-40B4-BE49-F238E27FC236}">
                <a16:creationId xmlns:a16="http://schemas.microsoft.com/office/drawing/2014/main" id="{F98F966D-8AD1-AAB2-0884-D7226EB45434}"/>
              </a:ext>
            </a:extLst>
          </p:cNvPr>
          <p:cNvSpPr txBox="1"/>
          <p:nvPr/>
        </p:nvSpPr>
        <p:spPr>
          <a:xfrm>
            <a:off x="4421891" y="3487025"/>
            <a:ext cx="33782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Zod validation</a:t>
            </a:r>
          </a:p>
        </p:txBody>
      </p:sp>
      <p:sp>
        <p:nvSpPr>
          <p:cNvPr id="15" name="HTML Text 14">
            <a:extLst>
              <a:ext uri="{FF2B5EF4-FFF2-40B4-BE49-F238E27FC236}">
                <a16:creationId xmlns:a16="http://schemas.microsoft.com/office/drawing/2014/main" id="{B269CFF7-F3DB-DBEB-23CD-98D96CFFBC50}"/>
              </a:ext>
            </a:extLst>
          </p:cNvPr>
          <p:cNvSpPr txBox="1"/>
          <p:nvPr/>
        </p:nvSpPr>
        <p:spPr>
          <a:xfrm>
            <a:off x="4421891" y="3735501"/>
            <a:ext cx="33782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Body quan trọng được kiểm tra schema</a:t>
            </a:r>
          </a:p>
        </p:txBody>
      </p:sp>
      <p:sp>
        <p:nvSpPr>
          <p:cNvPr id="16" name="HTML Text 15">
            <a:extLst>
              <a:ext uri="{FF2B5EF4-FFF2-40B4-BE49-F238E27FC236}">
                <a16:creationId xmlns:a16="http://schemas.microsoft.com/office/drawing/2014/main" id="{5EEE6CD2-AA39-8DB9-C2D2-16CF3326ABD5}"/>
              </a:ext>
            </a:extLst>
          </p:cNvPr>
          <p:cNvSpPr txBox="1"/>
          <p:nvPr/>
        </p:nvSpPr>
        <p:spPr>
          <a:xfrm>
            <a:off x="8136541" y="3278786"/>
            <a:ext cx="3378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HTTP</a:t>
            </a:r>
          </a:p>
        </p:txBody>
      </p:sp>
      <p:sp>
        <p:nvSpPr>
          <p:cNvPr id="17" name="HTML Text 16">
            <a:extLst>
              <a:ext uri="{FF2B5EF4-FFF2-40B4-BE49-F238E27FC236}">
                <a16:creationId xmlns:a16="http://schemas.microsoft.com/office/drawing/2014/main" id="{E508D6BF-0666-354C-BEFF-0FB9EF4CA57C}"/>
              </a:ext>
            </a:extLst>
          </p:cNvPr>
          <p:cNvSpPr txBox="1"/>
          <p:nvPr/>
        </p:nvSpPr>
        <p:spPr>
          <a:xfrm>
            <a:off x="8136541" y="3487025"/>
            <a:ext cx="33782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Helmet + CORS</a:t>
            </a:r>
          </a:p>
        </p:txBody>
      </p:sp>
      <p:sp>
        <p:nvSpPr>
          <p:cNvPr id="18" name="HTML Text 17">
            <a:extLst>
              <a:ext uri="{FF2B5EF4-FFF2-40B4-BE49-F238E27FC236}">
                <a16:creationId xmlns:a16="http://schemas.microsoft.com/office/drawing/2014/main" id="{59AF92B8-5C1B-3A9A-31D2-31D85564CB2E}"/>
              </a:ext>
            </a:extLst>
          </p:cNvPr>
          <p:cNvSpPr txBox="1"/>
          <p:nvPr/>
        </p:nvSpPr>
        <p:spPr>
          <a:xfrm>
            <a:off x="8136541" y="3735501"/>
            <a:ext cx="3378200" cy="276999"/>
          </a:xfrm>
          <a:prstGeom prst="rect">
            <a:avLst/>
          </a:prstGeom>
          <a:noFill/>
        </p:spPr>
        <p:txBody>
          <a:bodyPr vert="horz" wrap="square" lIns="0" tIns="0" rIns="0" bIns="0" rtlCol="0">
            <a:noAutofit/>
          </a:bodyPr>
          <a:lstStyle/>
          <a:p>
            <a:r>
              <a:rPr lang="en-US" sz="700">
                <a:solidFill>
                  <a:srgbClr val="565F89"/>
                </a:solidFill>
                <a:latin typeface="Aptos" panose="020B0004020202020204" pitchFamily="34" charset="0"/>
              </a:rPr>
              <a:t>Security headers và allow-list origin</a:t>
            </a:r>
            <a:endParaRPr lang="vi-VN" sz="700">
              <a:solidFill>
                <a:srgbClr val="565F89"/>
              </a:solidFill>
              <a:latin typeface="Aptos" panose="020B0004020202020204" pitchFamily="34" charset="0"/>
            </a:endParaRPr>
          </a:p>
        </p:txBody>
      </p:sp>
      <p:sp>
        <p:nvSpPr>
          <p:cNvPr id="19" name="HTML Text 18">
            <a:extLst>
              <a:ext uri="{FF2B5EF4-FFF2-40B4-BE49-F238E27FC236}">
                <a16:creationId xmlns:a16="http://schemas.microsoft.com/office/drawing/2014/main" id="{4518E83F-0295-1BB8-ED24-10AF69354748}"/>
              </a:ext>
            </a:extLst>
          </p:cNvPr>
          <p:cNvSpPr txBox="1"/>
          <p:nvPr/>
        </p:nvSpPr>
        <p:spPr>
          <a:xfrm>
            <a:off x="707342" y="4260654"/>
            <a:ext cx="3378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ABUSE</a:t>
            </a:r>
          </a:p>
        </p:txBody>
      </p:sp>
      <p:sp>
        <p:nvSpPr>
          <p:cNvPr id="20" name="HTML Text 19">
            <a:extLst>
              <a:ext uri="{FF2B5EF4-FFF2-40B4-BE49-F238E27FC236}">
                <a16:creationId xmlns:a16="http://schemas.microsoft.com/office/drawing/2014/main" id="{8C53C90E-0415-C841-D44C-0E8463310422}"/>
              </a:ext>
            </a:extLst>
          </p:cNvPr>
          <p:cNvSpPr txBox="1"/>
          <p:nvPr/>
        </p:nvSpPr>
        <p:spPr>
          <a:xfrm>
            <a:off x="707342" y="4468893"/>
            <a:ext cx="33782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Rate limiting</a:t>
            </a:r>
          </a:p>
        </p:txBody>
      </p:sp>
      <p:sp>
        <p:nvSpPr>
          <p:cNvPr id="21" name="HTML Text 20">
            <a:extLst>
              <a:ext uri="{FF2B5EF4-FFF2-40B4-BE49-F238E27FC236}">
                <a16:creationId xmlns:a16="http://schemas.microsoft.com/office/drawing/2014/main" id="{1B5CAEFB-A8A2-7342-6C7A-7BFD4055D989}"/>
              </a:ext>
            </a:extLst>
          </p:cNvPr>
          <p:cNvSpPr txBox="1"/>
          <p:nvPr/>
        </p:nvSpPr>
        <p:spPr>
          <a:xfrm>
            <a:off x="707342" y="4717369"/>
            <a:ext cx="3378200" cy="276999"/>
          </a:xfrm>
          <a:prstGeom prst="rect">
            <a:avLst/>
          </a:prstGeom>
          <a:noFill/>
        </p:spPr>
        <p:txBody>
          <a:bodyPr vert="horz" wrap="square" lIns="0" tIns="0" rIns="0" bIns="0" rtlCol="0">
            <a:noAutofit/>
          </a:bodyPr>
          <a:lstStyle/>
          <a:p>
            <a:r>
              <a:rPr lang="en-US" sz="700">
                <a:solidFill>
                  <a:srgbClr val="565F89"/>
                </a:solidFill>
                <a:latin typeface="Aptos" panose="020B0004020202020204" pitchFamily="34" charset="0"/>
              </a:rPr>
              <a:t>Bật trên production, bỏ qua health check</a:t>
            </a:r>
            <a:endParaRPr lang="vi-VN" sz="700">
              <a:solidFill>
                <a:srgbClr val="565F89"/>
              </a:solidFill>
              <a:latin typeface="Aptos" panose="020B0004020202020204" pitchFamily="34" charset="0"/>
            </a:endParaRPr>
          </a:p>
        </p:txBody>
      </p:sp>
      <p:sp>
        <p:nvSpPr>
          <p:cNvPr id="22" name="HTML Text 21">
            <a:extLst>
              <a:ext uri="{FF2B5EF4-FFF2-40B4-BE49-F238E27FC236}">
                <a16:creationId xmlns:a16="http://schemas.microsoft.com/office/drawing/2014/main" id="{BB2C0FD8-32D6-235D-B2F7-C61C1A464FA5}"/>
              </a:ext>
            </a:extLst>
          </p:cNvPr>
          <p:cNvSpPr txBox="1"/>
          <p:nvPr/>
        </p:nvSpPr>
        <p:spPr>
          <a:xfrm>
            <a:off x="4421891" y="4260654"/>
            <a:ext cx="3378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OWNERSHIP</a:t>
            </a:r>
          </a:p>
        </p:txBody>
      </p:sp>
      <p:sp>
        <p:nvSpPr>
          <p:cNvPr id="23" name="HTML Text 22">
            <a:extLst>
              <a:ext uri="{FF2B5EF4-FFF2-40B4-BE49-F238E27FC236}">
                <a16:creationId xmlns:a16="http://schemas.microsoft.com/office/drawing/2014/main" id="{9F9003CE-929D-E4A1-95A3-1253C563ED24}"/>
              </a:ext>
            </a:extLst>
          </p:cNvPr>
          <p:cNvSpPr txBox="1"/>
          <p:nvPr/>
        </p:nvSpPr>
        <p:spPr>
          <a:xfrm>
            <a:off x="4421891" y="4468893"/>
            <a:ext cx="33782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Owner / ADMIN</a:t>
            </a:r>
          </a:p>
        </p:txBody>
      </p:sp>
      <p:sp>
        <p:nvSpPr>
          <p:cNvPr id="24" name="HTML Text 23">
            <a:extLst>
              <a:ext uri="{FF2B5EF4-FFF2-40B4-BE49-F238E27FC236}">
                <a16:creationId xmlns:a16="http://schemas.microsoft.com/office/drawing/2014/main" id="{8DA923CA-F61B-7CA0-8A8E-F1C76D3D5E9A}"/>
              </a:ext>
            </a:extLst>
          </p:cNvPr>
          <p:cNvSpPr txBox="1"/>
          <p:nvPr/>
        </p:nvSpPr>
        <p:spPr>
          <a:xfrm>
            <a:off x="4421891" y="4717369"/>
            <a:ext cx="33782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Kiểm tra quyền trước sửa hoặc xóa</a:t>
            </a:r>
          </a:p>
        </p:txBody>
      </p:sp>
      <p:sp>
        <p:nvSpPr>
          <p:cNvPr id="25" name="HTML Text 24">
            <a:extLst>
              <a:ext uri="{FF2B5EF4-FFF2-40B4-BE49-F238E27FC236}">
                <a16:creationId xmlns:a16="http://schemas.microsoft.com/office/drawing/2014/main" id="{C8461641-A787-F1E5-56BD-8A268F58395C}"/>
              </a:ext>
            </a:extLst>
          </p:cNvPr>
          <p:cNvSpPr txBox="1"/>
          <p:nvPr/>
        </p:nvSpPr>
        <p:spPr>
          <a:xfrm>
            <a:off x="8136541" y="4260654"/>
            <a:ext cx="33782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MEDIA</a:t>
            </a:r>
          </a:p>
        </p:txBody>
      </p:sp>
      <p:sp>
        <p:nvSpPr>
          <p:cNvPr id="26" name="HTML Text 25">
            <a:extLst>
              <a:ext uri="{FF2B5EF4-FFF2-40B4-BE49-F238E27FC236}">
                <a16:creationId xmlns:a16="http://schemas.microsoft.com/office/drawing/2014/main" id="{F44BF0B9-A77C-00A3-3053-5DAA797E5B5D}"/>
              </a:ext>
            </a:extLst>
          </p:cNvPr>
          <p:cNvSpPr txBox="1"/>
          <p:nvPr/>
        </p:nvSpPr>
        <p:spPr>
          <a:xfrm>
            <a:off x="8136541" y="4468893"/>
            <a:ext cx="33782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MIME + size + host</a:t>
            </a:r>
          </a:p>
        </p:txBody>
      </p:sp>
      <p:sp>
        <p:nvSpPr>
          <p:cNvPr id="27" name="HTML Text 26">
            <a:extLst>
              <a:ext uri="{FF2B5EF4-FFF2-40B4-BE49-F238E27FC236}">
                <a16:creationId xmlns:a16="http://schemas.microsoft.com/office/drawing/2014/main" id="{B21BAF94-EA8B-E41C-0B7F-CF2D61F899F4}"/>
              </a:ext>
            </a:extLst>
          </p:cNvPr>
          <p:cNvSpPr txBox="1"/>
          <p:nvPr/>
        </p:nvSpPr>
        <p:spPr>
          <a:xfrm>
            <a:off x="8136541" y="4717369"/>
            <a:ext cx="33782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Kiểm soát upload và ảnh gửi AI</a:t>
            </a:r>
          </a:p>
        </p:txBody>
      </p:sp>
      <p:sp>
        <p:nvSpPr>
          <p:cNvPr id="28" name="TextBox 27">
            <a:extLst>
              <a:ext uri="{FF2B5EF4-FFF2-40B4-BE49-F238E27FC236}">
                <a16:creationId xmlns:a16="http://schemas.microsoft.com/office/drawing/2014/main" id="{24C75F0D-F888-4832-500E-EF8279F3AF7C}"/>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21 / 24</a:t>
            </a:r>
          </a:p>
        </p:txBody>
      </p:sp>
    </p:spTree>
    <p:extLst>
      <p:ext uri="{BB962C8B-B14F-4D97-AF65-F5344CB8AC3E}">
        <p14:creationId xmlns:p14="http://schemas.microsoft.com/office/powerpoint/2010/main" val="109597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A387D2AE-EA7A-F258-3C85-31C9366CF455}"/>
              </a:ext>
            </a:extLst>
          </p:cNvPr>
          <p:cNvSpPr/>
          <p:nvPr/>
        </p:nvSpPr>
        <p:spPr>
          <a:xfrm>
            <a:off x="565873" y="3103193"/>
            <a:ext cx="2048177" cy="86484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8805CAFF-36ED-71B5-32BB-15DAD92D2B7A}"/>
              </a:ext>
            </a:extLst>
          </p:cNvPr>
          <p:cNvSpPr/>
          <p:nvPr/>
        </p:nvSpPr>
        <p:spPr>
          <a:xfrm>
            <a:off x="2818817" y="3103193"/>
            <a:ext cx="2048277" cy="86484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E04566A2-F6D3-C255-5E3E-72C757E820EE}"/>
              </a:ext>
            </a:extLst>
          </p:cNvPr>
          <p:cNvSpPr/>
          <p:nvPr/>
        </p:nvSpPr>
        <p:spPr>
          <a:xfrm>
            <a:off x="5071862" y="3103193"/>
            <a:ext cx="2048176" cy="86484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C5FB07B3-34E4-CEA6-DECE-9B99397FC2A2}"/>
              </a:ext>
            </a:extLst>
          </p:cNvPr>
          <p:cNvSpPr/>
          <p:nvPr/>
        </p:nvSpPr>
        <p:spPr>
          <a:xfrm>
            <a:off x="7324806" y="3103193"/>
            <a:ext cx="2048276" cy="86484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90810F30-9BD2-5F6F-CD63-63DB0953FF1B}"/>
              </a:ext>
            </a:extLst>
          </p:cNvPr>
          <p:cNvSpPr/>
          <p:nvPr/>
        </p:nvSpPr>
        <p:spPr>
          <a:xfrm>
            <a:off x="9577849" y="3103193"/>
            <a:ext cx="2048277" cy="86484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78A64F8C-2BB7-7F88-84CA-19C2564419FC}"/>
              </a:ext>
            </a:extLst>
          </p:cNvPr>
          <p:cNvSpPr/>
          <p:nvPr/>
        </p:nvSpPr>
        <p:spPr>
          <a:xfrm>
            <a:off x="565873" y="4204039"/>
            <a:ext cx="11060253" cy="413658"/>
          </a:xfrm>
          <a:prstGeom prst="rect">
            <a:avLst/>
          </a:prstGeom>
          <a:noFill/>
          <a:ln w="25722" cap="flat" cmpd="sng" algn="ctr">
            <a:solidFill>
              <a:srgbClr val="A9B1D6"/>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2694A3FC-3F2A-32F2-66F4-0BA502D99B0E}"/>
              </a:ext>
            </a:extLst>
          </p:cNvPr>
          <p:cNvSpPr txBox="1"/>
          <p:nvPr/>
        </p:nvSpPr>
        <p:spPr>
          <a:xfrm>
            <a:off x="565873" y="2240303"/>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20 · MEDIA PIPELINE</a:t>
            </a:r>
          </a:p>
        </p:txBody>
      </p:sp>
      <p:sp>
        <p:nvSpPr>
          <p:cNvPr id="9" name="HTML Text 8">
            <a:extLst>
              <a:ext uri="{FF2B5EF4-FFF2-40B4-BE49-F238E27FC236}">
                <a16:creationId xmlns:a16="http://schemas.microsoft.com/office/drawing/2014/main" id="{56D004BE-BAE2-2380-87C0-6A668CA1CDDB}"/>
              </a:ext>
            </a:extLst>
          </p:cNvPr>
          <p:cNvSpPr txBox="1"/>
          <p:nvPr/>
        </p:nvSpPr>
        <p:spPr>
          <a:xfrm>
            <a:off x="565873" y="2462425"/>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Ảnh được tối ưu trước, lưu ngoài database</a:t>
            </a:r>
          </a:p>
        </p:txBody>
      </p:sp>
      <p:sp>
        <p:nvSpPr>
          <p:cNvPr id="10" name="HTML Text 9">
            <a:extLst>
              <a:ext uri="{FF2B5EF4-FFF2-40B4-BE49-F238E27FC236}">
                <a16:creationId xmlns:a16="http://schemas.microsoft.com/office/drawing/2014/main" id="{328EC843-D0B9-4583-34E6-7C4715C31161}"/>
              </a:ext>
            </a:extLst>
          </p:cNvPr>
          <p:cNvSpPr txBox="1"/>
          <p:nvPr/>
        </p:nvSpPr>
        <p:spPr>
          <a:xfrm>
            <a:off x="655899" y="3235078"/>
            <a:ext cx="1892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1</a:t>
            </a:r>
          </a:p>
        </p:txBody>
      </p:sp>
      <p:sp>
        <p:nvSpPr>
          <p:cNvPr id="11" name="HTML Text 10">
            <a:extLst>
              <a:ext uri="{FF2B5EF4-FFF2-40B4-BE49-F238E27FC236}">
                <a16:creationId xmlns:a16="http://schemas.microsoft.com/office/drawing/2014/main" id="{3F0CDC73-4893-363B-49B7-E12D042CB64D}"/>
              </a:ext>
            </a:extLst>
          </p:cNvPr>
          <p:cNvSpPr txBox="1"/>
          <p:nvPr/>
        </p:nvSpPr>
        <p:spPr>
          <a:xfrm>
            <a:off x="655899" y="3512729"/>
            <a:ext cx="189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Chọn ảnh</a:t>
            </a:r>
          </a:p>
        </p:txBody>
      </p:sp>
      <p:sp>
        <p:nvSpPr>
          <p:cNvPr id="12" name="HTML Text 11">
            <a:extLst>
              <a:ext uri="{FF2B5EF4-FFF2-40B4-BE49-F238E27FC236}">
                <a16:creationId xmlns:a16="http://schemas.microsoft.com/office/drawing/2014/main" id="{937685AC-3D3E-7240-B1C4-62244C5122F3}"/>
              </a:ext>
            </a:extLst>
          </p:cNvPr>
          <p:cNvSpPr txBox="1"/>
          <p:nvPr/>
        </p:nvSpPr>
        <p:spPr>
          <a:xfrm>
            <a:off x="655899" y="3738972"/>
            <a:ext cx="1892300" cy="276999"/>
          </a:xfrm>
          <a:prstGeom prst="rect">
            <a:avLst/>
          </a:prstGeom>
          <a:noFill/>
        </p:spPr>
        <p:txBody>
          <a:bodyPr vert="horz" wrap="square" lIns="0" tIns="0" rIns="0" bIns="0" rtlCol="0">
            <a:noAutofit/>
          </a:bodyPr>
          <a:lstStyle/>
          <a:p>
            <a:r>
              <a:rPr lang="vi-VN" sz="500">
                <a:solidFill>
                  <a:srgbClr val="565F89"/>
                </a:solidFill>
                <a:latin typeface="Aptos" panose="020B0004020202020204" pitchFamily="34" charset="0"/>
              </a:rPr>
              <a:t>JPG · PNG · WEBP, tối đa 8 MB</a:t>
            </a:r>
          </a:p>
        </p:txBody>
      </p:sp>
      <p:sp>
        <p:nvSpPr>
          <p:cNvPr id="13" name="HTML Text 12">
            <a:extLst>
              <a:ext uri="{FF2B5EF4-FFF2-40B4-BE49-F238E27FC236}">
                <a16:creationId xmlns:a16="http://schemas.microsoft.com/office/drawing/2014/main" id="{E9A34587-96D3-7EF4-0C9C-3DD35988A75C}"/>
              </a:ext>
            </a:extLst>
          </p:cNvPr>
          <p:cNvSpPr txBox="1"/>
          <p:nvPr/>
        </p:nvSpPr>
        <p:spPr>
          <a:xfrm>
            <a:off x="2665493" y="3103193"/>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14" name="HTML Text 13">
            <a:extLst>
              <a:ext uri="{FF2B5EF4-FFF2-40B4-BE49-F238E27FC236}">
                <a16:creationId xmlns:a16="http://schemas.microsoft.com/office/drawing/2014/main" id="{6DBEB7DC-0B00-758B-B662-4237C420BB18}"/>
              </a:ext>
            </a:extLst>
          </p:cNvPr>
          <p:cNvSpPr txBox="1"/>
          <p:nvPr/>
        </p:nvSpPr>
        <p:spPr>
          <a:xfrm>
            <a:off x="2908843" y="3235078"/>
            <a:ext cx="1892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2</a:t>
            </a:r>
          </a:p>
        </p:txBody>
      </p:sp>
      <p:sp>
        <p:nvSpPr>
          <p:cNvPr id="15" name="HTML Text 14">
            <a:extLst>
              <a:ext uri="{FF2B5EF4-FFF2-40B4-BE49-F238E27FC236}">
                <a16:creationId xmlns:a16="http://schemas.microsoft.com/office/drawing/2014/main" id="{C087D8F8-60AB-2AC2-16C8-80BE612C9E12}"/>
              </a:ext>
            </a:extLst>
          </p:cNvPr>
          <p:cNvSpPr txBox="1"/>
          <p:nvPr/>
        </p:nvSpPr>
        <p:spPr>
          <a:xfrm>
            <a:off x="2908843" y="3512729"/>
            <a:ext cx="189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Nén ở frontend</a:t>
            </a:r>
          </a:p>
        </p:txBody>
      </p:sp>
      <p:sp>
        <p:nvSpPr>
          <p:cNvPr id="16" name="HTML Text 15">
            <a:extLst>
              <a:ext uri="{FF2B5EF4-FFF2-40B4-BE49-F238E27FC236}">
                <a16:creationId xmlns:a16="http://schemas.microsoft.com/office/drawing/2014/main" id="{4E941648-277F-2DB2-B3F1-F1C09987408B}"/>
              </a:ext>
            </a:extLst>
          </p:cNvPr>
          <p:cNvSpPr txBox="1"/>
          <p:nvPr/>
        </p:nvSpPr>
        <p:spPr>
          <a:xfrm>
            <a:off x="2908843" y="3738972"/>
            <a:ext cx="1892300" cy="276999"/>
          </a:xfrm>
          <a:prstGeom prst="rect">
            <a:avLst/>
          </a:prstGeom>
          <a:noFill/>
        </p:spPr>
        <p:txBody>
          <a:bodyPr vert="horz" wrap="square" lIns="0" tIns="0" rIns="0" bIns="0" rtlCol="0">
            <a:noAutofit/>
          </a:bodyPr>
          <a:lstStyle/>
          <a:p>
            <a:r>
              <a:rPr lang="vi-VN" sz="500">
                <a:solidFill>
                  <a:srgbClr val="565F89"/>
                </a:solidFill>
                <a:latin typeface="Aptos" panose="020B0004020202020204" pitchFamily="34" charset="0"/>
              </a:rPr>
              <a:t>WEBP, tối đa 1920 px</a:t>
            </a:r>
          </a:p>
        </p:txBody>
      </p:sp>
      <p:sp>
        <p:nvSpPr>
          <p:cNvPr id="17" name="HTML Text 16">
            <a:extLst>
              <a:ext uri="{FF2B5EF4-FFF2-40B4-BE49-F238E27FC236}">
                <a16:creationId xmlns:a16="http://schemas.microsoft.com/office/drawing/2014/main" id="{92F5CA20-5D7E-D7BB-BAFC-DED7AF1B76F5}"/>
              </a:ext>
            </a:extLst>
          </p:cNvPr>
          <p:cNvSpPr txBox="1"/>
          <p:nvPr/>
        </p:nvSpPr>
        <p:spPr>
          <a:xfrm>
            <a:off x="4918537" y="3103193"/>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18" name="HTML Text 17">
            <a:extLst>
              <a:ext uri="{FF2B5EF4-FFF2-40B4-BE49-F238E27FC236}">
                <a16:creationId xmlns:a16="http://schemas.microsoft.com/office/drawing/2014/main" id="{40533C69-F33E-9151-4E93-A9A3950030D0}"/>
              </a:ext>
            </a:extLst>
          </p:cNvPr>
          <p:cNvSpPr txBox="1"/>
          <p:nvPr/>
        </p:nvSpPr>
        <p:spPr>
          <a:xfrm>
            <a:off x="5161887" y="3235078"/>
            <a:ext cx="1892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3</a:t>
            </a:r>
          </a:p>
        </p:txBody>
      </p:sp>
      <p:sp>
        <p:nvSpPr>
          <p:cNvPr id="19" name="HTML Text 18">
            <a:extLst>
              <a:ext uri="{FF2B5EF4-FFF2-40B4-BE49-F238E27FC236}">
                <a16:creationId xmlns:a16="http://schemas.microsoft.com/office/drawing/2014/main" id="{2338A037-D369-507D-A118-9C1858B50DE7}"/>
              </a:ext>
            </a:extLst>
          </p:cNvPr>
          <p:cNvSpPr txBox="1"/>
          <p:nvPr/>
        </p:nvSpPr>
        <p:spPr>
          <a:xfrm>
            <a:off x="5161887" y="3512729"/>
            <a:ext cx="189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Kiểm tra backend</a:t>
            </a:r>
          </a:p>
        </p:txBody>
      </p:sp>
      <p:sp>
        <p:nvSpPr>
          <p:cNvPr id="20" name="HTML Text 19">
            <a:extLst>
              <a:ext uri="{FF2B5EF4-FFF2-40B4-BE49-F238E27FC236}">
                <a16:creationId xmlns:a16="http://schemas.microsoft.com/office/drawing/2014/main" id="{3A24B787-BA90-4440-87EA-16A37AED3FC0}"/>
              </a:ext>
            </a:extLst>
          </p:cNvPr>
          <p:cNvSpPr txBox="1"/>
          <p:nvPr/>
        </p:nvSpPr>
        <p:spPr>
          <a:xfrm>
            <a:off x="5161887" y="3738972"/>
            <a:ext cx="1892300" cy="276999"/>
          </a:xfrm>
          <a:prstGeom prst="rect">
            <a:avLst/>
          </a:prstGeom>
          <a:noFill/>
        </p:spPr>
        <p:txBody>
          <a:bodyPr vert="horz" wrap="square" lIns="0" tIns="0" rIns="0" bIns="0" rtlCol="0">
            <a:noAutofit/>
          </a:bodyPr>
          <a:lstStyle/>
          <a:p>
            <a:r>
              <a:rPr lang="en-US" sz="500">
                <a:solidFill>
                  <a:srgbClr val="565F89"/>
                </a:solidFill>
                <a:latin typeface="Aptos" panose="020B0004020202020204" pitchFamily="34" charset="0"/>
              </a:rPr>
              <a:t>Multer memory, tối đa 4 MB</a:t>
            </a:r>
            <a:endParaRPr lang="vi-VN" sz="500">
              <a:solidFill>
                <a:srgbClr val="565F89"/>
              </a:solidFill>
              <a:latin typeface="Aptos" panose="020B0004020202020204" pitchFamily="34" charset="0"/>
            </a:endParaRPr>
          </a:p>
        </p:txBody>
      </p:sp>
      <p:sp>
        <p:nvSpPr>
          <p:cNvPr id="21" name="HTML Text 20">
            <a:extLst>
              <a:ext uri="{FF2B5EF4-FFF2-40B4-BE49-F238E27FC236}">
                <a16:creationId xmlns:a16="http://schemas.microsoft.com/office/drawing/2014/main" id="{4ECB3B80-C99D-4690-EEE1-2FB6C1D52BD5}"/>
              </a:ext>
            </a:extLst>
          </p:cNvPr>
          <p:cNvSpPr txBox="1"/>
          <p:nvPr/>
        </p:nvSpPr>
        <p:spPr>
          <a:xfrm>
            <a:off x="7171481" y="3103193"/>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22" name="HTML Text 21">
            <a:extLst>
              <a:ext uri="{FF2B5EF4-FFF2-40B4-BE49-F238E27FC236}">
                <a16:creationId xmlns:a16="http://schemas.microsoft.com/office/drawing/2014/main" id="{AD808D43-2B13-E282-37BE-016A34F323D7}"/>
              </a:ext>
            </a:extLst>
          </p:cNvPr>
          <p:cNvSpPr txBox="1"/>
          <p:nvPr/>
        </p:nvSpPr>
        <p:spPr>
          <a:xfrm>
            <a:off x="7414830" y="3235078"/>
            <a:ext cx="1892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4</a:t>
            </a:r>
          </a:p>
        </p:txBody>
      </p:sp>
      <p:sp>
        <p:nvSpPr>
          <p:cNvPr id="23" name="HTML Text 22">
            <a:extLst>
              <a:ext uri="{FF2B5EF4-FFF2-40B4-BE49-F238E27FC236}">
                <a16:creationId xmlns:a16="http://schemas.microsoft.com/office/drawing/2014/main" id="{3EB3F0E5-3D57-BBEC-E27C-01502C4C8173}"/>
              </a:ext>
            </a:extLst>
          </p:cNvPr>
          <p:cNvSpPr txBox="1"/>
          <p:nvPr/>
        </p:nvSpPr>
        <p:spPr>
          <a:xfrm>
            <a:off x="7414830" y="3512729"/>
            <a:ext cx="189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Lưu trữ</a:t>
            </a:r>
          </a:p>
        </p:txBody>
      </p:sp>
      <p:sp>
        <p:nvSpPr>
          <p:cNvPr id="24" name="HTML Text 23">
            <a:extLst>
              <a:ext uri="{FF2B5EF4-FFF2-40B4-BE49-F238E27FC236}">
                <a16:creationId xmlns:a16="http://schemas.microsoft.com/office/drawing/2014/main" id="{B86257F7-CB9E-9958-FDCA-9C46ADD24752}"/>
              </a:ext>
            </a:extLst>
          </p:cNvPr>
          <p:cNvSpPr txBox="1"/>
          <p:nvPr/>
        </p:nvSpPr>
        <p:spPr>
          <a:xfrm>
            <a:off x="7414830" y="3738972"/>
            <a:ext cx="1892300" cy="276999"/>
          </a:xfrm>
          <a:prstGeom prst="rect">
            <a:avLst/>
          </a:prstGeom>
          <a:noFill/>
        </p:spPr>
        <p:txBody>
          <a:bodyPr vert="horz" wrap="square" lIns="0" tIns="0" rIns="0" bIns="0" rtlCol="0">
            <a:noAutofit/>
          </a:bodyPr>
          <a:lstStyle/>
          <a:p>
            <a:r>
              <a:rPr lang="en-US" sz="500">
                <a:solidFill>
                  <a:srgbClr val="565F89"/>
                </a:solidFill>
                <a:latin typeface="Aptos" panose="020B0004020202020204" pitchFamily="34" charset="0"/>
              </a:rPr>
              <a:t>Local uploads hoặc Vercel Blob</a:t>
            </a:r>
            <a:endParaRPr lang="vi-VN" sz="500">
              <a:solidFill>
                <a:srgbClr val="565F89"/>
              </a:solidFill>
              <a:latin typeface="Aptos" panose="020B0004020202020204" pitchFamily="34" charset="0"/>
            </a:endParaRPr>
          </a:p>
        </p:txBody>
      </p:sp>
      <p:sp>
        <p:nvSpPr>
          <p:cNvPr id="25" name="HTML Text 24">
            <a:extLst>
              <a:ext uri="{FF2B5EF4-FFF2-40B4-BE49-F238E27FC236}">
                <a16:creationId xmlns:a16="http://schemas.microsoft.com/office/drawing/2014/main" id="{B474270B-276D-4F39-8BC6-8645B7E3CFDC}"/>
              </a:ext>
            </a:extLst>
          </p:cNvPr>
          <p:cNvSpPr txBox="1"/>
          <p:nvPr/>
        </p:nvSpPr>
        <p:spPr>
          <a:xfrm>
            <a:off x="9424526" y="3103193"/>
            <a:ext cx="127000" cy="276999"/>
          </a:xfrm>
          <a:prstGeom prst="rect">
            <a:avLst/>
          </a:prstGeom>
          <a:noFill/>
        </p:spPr>
        <p:txBody>
          <a:bodyPr vert="horz" wrap="square" lIns="0" tIns="0" rIns="0" bIns="0" rtlCol="0">
            <a:noAutofit/>
          </a:bodyPr>
          <a:lstStyle/>
          <a:p>
            <a:r>
              <a:rPr lang="vi-VN" sz="800" i="1">
                <a:solidFill>
                  <a:srgbClr val="7AA2F7"/>
                </a:solidFill>
                <a:latin typeface="Aptos" panose="020B0004020202020204" pitchFamily="34" charset="0"/>
              </a:rPr>
              <a:t>→</a:t>
            </a:r>
          </a:p>
        </p:txBody>
      </p:sp>
      <p:sp>
        <p:nvSpPr>
          <p:cNvPr id="26" name="HTML Text 25">
            <a:extLst>
              <a:ext uri="{FF2B5EF4-FFF2-40B4-BE49-F238E27FC236}">
                <a16:creationId xmlns:a16="http://schemas.microsoft.com/office/drawing/2014/main" id="{D4A05789-BDBE-7025-49C4-CE16A48698F2}"/>
              </a:ext>
            </a:extLst>
          </p:cNvPr>
          <p:cNvSpPr txBox="1"/>
          <p:nvPr/>
        </p:nvSpPr>
        <p:spPr>
          <a:xfrm>
            <a:off x="9667875" y="3235078"/>
            <a:ext cx="18923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5</a:t>
            </a:r>
          </a:p>
        </p:txBody>
      </p:sp>
      <p:sp>
        <p:nvSpPr>
          <p:cNvPr id="27" name="HTML Text 26">
            <a:extLst>
              <a:ext uri="{FF2B5EF4-FFF2-40B4-BE49-F238E27FC236}">
                <a16:creationId xmlns:a16="http://schemas.microsoft.com/office/drawing/2014/main" id="{AD881AFF-C8EB-CC39-0880-27635D49228D}"/>
              </a:ext>
            </a:extLst>
          </p:cNvPr>
          <p:cNvSpPr txBox="1"/>
          <p:nvPr/>
        </p:nvSpPr>
        <p:spPr>
          <a:xfrm>
            <a:off x="9667875" y="3512729"/>
            <a:ext cx="18923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Database</a:t>
            </a:r>
          </a:p>
        </p:txBody>
      </p:sp>
      <p:sp>
        <p:nvSpPr>
          <p:cNvPr id="28" name="HTML Text 27">
            <a:extLst>
              <a:ext uri="{FF2B5EF4-FFF2-40B4-BE49-F238E27FC236}">
                <a16:creationId xmlns:a16="http://schemas.microsoft.com/office/drawing/2014/main" id="{F6FF80A4-181B-64EA-270D-B4865B60C923}"/>
              </a:ext>
            </a:extLst>
          </p:cNvPr>
          <p:cNvSpPr txBox="1"/>
          <p:nvPr/>
        </p:nvSpPr>
        <p:spPr>
          <a:xfrm>
            <a:off x="9667875" y="3738972"/>
            <a:ext cx="1892300" cy="276999"/>
          </a:xfrm>
          <a:prstGeom prst="rect">
            <a:avLst/>
          </a:prstGeom>
          <a:noFill/>
        </p:spPr>
        <p:txBody>
          <a:bodyPr vert="horz" wrap="square" lIns="0" tIns="0" rIns="0" bIns="0" rtlCol="0">
            <a:noAutofit/>
          </a:bodyPr>
          <a:lstStyle/>
          <a:p>
            <a:r>
              <a:rPr lang="vi-VN" sz="500">
                <a:solidFill>
                  <a:srgbClr val="565F89"/>
                </a:solidFill>
                <a:latin typeface="Aptos" panose="020B0004020202020204" pitchFamily="34" charset="0"/>
              </a:rPr>
              <a:t>Chỉ lưu URL và metadata</a:t>
            </a:r>
          </a:p>
        </p:txBody>
      </p:sp>
      <p:sp>
        <p:nvSpPr>
          <p:cNvPr id="29" name="HTML Text 28">
            <a:extLst>
              <a:ext uri="{FF2B5EF4-FFF2-40B4-BE49-F238E27FC236}">
                <a16:creationId xmlns:a16="http://schemas.microsoft.com/office/drawing/2014/main" id="{8A71CDA4-3F2F-5F67-4157-A2E7D1CC6310}"/>
              </a:ext>
            </a:extLst>
          </p:cNvPr>
          <p:cNvSpPr txBox="1"/>
          <p:nvPr/>
        </p:nvSpPr>
        <p:spPr>
          <a:xfrm>
            <a:off x="733063" y="4335924"/>
            <a:ext cx="381000" cy="276999"/>
          </a:xfrm>
          <a:prstGeom prst="rect">
            <a:avLst/>
          </a:prstGeom>
          <a:noFill/>
        </p:spPr>
        <p:txBody>
          <a:bodyPr vert="horz" wrap="square" lIns="0" tIns="0" rIns="0" bIns="0" rtlCol="0">
            <a:noAutofit/>
          </a:bodyPr>
          <a:lstStyle/>
          <a:p>
            <a:r>
              <a:rPr lang="vi-VN" sz="800" b="1">
                <a:solidFill>
                  <a:srgbClr val="C0CAF5"/>
                </a:solidFill>
                <a:latin typeface="Aptos" panose="020B0004020202020204" pitchFamily="34" charset="0"/>
              </a:rPr>
              <a:t>Lợi ích:</a:t>
            </a:r>
          </a:p>
        </p:txBody>
      </p:sp>
      <p:sp>
        <p:nvSpPr>
          <p:cNvPr id="30" name="TextBox 29">
            <a:extLst>
              <a:ext uri="{FF2B5EF4-FFF2-40B4-BE49-F238E27FC236}">
                <a16:creationId xmlns:a16="http://schemas.microsoft.com/office/drawing/2014/main" id="{ACDB9E8B-C7DE-C241-D42E-4B4D687CC27E}"/>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22 / 24</a:t>
            </a:r>
          </a:p>
        </p:txBody>
      </p:sp>
    </p:spTree>
    <p:extLst>
      <p:ext uri="{BB962C8B-B14F-4D97-AF65-F5344CB8AC3E}">
        <p14:creationId xmlns:p14="http://schemas.microsoft.com/office/powerpoint/2010/main" val="615687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3B0D3ACE-1DC3-7771-3D1B-E77E264F09E3}"/>
              </a:ext>
            </a:extLst>
          </p:cNvPr>
          <p:cNvSpPr/>
          <p:nvPr/>
        </p:nvSpPr>
        <p:spPr>
          <a:xfrm>
            <a:off x="565873" y="3033563"/>
            <a:ext cx="7634067" cy="2058528"/>
          </a:xfrm>
          <a:prstGeom prst="roundRect">
            <a:avLst/>
          </a:prstGeom>
          <a:solidFill>
            <a:srgbClr val="0D1117"/>
          </a:solidFill>
          <a:ln w="643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4AD0FA99-283D-91FE-FF8F-541D8A5ACCC4}"/>
              </a:ext>
            </a:extLst>
          </p:cNvPr>
          <p:cNvSpPr/>
          <p:nvPr/>
        </p:nvSpPr>
        <p:spPr>
          <a:xfrm>
            <a:off x="8354269" y="3033563"/>
            <a:ext cx="1603677" cy="63990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C2D827BC-4EDE-79D7-F8C6-6C0367CD8FC9}"/>
              </a:ext>
            </a:extLst>
          </p:cNvPr>
          <p:cNvSpPr/>
          <p:nvPr/>
        </p:nvSpPr>
        <p:spPr>
          <a:xfrm>
            <a:off x="10022249" y="3033563"/>
            <a:ext cx="1603778" cy="63990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1F7D23D8-FB8E-3AB7-028A-760558251051}"/>
              </a:ext>
            </a:extLst>
          </p:cNvPr>
          <p:cNvSpPr/>
          <p:nvPr/>
        </p:nvSpPr>
        <p:spPr>
          <a:xfrm>
            <a:off x="8354269" y="3742877"/>
            <a:ext cx="1603677" cy="639900"/>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33F8BAE4-A709-37CA-CFA9-63E85321C701}"/>
              </a:ext>
            </a:extLst>
          </p:cNvPr>
          <p:cNvSpPr/>
          <p:nvPr/>
        </p:nvSpPr>
        <p:spPr>
          <a:xfrm>
            <a:off x="10022249" y="3742877"/>
            <a:ext cx="1603778" cy="639900"/>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D3BFC8B3-C868-B379-4A80-96122E4CE29A}"/>
              </a:ext>
            </a:extLst>
          </p:cNvPr>
          <p:cNvSpPr/>
          <p:nvPr/>
        </p:nvSpPr>
        <p:spPr>
          <a:xfrm>
            <a:off x="8354269" y="4452190"/>
            <a:ext cx="1603677" cy="63990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Text 7">
            <a:extLst>
              <a:ext uri="{FF2B5EF4-FFF2-40B4-BE49-F238E27FC236}">
                <a16:creationId xmlns:a16="http://schemas.microsoft.com/office/drawing/2014/main" id="{C76AC565-F0F0-F742-CDA0-CF0BBC37D90B}"/>
              </a:ext>
            </a:extLst>
          </p:cNvPr>
          <p:cNvSpPr txBox="1"/>
          <p:nvPr/>
        </p:nvSpPr>
        <p:spPr>
          <a:xfrm>
            <a:off x="565873" y="1765909"/>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21 · DELIVERY &amp; OPERATIONS</a:t>
            </a:r>
          </a:p>
        </p:txBody>
      </p:sp>
      <p:sp>
        <p:nvSpPr>
          <p:cNvPr id="9" name="HTML Text 8">
            <a:extLst>
              <a:ext uri="{FF2B5EF4-FFF2-40B4-BE49-F238E27FC236}">
                <a16:creationId xmlns:a16="http://schemas.microsoft.com/office/drawing/2014/main" id="{E9E8C897-9010-4206-E45E-02582D5D6B88}"/>
              </a:ext>
            </a:extLst>
          </p:cNvPr>
          <p:cNvSpPr txBox="1"/>
          <p:nvPr/>
        </p:nvSpPr>
        <p:spPr>
          <a:xfrm>
            <a:off x="565873" y="1988030"/>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Phát triển bằng workspace, triển khai bằng Vercel Services</a:t>
            </a:r>
          </a:p>
        </p:txBody>
      </p:sp>
      <p:sp>
        <p:nvSpPr>
          <p:cNvPr id="10" name="HTML Text 9">
            <a:extLst>
              <a:ext uri="{FF2B5EF4-FFF2-40B4-BE49-F238E27FC236}">
                <a16:creationId xmlns:a16="http://schemas.microsoft.com/office/drawing/2014/main" id="{3A6393C1-6C8A-E850-0FD3-4AB1B5C944E7}"/>
              </a:ext>
            </a:extLst>
          </p:cNvPr>
          <p:cNvSpPr txBox="1"/>
          <p:nvPr/>
        </p:nvSpPr>
        <p:spPr>
          <a:xfrm>
            <a:off x="739494" y="3220978"/>
            <a:ext cx="1155700" cy="276999"/>
          </a:xfrm>
          <a:prstGeom prst="rect">
            <a:avLst/>
          </a:prstGeom>
          <a:noFill/>
        </p:spPr>
        <p:txBody>
          <a:bodyPr vert="horz" wrap="square" lIns="0" tIns="0" rIns="0" bIns="0" rtlCol="0">
            <a:noAutofit/>
          </a:bodyPr>
          <a:lstStyle/>
          <a:p>
            <a:r>
              <a:rPr lang="vi-VN" sz="700">
                <a:solidFill>
                  <a:srgbClr val="8B949E"/>
                </a:solidFill>
                <a:latin typeface="Consolas" panose="020B0609020204030204" pitchFamily="49" charset="0"/>
              </a:rPr>
              <a:t># Cài đặt và chạy local</a:t>
            </a:r>
          </a:p>
        </p:txBody>
      </p:sp>
      <p:sp>
        <p:nvSpPr>
          <p:cNvPr id="11" name="HTML Text 10">
            <a:extLst>
              <a:ext uri="{FF2B5EF4-FFF2-40B4-BE49-F238E27FC236}">
                <a16:creationId xmlns:a16="http://schemas.microsoft.com/office/drawing/2014/main" id="{EF94918F-555D-A9D3-0EE2-8DCCE867C4A2}"/>
              </a:ext>
            </a:extLst>
          </p:cNvPr>
          <p:cNvSpPr txBox="1"/>
          <p:nvPr/>
        </p:nvSpPr>
        <p:spPr>
          <a:xfrm>
            <a:off x="739494" y="3383339"/>
            <a:ext cx="571500" cy="276999"/>
          </a:xfrm>
          <a:prstGeom prst="rect">
            <a:avLst/>
          </a:prstGeom>
          <a:noFill/>
        </p:spPr>
        <p:txBody>
          <a:bodyPr vert="horz" wrap="square" lIns="0" tIns="0" rIns="0" bIns="0" rtlCol="0">
            <a:noAutofit/>
          </a:bodyPr>
          <a:lstStyle/>
          <a:p>
            <a:r>
              <a:rPr lang="vi-VN" sz="700">
                <a:solidFill>
                  <a:srgbClr val="3FB950"/>
                </a:solidFill>
                <a:latin typeface="Consolas" panose="020B0609020204030204" pitchFamily="49" charset="0"/>
              </a:rPr>
              <a:t>npm install</a:t>
            </a:r>
          </a:p>
        </p:txBody>
      </p:sp>
      <p:sp>
        <p:nvSpPr>
          <p:cNvPr id="12" name="HTML Text 11">
            <a:extLst>
              <a:ext uri="{FF2B5EF4-FFF2-40B4-BE49-F238E27FC236}">
                <a16:creationId xmlns:a16="http://schemas.microsoft.com/office/drawing/2014/main" id="{5436032B-6816-3E84-D4CF-104E22FBAABA}"/>
              </a:ext>
            </a:extLst>
          </p:cNvPr>
          <p:cNvSpPr txBox="1"/>
          <p:nvPr/>
        </p:nvSpPr>
        <p:spPr>
          <a:xfrm>
            <a:off x="739494" y="3545701"/>
            <a:ext cx="1943100" cy="276999"/>
          </a:xfrm>
          <a:prstGeom prst="rect">
            <a:avLst/>
          </a:prstGeom>
          <a:noFill/>
        </p:spPr>
        <p:txBody>
          <a:bodyPr vert="horz" wrap="square" lIns="0" tIns="0" rIns="0" bIns="0" rtlCol="0">
            <a:noAutofit/>
          </a:bodyPr>
          <a:lstStyle/>
          <a:p>
            <a:r>
              <a:rPr lang="en-US" sz="700">
                <a:solidFill>
                  <a:srgbClr val="3FB950"/>
                </a:solidFill>
                <a:latin typeface="Consolas" panose="020B0609020204030204" pitchFamily="49" charset="0"/>
              </a:rPr>
              <a:t>npm run db:generate --workspace backend</a:t>
            </a:r>
            <a:endParaRPr lang="vi-VN" sz="700">
              <a:solidFill>
                <a:srgbClr val="3FB950"/>
              </a:solidFill>
              <a:latin typeface="Consolas" panose="020B0609020204030204" pitchFamily="49" charset="0"/>
            </a:endParaRPr>
          </a:p>
        </p:txBody>
      </p:sp>
      <p:sp>
        <p:nvSpPr>
          <p:cNvPr id="13" name="HTML Text 12">
            <a:extLst>
              <a:ext uri="{FF2B5EF4-FFF2-40B4-BE49-F238E27FC236}">
                <a16:creationId xmlns:a16="http://schemas.microsoft.com/office/drawing/2014/main" id="{0FA367C4-060F-685D-897A-453FE574CBBA}"/>
              </a:ext>
            </a:extLst>
          </p:cNvPr>
          <p:cNvSpPr txBox="1"/>
          <p:nvPr/>
        </p:nvSpPr>
        <p:spPr>
          <a:xfrm>
            <a:off x="739494" y="3708062"/>
            <a:ext cx="2235200" cy="276999"/>
          </a:xfrm>
          <a:prstGeom prst="rect">
            <a:avLst/>
          </a:prstGeom>
          <a:noFill/>
        </p:spPr>
        <p:txBody>
          <a:bodyPr vert="horz" wrap="square" lIns="0" tIns="0" rIns="0" bIns="0" rtlCol="0">
            <a:noAutofit/>
          </a:bodyPr>
          <a:lstStyle/>
          <a:p>
            <a:r>
              <a:rPr lang="en-US" sz="700">
                <a:solidFill>
                  <a:srgbClr val="3FB950"/>
                </a:solidFill>
                <a:latin typeface="Consolas" panose="020B0609020204030204" pitchFamily="49" charset="0"/>
              </a:rPr>
              <a:t>npm run db:migrate:deploy --workspace backend</a:t>
            </a:r>
            <a:endParaRPr lang="vi-VN" sz="700">
              <a:solidFill>
                <a:srgbClr val="3FB950"/>
              </a:solidFill>
              <a:latin typeface="Consolas" panose="020B0609020204030204" pitchFamily="49" charset="0"/>
            </a:endParaRPr>
          </a:p>
        </p:txBody>
      </p:sp>
      <p:sp>
        <p:nvSpPr>
          <p:cNvPr id="14" name="HTML Text 13">
            <a:extLst>
              <a:ext uri="{FF2B5EF4-FFF2-40B4-BE49-F238E27FC236}">
                <a16:creationId xmlns:a16="http://schemas.microsoft.com/office/drawing/2014/main" id="{E1249500-791A-5597-6283-224E17F17E6E}"/>
              </a:ext>
            </a:extLst>
          </p:cNvPr>
          <p:cNvSpPr txBox="1"/>
          <p:nvPr/>
        </p:nvSpPr>
        <p:spPr>
          <a:xfrm>
            <a:off x="739494" y="3870423"/>
            <a:ext cx="571500" cy="276999"/>
          </a:xfrm>
          <a:prstGeom prst="rect">
            <a:avLst/>
          </a:prstGeom>
          <a:noFill/>
        </p:spPr>
        <p:txBody>
          <a:bodyPr vert="horz" wrap="square" lIns="0" tIns="0" rIns="0" bIns="0" rtlCol="0">
            <a:noAutofit/>
          </a:bodyPr>
          <a:lstStyle/>
          <a:p>
            <a:r>
              <a:rPr lang="vi-VN" sz="700">
                <a:solidFill>
                  <a:srgbClr val="3FB950"/>
                </a:solidFill>
                <a:latin typeface="Consolas" panose="020B0609020204030204" pitchFamily="49" charset="0"/>
              </a:rPr>
              <a:t>npm run dev</a:t>
            </a:r>
          </a:p>
        </p:txBody>
      </p:sp>
      <p:sp>
        <p:nvSpPr>
          <p:cNvPr id="15" name="HTML Text 14">
            <a:extLst>
              <a:ext uri="{FF2B5EF4-FFF2-40B4-BE49-F238E27FC236}">
                <a16:creationId xmlns:a16="http://schemas.microsoft.com/office/drawing/2014/main" id="{E1AC45DA-8B9C-AA23-D04E-04F241883737}"/>
              </a:ext>
            </a:extLst>
          </p:cNvPr>
          <p:cNvSpPr txBox="1"/>
          <p:nvPr/>
        </p:nvSpPr>
        <p:spPr>
          <a:xfrm>
            <a:off x="739494" y="4195145"/>
            <a:ext cx="1346200" cy="276999"/>
          </a:xfrm>
          <a:prstGeom prst="rect">
            <a:avLst/>
          </a:prstGeom>
          <a:noFill/>
        </p:spPr>
        <p:txBody>
          <a:bodyPr vert="horz" wrap="square" lIns="0" tIns="0" rIns="0" bIns="0" rtlCol="0">
            <a:noAutofit/>
          </a:bodyPr>
          <a:lstStyle/>
          <a:p>
            <a:r>
              <a:rPr lang="vi-VN" sz="700">
                <a:solidFill>
                  <a:srgbClr val="8B949E"/>
                </a:solidFill>
                <a:latin typeface="Consolas" panose="020B0609020204030204" pitchFamily="49" charset="0"/>
              </a:rPr>
              <a:t># Kiểm tra trước khi deploy</a:t>
            </a:r>
          </a:p>
        </p:txBody>
      </p:sp>
      <p:sp>
        <p:nvSpPr>
          <p:cNvPr id="16" name="HTML Text 15">
            <a:extLst>
              <a:ext uri="{FF2B5EF4-FFF2-40B4-BE49-F238E27FC236}">
                <a16:creationId xmlns:a16="http://schemas.microsoft.com/office/drawing/2014/main" id="{9418CB60-7A80-FE24-FECC-BDB8B6D2E190}"/>
              </a:ext>
            </a:extLst>
          </p:cNvPr>
          <p:cNvSpPr txBox="1"/>
          <p:nvPr/>
        </p:nvSpPr>
        <p:spPr>
          <a:xfrm>
            <a:off x="739494" y="4357507"/>
            <a:ext cx="609600" cy="276999"/>
          </a:xfrm>
          <a:prstGeom prst="rect">
            <a:avLst/>
          </a:prstGeom>
          <a:noFill/>
        </p:spPr>
        <p:txBody>
          <a:bodyPr vert="horz" wrap="square" lIns="0" tIns="0" rIns="0" bIns="0" rtlCol="0">
            <a:noAutofit/>
          </a:bodyPr>
          <a:lstStyle/>
          <a:p>
            <a:r>
              <a:rPr lang="vi-VN" sz="700">
                <a:solidFill>
                  <a:srgbClr val="F0883E"/>
                </a:solidFill>
                <a:latin typeface="Consolas" panose="020B0609020204030204" pitchFamily="49" charset="0"/>
              </a:rPr>
              <a:t>npm run lint</a:t>
            </a:r>
          </a:p>
        </p:txBody>
      </p:sp>
      <p:sp>
        <p:nvSpPr>
          <p:cNvPr id="17" name="HTML Text 16">
            <a:extLst>
              <a:ext uri="{FF2B5EF4-FFF2-40B4-BE49-F238E27FC236}">
                <a16:creationId xmlns:a16="http://schemas.microsoft.com/office/drawing/2014/main" id="{EB54CD26-3976-2E3C-9CAB-59CE35BB79EA}"/>
              </a:ext>
            </a:extLst>
          </p:cNvPr>
          <p:cNvSpPr txBox="1"/>
          <p:nvPr/>
        </p:nvSpPr>
        <p:spPr>
          <a:xfrm>
            <a:off x="739494" y="4519868"/>
            <a:ext cx="660400" cy="276999"/>
          </a:xfrm>
          <a:prstGeom prst="rect">
            <a:avLst/>
          </a:prstGeom>
          <a:noFill/>
        </p:spPr>
        <p:txBody>
          <a:bodyPr vert="horz" wrap="square" lIns="0" tIns="0" rIns="0" bIns="0" rtlCol="0">
            <a:noAutofit/>
          </a:bodyPr>
          <a:lstStyle/>
          <a:p>
            <a:r>
              <a:rPr lang="vi-VN" sz="700">
                <a:solidFill>
                  <a:srgbClr val="F0883E"/>
                </a:solidFill>
                <a:latin typeface="Consolas" panose="020B0609020204030204" pitchFamily="49" charset="0"/>
              </a:rPr>
              <a:t>npm run build</a:t>
            </a:r>
          </a:p>
        </p:txBody>
      </p:sp>
      <p:sp>
        <p:nvSpPr>
          <p:cNvPr id="18" name="HTML Text 17">
            <a:extLst>
              <a:ext uri="{FF2B5EF4-FFF2-40B4-BE49-F238E27FC236}">
                <a16:creationId xmlns:a16="http://schemas.microsoft.com/office/drawing/2014/main" id="{F25073DB-E178-EE76-02C2-0BE30D62C4A6}"/>
              </a:ext>
            </a:extLst>
          </p:cNvPr>
          <p:cNvSpPr txBox="1"/>
          <p:nvPr/>
        </p:nvSpPr>
        <p:spPr>
          <a:xfrm>
            <a:off x="8470016" y="3158506"/>
            <a:ext cx="1397000" cy="276999"/>
          </a:xfrm>
          <a:prstGeom prst="rect">
            <a:avLst/>
          </a:prstGeom>
          <a:noFill/>
        </p:spPr>
        <p:txBody>
          <a:bodyPr vert="horz" wrap="square" lIns="0" tIns="0" rIns="0" bIns="0" rtlCol="0">
            <a:noAutofit/>
          </a:bodyPr>
          <a:lstStyle/>
          <a:p>
            <a:r>
              <a:rPr lang="vi-VN" sz="1100" b="1">
                <a:solidFill>
                  <a:srgbClr val="7AA2F7"/>
                </a:solidFill>
                <a:latin typeface="Aptos" panose="020B0004020202020204" pitchFamily="34" charset="0"/>
              </a:rPr>
              <a:t>/</a:t>
            </a:r>
          </a:p>
        </p:txBody>
      </p:sp>
      <p:sp>
        <p:nvSpPr>
          <p:cNvPr id="19" name="HTML Text 18">
            <a:extLst>
              <a:ext uri="{FF2B5EF4-FFF2-40B4-BE49-F238E27FC236}">
                <a16:creationId xmlns:a16="http://schemas.microsoft.com/office/drawing/2014/main" id="{85509B95-7F8F-8957-7B6A-346016E92FF3}"/>
              </a:ext>
            </a:extLst>
          </p:cNvPr>
          <p:cNvSpPr txBox="1"/>
          <p:nvPr/>
        </p:nvSpPr>
        <p:spPr>
          <a:xfrm>
            <a:off x="8470016" y="3426397"/>
            <a:ext cx="1397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Vite frontend</a:t>
            </a:r>
          </a:p>
        </p:txBody>
      </p:sp>
      <p:sp>
        <p:nvSpPr>
          <p:cNvPr id="20" name="HTML Text 19">
            <a:extLst>
              <a:ext uri="{FF2B5EF4-FFF2-40B4-BE49-F238E27FC236}">
                <a16:creationId xmlns:a16="http://schemas.microsoft.com/office/drawing/2014/main" id="{CB734CA8-D6AA-3581-CBFA-53C32A970BF7}"/>
              </a:ext>
            </a:extLst>
          </p:cNvPr>
          <p:cNvSpPr txBox="1"/>
          <p:nvPr/>
        </p:nvSpPr>
        <p:spPr>
          <a:xfrm>
            <a:off x="10137996" y="3158506"/>
            <a:ext cx="1397000" cy="276999"/>
          </a:xfrm>
          <a:prstGeom prst="rect">
            <a:avLst/>
          </a:prstGeom>
          <a:noFill/>
        </p:spPr>
        <p:txBody>
          <a:bodyPr vert="horz" wrap="square" lIns="0" tIns="0" rIns="0" bIns="0" rtlCol="0">
            <a:noAutofit/>
          </a:bodyPr>
          <a:lstStyle/>
          <a:p>
            <a:r>
              <a:rPr lang="vi-VN" sz="1100" b="1">
                <a:solidFill>
                  <a:srgbClr val="7AA2F7"/>
                </a:solidFill>
                <a:latin typeface="Aptos" panose="020B0004020202020204" pitchFamily="34" charset="0"/>
              </a:rPr>
              <a:t>/api</a:t>
            </a:r>
          </a:p>
        </p:txBody>
      </p:sp>
      <p:sp>
        <p:nvSpPr>
          <p:cNvPr id="21" name="HTML Text 20">
            <a:extLst>
              <a:ext uri="{FF2B5EF4-FFF2-40B4-BE49-F238E27FC236}">
                <a16:creationId xmlns:a16="http://schemas.microsoft.com/office/drawing/2014/main" id="{F4A291D6-A839-FF7B-994D-4A574849BD52}"/>
              </a:ext>
            </a:extLst>
          </p:cNvPr>
          <p:cNvSpPr txBox="1"/>
          <p:nvPr/>
        </p:nvSpPr>
        <p:spPr>
          <a:xfrm>
            <a:off x="10137996" y="3426397"/>
            <a:ext cx="1397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Express backend</a:t>
            </a:r>
          </a:p>
        </p:txBody>
      </p:sp>
      <p:sp>
        <p:nvSpPr>
          <p:cNvPr id="22" name="HTML Text 21">
            <a:extLst>
              <a:ext uri="{FF2B5EF4-FFF2-40B4-BE49-F238E27FC236}">
                <a16:creationId xmlns:a16="http://schemas.microsoft.com/office/drawing/2014/main" id="{292D561D-2DB0-6381-90D4-5CB8CDB23DBC}"/>
              </a:ext>
            </a:extLst>
          </p:cNvPr>
          <p:cNvSpPr txBox="1"/>
          <p:nvPr/>
        </p:nvSpPr>
        <p:spPr>
          <a:xfrm>
            <a:off x="8470016" y="3867820"/>
            <a:ext cx="1397000" cy="276999"/>
          </a:xfrm>
          <a:prstGeom prst="rect">
            <a:avLst/>
          </a:prstGeom>
          <a:noFill/>
        </p:spPr>
        <p:txBody>
          <a:bodyPr vert="horz" wrap="square" lIns="0" tIns="0" rIns="0" bIns="0" rtlCol="0">
            <a:noAutofit/>
          </a:bodyPr>
          <a:lstStyle/>
          <a:p>
            <a:r>
              <a:rPr lang="vi-VN" sz="1100" b="1">
                <a:solidFill>
                  <a:srgbClr val="7AA2F7"/>
                </a:solidFill>
                <a:latin typeface="Aptos" panose="020B0004020202020204" pitchFamily="34" charset="0"/>
              </a:rPr>
              <a:t>Neon</a:t>
            </a:r>
          </a:p>
        </p:txBody>
      </p:sp>
      <p:sp>
        <p:nvSpPr>
          <p:cNvPr id="23" name="HTML Text 22">
            <a:extLst>
              <a:ext uri="{FF2B5EF4-FFF2-40B4-BE49-F238E27FC236}">
                <a16:creationId xmlns:a16="http://schemas.microsoft.com/office/drawing/2014/main" id="{9FEE700A-C1E1-E77D-5223-CE50FA26E711}"/>
              </a:ext>
            </a:extLst>
          </p:cNvPr>
          <p:cNvSpPr txBox="1"/>
          <p:nvPr/>
        </p:nvSpPr>
        <p:spPr>
          <a:xfrm>
            <a:off x="8470016" y="4135711"/>
            <a:ext cx="1397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PostgreSQL cloud</a:t>
            </a:r>
          </a:p>
        </p:txBody>
      </p:sp>
      <p:sp>
        <p:nvSpPr>
          <p:cNvPr id="24" name="HTML Text 23">
            <a:extLst>
              <a:ext uri="{FF2B5EF4-FFF2-40B4-BE49-F238E27FC236}">
                <a16:creationId xmlns:a16="http://schemas.microsoft.com/office/drawing/2014/main" id="{29D678BA-FACD-274B-58BF-F95F275837B4}"/>
              </a:ext>
            </a:extLst>
          </p:cNvPr>
          <p:cNvSpPr txBox="1"/>
          <p:nvPr/>
        </p:nvSpPr>
        <p:spPr>
          <a:xfrm>
            <a:off x="10137996" y="3867820"/>
            <a:ext cx="1397000" cy="276999"/>
          </a:xfrm>
          <a:prstGeom prst="rect">
            <a:avLst/>
          </a:prstGeom>
          <a:noFill/>
        </p:spPr>
        <p:txBody>
          <a:bodyPr vert="horz" wrap="square" lIns="0" tIns="0" rIns="0" bIns="0" rtlCol="0">
            <a:noAutofit/>
          </a:bodyPr>
          <a:lstStyle/>
          <a:p>
            <a:r>
              <a:rPr lang="vi-VN" sz="1100" b="1">
                <a:solidFill>
                  <a:srgbClr val="7AA2F7"/>
                </a:solidFill>
                <a:latin typeface="Aptos" panose="020B0004020202020204" pitchFamily="34" charset="0"/>
              </a:rPr>
              <a:t>Blob</a:t>
            </a:r>
          </a:p>
        </p:txBody>
      </p:sp>
      <p:sp>
        <p:nvSpPr>
          <p:cNvPr id="25" name="HTML Text 24">
            <a:extLst>
              <a:ext uri="{FF2B5EF4-FFF2-40B4-BE49-F238E27FC236}">
                <a16:creationId xmlns:a16="http://schemas.microsoft.com/office/drawing/2014/main" id="{3F6E994A-B755-AB3C-2CEC-02631A98C143}"/>
              </a:ext>
            </a:extLst>
          </p:cNvPr>
          <p:cNvSpPr txBox="1"/>
          <p:nvPr/>
        </p:nvSpPr>
        <p:spPr>
          <a:xfrm>
            <a:off x="10137996" y="4135711"/>
            <a:ext cx="1397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Production media</a:t>
            </a:r>
          </a:p>
        </p:txBody>
      </p:sp>
      <p:sp>
        <p:nvSpPr>
          <p:cNvPr id="26" name="HTML Text 25">
            <a:extLst>
              <a:ext uri="{FF2B5EF4-FFF2-40B4-BE49-F238E27FC236}">
                <a16:creationId xmlns:a16="http://schemas.microsoft.com/office/drawing/2014/main" id="{4BB12ACB-4793-2A80-A020-2435CC69F23B}"/>
              </a:ext>
            </a:extLst>
          </p:cNvPr>
          <p:cNvSpPr txBox="1"/>
          <p:nvPr/>
        </p:nvSpPr>
        <p:spPr>
          <a:xfrm>
            <a:off x="8470016" y="4577134"/>
            <a:ext cx="1397000" cy="276999"/>
          </a:xfrm>
          <a:prstGeom prst="rect">
            <a:avLst/>
          </a:prstGeom>
          <a:noFill/>
        </p:spPr>
        <p:txBody>
          <a:bodyPr vert="horz" wrap="square" lIns="0" tIns="0" rIns="0" bIns="0" rtlCol="0">
            <a:noAutofit/>
          </a:bodyPr>
          <a:lstStyle/>
          <a:p>
            <a:r>
              <a:rPr lang="vi-VN" sz="1100" b="1">
                <a:solidFill>
                  <a:srgbClr val="7AA2F7"/>
                </a:solidFill>
                <a:latin typeface="Aptos" panose="020B0004020202020204" pitchFamily="34" charset="0"/>
              </a:rPr>
              <a:t>Health</a:t>
            </a:r>
          </a:p>
        </p:txBody>
      </p:sp>
      <p:sp>
        <p:nvSpPr>
          <p:cNvPr id="27" name="HTML Text 26">
            <a:extLst>
              <a:ext uri="{FF2B5EF4-FFF2-40B4-BE49-F238E27FC236}">
                <a16:creationId xmlns:a16="http://schemas.microsoft.com/office/drawing/2014/main" id="{4F8F5EC1-9CCB-495B-194F-60EDA73436F1}"/>
              </a:ext>
            </a:extLst>
          </p:cNvPr>
          <p:cNvSpPr txBox="1"/>
          <p:nvPr/>
        </p:nvSpPr>
        <p:spPr>
          <a:xfrm>
            <a:off x="8470016" y="4845024"/>
            <a:ext cx="1397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/api/health</a:t>
            </a:r>
          </a:p>
        </p:txBody>
      </p:sp>
      <p:sp>
        <p:nvSpPr>
          <p:cNvPr id="28" name="TextBox 27">
            <a:extLst>
              <a:ext uri="{FF2B5EF4-FFF2-40B4-BE49-F238E27FC236}">
                <a16:creationId xmlns:a16="http://schemas.microsoft.com/office/drawing/2014/main" id="{AED9391E-69B6-37B9-B7EE-1A7F6D4CE19A}"/>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23 / 24</a:t>
            </a:r>
          </a:p>
        </p:txBody>
      </p:sp>
    </p:spTree>
    <p:extLst>
      <p:ext uri="{BB962C8B-B14F-4D97-AF65-F5344CB8AC3E}">
        <p14:creationId xmlns:p14="http://schemas.microsoft.com/office/powerpoint/2010/main" val="4225592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B26"/>
        </a:solidFill>
        <a:effectLst/>
      </p:bgPr>
    </p:bg>
    <p:spTree>
      <p:nvGrpSpPr>
        <p:cNvPr id="1" name=""/>
        <p:cNvGrpSpPr/>
        <p:nvPr/>
      </p:nvGrpSpPr>
      <p:grpSpPr>
        <a:xfrm>
          <a:off x="0" y="0"/>
          <a:ext cx="0" cy="0"/>
          <a:chOff x="0" y="0"/>
          <a:chExt cx="0" cy="0"/>
        </a:xfrm>
      </p:grpSpPr>
      <p:sp>
        <p:nvSpPr>
          <p:cNvPr id="2" name="HTML Shape 1">
            <a:extLst>
              <a:ext uri="{FF2B5EF4-FFF2-40B4-BE49-F238E27FC236}">
                <a16:creationId xmlns:a16="http://schemas.microsoft.com/office/drawing/2014/main" id="{2445AA4B-0C56-7014-9E7A-B4C2C7FD406F}"/>
              </a:ext>
            </a:extLst>
          </p:cNvPr>
          <p:cNvSpPr/>
          <p:nvPr/>
        </p:nvSpPr>
        <p:spPr>
          <a:xfrm>
            <a:off x="565873" y="2634005"/>
            <a:ext cx="2140614" cy="1088048"/>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HTML Shape 2">
            <a:extLst>
              <a:ext uri="{FF2B5EF4-FFF2-40B4-BE49-F238E27FC236}">
                <a16:creationId xmlns:a16="http://schemas.microsoft.com/office/drawing/2014/main" id="{BC811294-144C-22C0-6140-925EBA3B0593}"/>
              </a:ext>
            </a:extLst>
          </p:cNvPr>
          <p:cNvSpPr/>
          <p:nvPr/>
        </p:nvSpPr>
        <p:spPr>
          <a:xfrm>
            <a:off x="2777221" y="2634005"/>
            <a:ext cx="2140713" cy="1088048"/>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HTML Shape 3">
            <a:extLst>
              <a:ext uri="{FF2B5EF4-FFF2-40B4-BE49-F238E27FC236}">
                <a16:creationId xmlns:a16="http://schemas.microsoft.com/office/drawing/2014/main" id="{00755F31-A6CF-A55B-26E0-537E75E9D383}"/>
              </a:ext>
            </a:extLst>
          </p:cNvPr>
          <p:cNvSpPr/>
          <p:nvPr/>
        </p:nvSpPr>
        <p:spPr>
          <a:xfrm>
            <a:off x="565873" y="3798407"/>
            <a:ext cx="2140614" cy="1088048"/>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TML Shape 4">
            <a:extLst>
              <a:ext uri="{FF2B5EF4-FFF2-40B4-BE49-F238E27FC236}">
                <a16:creationId xmlns:a16="http://schemas.microsoft.com/office/drawing/2014/main" id="{360BA231-7449-BC9A-6CF0-1E94FFF51EF8}"/>
              </a:ext>
            </a:extLst>
          </p:cNvPr>
          <p:cNvSpPr/>
          <p:nvPr/>
        </p:nvSpPr>
        <p:spPr>
          <a:xfrm>
            <a:off x="2777221" y="3798407"/>
            <a:ext cx="2140713" cy="1088048"/>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TML Shape 5">
            <a:extLst>
              <a:ext uri="{FF2B5EF4-FFF2-40B4-BE49-F238E27FC236}">
                <a16:creationId xmlns:a16="http://schemas.microsoft.com/office/drawing/2014/main" id="{D935B4C9-C8C0-BE58-74F5-CA6726D01039}"/>
              </a:ext>
            </a:extLst>
          </p:cNvPr>
          <p:cNvSpPr/>
          <p:nvPr/>
        </p:nvSpPr>
        <p:spPr>
          <a:xfrm>
            <a:off x="5097985" y="2634005"/>
            <a:ext cx="6528142" cy="70454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TML Shape 6">
            <a:extLst>
              <a:ext uri="{FF2B5EF4-FFF2-40B4-BE49-F238E27FC236}">
                <a16:creationId xmlns:a16="http://schemas.microsoft.com/office/drawing/2014/main" id="{97C09552-745B-E4D0-D109-3C577E4897DA}"/>
              </a:ext>
            </a:extLst>
          </p:cNvPr>
          <p:cNvSpPr/>
          <p:nvPr/>
        </p:nvSpPr>
        <p:spPr>
          <a:xfrm>
            <a:off x="5097985" y="3407959"/>
            <a:ext cx="6528142" cy="704542"/>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TML Shape 7">
            <a:extLst>
              <a:ext uri="{FF2B5EF4-FFF2-40B4-BE49-F238E27FC236}">
                <a16:creationId xmlns:a16="http://schemas.microsoft.com/office/drawing/2014/main" id="{6E6B2373-366A-5457-4A74-03E7B6B6FCF6}"/>
              </a:ext>
            </a:extLst>
          </p:cNvPr>
          <p:cNvSpPr/>
          <p:nvPr/>
        </p:nvSpPr>
        <p:spPr>
          <a:xfrm>
            <a:off x="5097985" y="4181914"/>
            <a:ext cx="6528142" cy="704541"/>
          </a:xfrm>
          <a:prstGeom prst="roundRect">
            <a:avLst/>
          </a:prstGeom>
          <a:solidFill>
            <a:srgbClr val="24283B"/>
          </a:solidFill>
          <a:ln w="6430" cap="flat" cmpd="sng" algn="ctr">
            <a:solidFill>
              <a:srgbClr val="C0CA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HTML Text 8">
            <a:extLst>
              <a:ext uri="{FF2B5EF4-FFF2-40B4-BE49-F238E27FC236}">
                <a16:creationId xmlns:a16="http://schemas.microsoft.com/office/drawing/2014/main" id="{285ACCCA-B475-7162-F1F5-653B03566D22}"/>
              </a:ext>
            </a:extLst>
          </p:cNvPr>
          <p:cNvSpPr txBox="1"/>
          <p:nvPr/>
        </p:nvSpPr>
        <p:spPr>
          <a:xfrm>
            <a:off x="565873" y="1366351"/>
            <a:ext cx="11087100" cy="276999"/>
          </a:xfrm>
          <a:prstGeom prst="rect">
            <a:avLst/>
          </a:prstGeom>
          <a:noFill/>
        </p:spPr>
        <p:txBody>
          <a:bodyPr vert="horz" wrap="square" lIns="0" tIns="0" rIns="0" bIns="0" rtlCol="0">
            <a:noAutofit/>
          </a:bodyPr>
          <a:lstStyle/>
          <a:p>
            <a:r>
              <a:rPr lang="vi-VN" sz="600" b="1">
                <a:solidFill>
                  <a:srgbClr val="7AA2F7"/>
                </a:solidFill>
                <a:latin typeface="Consolas" panose="020B0609020204030204" pitchFamily="49" charset="0"/>
              </a:rPr>
              <a:t>22 · TỔNG KẾT</a:t>
            </a:r>
          </a:p>
        </p:txBody>
      </p:sp>
      <p:sp>
        <p:nvSpPr>
          <p:cNvPr id="10" name="HTML Text 9">
            <a:extLst>
              <a:ext uri="{FF2B5EF4-FFF2-40B4-BE49-F238E27FC236}">
                <a16:creationId xmlns:a16="http://schemas.microsoft.com/office/drawing/2014/main" id="{03284A92-A88B-A238-ED47-F668157DBBA3}"/>
              </a:ext>
            </a:extLst>
          </p:cNvPr>
          <p:cNvSpPr txBox="1"/>
          <p:nvPr/>
        </p:nvSpPr>
        <p:spPr>
          <a:xfrm>
            <a:off x="565873" y="1588472"/>
            <a:ext cx="6781800" cy="276999"/>
          </a:xfrm>
          <a:prstGeom prst="rect">
            <a:avLst/>
          </a:prstGeom>
          <a:noFill/>
        </p:spPr>
        <p:txBody>
          <a:bodyPr vert="horz" wrap="square" lIns="0" tIns="0" rIns="0" bIns="0" rtlCol="0">
            <a:noAutofit/>
          </a:bodyPr>
          <a:lstStyle/>
          <a:p>
            <a:r>
              <a:rPr lang="vi-VN" sz="2700" b="1">
                <a:solidFill>
                  <a:srgbClr val="C0CAF5"/>
                </a:solidFill>
                <a:latin typeface="Aptos" panose="020B0004020202020204" pitchFamily="34" charset="0"/>
              </a:rPr>
              <a:t>CarHub đã hình thành một nền tảng hoàn chỉnh, có thể tiếp tục mở rộng</a:t>
            </a:r>
          </a:p>
        </p:txBody>
      </p:sp>
      <p:sp>
        <p:nvSpPr>
          <p:cNvPr id="11" name="HTML Text 10">
            <a:extLst>
              <a:ext uri="{FF2B5EF4-FFF2-40B4-BE49-F238E27FC236}">
                <a16:creationId xmlns:a16="http://schemas.microsoft.com/office/drawing/2014/main" id="{D32EC62D-F8C2-5547-EB90-11288514C03F}"/>
              </a:ext>
            </a:extLst>
          </p:cNvPr>
          <p:cNvSpPr txBox="1"/>
          <p:nvPr/>
        </p:nvSpPr>
        <p:spPr>
          <a:xfrm>
            <a:off x="700911" y="2779772"/>
            <a:ext cx="1892300" cy="276999"/>
          </a:xfrm>
          <a:prstGeom prst="rect">
            <a:avLst/>
          </a:prstGeom>
          <a:noFill/>
        </p:spPr>
        <p:txBody>
          <a:bodyPr vert="horz" wrap="square" lIns="0" tIns="0" rIns="0" bIns="0" rtlCol="0">
            <a:noAutofit/>
          </a:bodyPr>
          <a:lstStyle/>
          <a:p>
            <a:r>
              <a:rPr lang="vi-VN" sz="1900" b="1">
                <a:solidFill>
                  <a:srgbClr val="7AA2F7"/>
                </a:solidFill>
                <a:latin typeface="Aptos" panose="020B0004020202020204" pitchFamily="34" charset="0"/>
              </a:rPr>
              <a:t>19</a:t>
            </a:r>
          </a:p>
        </p:txBody>
      </p:sp>
      <p:sp>
        <p:nvSpPr>
          <p:cNvPr id="12" name="HTML Text 11">
            <a:extLst>
              <a:ext uri="{FF2B5EF4-FFF2-40B4-BE49-F238E27FC236}">
                <a16:creationId xmlns:a16="http://schemas.microsoft.com/office/drawing/2014/main" id="{F0A72681-02B1-CEF9-2E16-FC7A8E70A860}"/>
              </a:ext>
            </a:extLst>
          </p:cNvPr>
          <p:cNvSpPr txBox="1"/>
          <p:nvPr/>
        </p:nvSpPr>
        <p:spPr>
          <a:xfrm>
            <a:off x="700911" y="3201781"/>
            <a:ext cx="1892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model dữ liệu</a:t>
            </a:r>
          </a:p>
        </p:txBody>
      </p:sp>
      <p:sp>
        <p:nvSpPr>
          <p:cNvPr id="13" name="HTML Text 12">
            <a:extLst>
              <a:ext uri="{FF2B5EF4-FFF2-40B4-BE49-F238E27FC236}">
                <a16:creationId xmlns:a16="http://schemas.microsoft.com/office/drawing/2014/main" id="{75360D00-FFDC-0BD3-F56B-C6D0EF5D95B3}"/>
              </a:ext>
            </a:extLst>
          </p:cNvPr>
          <p:cNvSpPr txBox="1"/>
          <p:nvPr/>
        </p:nvSpPr>
        <p:spPr>
          <a:xfrm>
            <a:off x="2912259" y="2779772"/>
            <a:ext cx="1892300" cy="276999"/>
          </a:xfrm>
          <a:prstGeom prst="rect">
            <a:avLst/>
          </a:prstGeom>
          <a:noFill/>
        </p:spPr>
        <p:txBody>
          <a:bodyPr vert="horz" wrap="square" lIns="0" tIns="0" rIns="0" bIns="0" rtlCol="0">
            <a:noAutofit/>
          </a:bodyPr>
          <a:lstStyle/>
          <a:p>
            <a:r>
              <a:rPr lang="vi-VN" sz="1900" b="1">
                <a:solidFill>
                  <a:srgbClr val="7AA2F7"/>
                </a:solidFill>
                <a:latin typeface="Aptos" panose="020B0004020202020204" pitchFamily="34" charset="0"/>
              </a:rPr>
              <a:t>150</a:t>
            </a:r>
          </a:p>
        </p:txBody>
      </p:sp>
      <p:sp>
        <p:nvSpPr>
          <p:cNvPr id="14" name="HTML Text 13">
            <a:extLst>
              <a:ext uri="{FF2B5EF4-FFF2-40B4-BE49-F238E27FC236}">
                <a16:creationId xmlns:a16="http://schemas.microsoft.com/office/drawing/2014/main" id="{8786E46E-FD3B-947C-BA1E-12F7F30E1A79}"/>
              </a:ext>
            </a:extLst>
          </p:cNvPr>
          <p:cNvSpPr txBox="1"/>
          <p:nvPr/>
        </p:nvSpPr>
        <p:spPr>
          <a:xfrm>
            <a:off x="2912259" y="3201781"/>
            <a:ext cx="1892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tin xe catalog</a:t>
            </a:r>
          </a:p>
        </p:txBody>
      </p:sp>
      <p:sp>
        <p:nvSpPr>
          <p:cNvPr id="15" name="HTML Text 14">
            <a:extLst>
              <a:ext uri="{FF2B5EF4-FFF2-40B4-BE49-F238E27FC236}">
                <a16:creationId xmlns:a16="http://schemas.microsoft.com/office/drawing/2014/main" id="{FAEBC97D-DA84-9A3C-0210-19CC8D48B40C}"/>
              </a:ext>
            </a:extLst>
          </p:cNvPr>
          <p:cNvSpPr txBox="1"/>
          <p:nvPr/>
        </p:nvSpPr>
        <p:spPr>
          <a:xfrm>
            <a:off x="700911" y="3944174"/>
            <a:ext cx="1892300" cy="276999"/>
          </a:xfrm>
          <a:prstGeom prst="rect">
            <a:avLst/>
          </a:prstGeom>
          <a:noFill/>
        </p:spPr>
        <p:txBody>
          <a:bodyPr vert="horz" wrap="square" lIns="0" tIns="0" rIns="0" bIns="0" rtlCol="0">
            <a:noAutofit/>
          </a:bodyPr>
          <a:lstStyle/>
          <a:p>
            <a:r>
              <a:rPr lang="vi-VN" sz="1900" b="1">
                <a:solidFill>
                  <a:srgbClr val="7AA2F7"/>
                </a:solidFill>
                <a:latin typeface="Aptos" panose="020B0004020202020204" pitchFamily="34" charset="0"/>
              </a:rPr>
              <a:t>45</a:t>
            </a:r>
          </a:p>
        </p:txBody>
      </p:sp>
      <p:sp>
        <p:nvSpPr>
          <p:cNvPr id="16" name="HTML Text 15">
            <a:extLst>
              <a:ext uri="{FF2B5EF4-FFF2-40B4-BE49-F238E27FC236}">
                <a16:creationId xmlns:a16="http://schemas.microsoft.com/office/drawing/2014/main" id="{43414117-93D6-887F-484E-3414E54B8959}"/>
              </a:ext>
            </a:extLst>
          </p:cNvPr>
          <p:cNvSpPr txBox="1"/>
          <p:nvPr/>
        </p:nvSpPr>
        <p:spPr>
          <a:xfrm>
            <a:off x="700911" y="4366183"/>
            <a:ext cx="1892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bài cộng đồng seed</a:t>
            </a:r>
          </a:p>
        </p:txBody>
      </p:sp>
      <p:sp>
        <p:nvSpPr>
          <p:cNvPr id="17" name="HTML Text 16">
            <a:extLst>
              <a:ext uri="{FF2B5EF4-FFF2-40B4-BE49-F238E27FC236}">
                <a16:creationId xmlns:a16="http://schemas.microsoft.com/office/drawing/2014/main" id="{42B4572C-92DA-B856-4A9B-F5F42BBBFF0A}"/>
              </a:ext>
            </a:extLst>
          </p:cNvPr>
          <p:cNvSpPr txBox="1"/>
          <p:nvPr/>
        </p:nvSpPr>
        <p:spPr>
          <a:xfrm>
            <a:off x="2912259" y="3944174"/>
            <a:ext cx="1892300" cy="276999"/>
          </a:xfrm>
          <a:prstGeom prst="rect">
            <a:avLst/>
          </a:prstGeom>
          <a:noFill/>
        </p:spPr>
        <p:txBody>
          <a:bodyPr vert="horz" wrap="square" lIns="0" tIns="0" rIns="0" bIns="0" rtlCol="0">
            <a:noAutofit/>
          </a:bodyPr>
          <a:lstStyle/>
          <a:p>
            <a:r>
              <a:rPr lang="vi-VN" sz="1900" b="1">
                <a:solidFill>
                  <a:srgbClr val="7AA2F7"/>
                </a:solidFill>
                <a:latin typeface="Aptos" panose="020B0004020202020204" pitchFamily="34" charset="0"/>
              </a:rPr>
              <a:t>3</a:t>
            </a:r>
          </a:p>
        </p:txBody>
      </p:sp>
      <p:sp>
        <p:nvSpPr>
          <p:cNvPr id="18" name="HTML Text 17">
            <a:extLst>
              <a:ext uri="{FF2B5EF4-FFF2-40B4-BE49-F238E27FC236}">
                <a16:creationId xmlns:a16="http://schemas.microsoft.com/office/drawing/2014/main" id="{43E4D6CE-41D9-7D54-3D6A-FF941F8B3819}"/>
              </a:ext>
            </a:extLst>
          </p:cNvPr>
          <p:cNvSpPr txBox="1"/>
          <p:nvPr/>
        </p:nvSpPr>
        <p:spPr>
          <a:xfrm>
            <a:off x="2912259" y="4366183"/>
            <a:ext cx="18923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vai trò người dùng</a:t>
            </a:r>
          </a:p>
        </p:txBody>
      </p:sp>
      <p:sp>
        <p:nvSpPr>
          <p:cNvPr id="19" name="HTML Text 18">
            <a:extLst>
              <a:ext uri="{FF2B5EF4-FFF2-40B4-BE49-F238E27FC236}">
                <a16:creationId xmlns:a16="http://schemas.microsoft.com/office/drawing/2014/main" id="{965919FD-29A8-D742-C6C2-B3FD8221A97B}"/>
              </a:ext>
            </a:extLst>
          </p:cNvPr>
          <p:cNvSpPr txBox="1"/>
          <p:nvPr/>
        </p:nvSpPr>
        <p:spPr>
          <a:xfrm>
            <a:off x="5220162" y="2745065"/>
            <a:ext cx="63119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NOW</a:t>
            </a:r>
          </a:p>
        </p:txBody>
      </p:sp>
      <p:sp>
        <p:nvSpPr>
          <p:cNvPr id="20" name="HTML Text 19">
            <a:extLst>
              <a:ext uri="{FF2B5EF4-FFF2-40B4-BE49-F238E27FC236}">
                <a16:creationId xmlns:a16="http://schemas.microsoft.com/office/drawing/2014/main" id="{9169B437-23B0-44D0-5D47-71F64DB74D9B}"/>
              </a:ext>
            </a:extLst>
          </p:cNvPr>
          <p:cNvSpPr txBox="1"/>
          <p:nvPr/>
        </p:nvSpPr>
        <p:spPr>
          <a:xfrm>
            <a:off x="5220162" y="2870009"/>
            <a:ext cx="6311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Full-stack vận hành</a:t>
            </a:r>
          </a:p>
        </p:txBody>
      </p:sp>
      <p:sp>
        <p:nvSpPr>
          <p:cNvPr id="21" name="HTML Text 20">
            <a:extLst>
              <a:ext uri="{FF2B5EF4-FFF2-40B4-BE49-F238E27FC236}">
                <a16:creationId xmlns:a16="http://schemas.microsoft.com/office/drawing/2014/main" id="{01B6B7B7-39C2-11A4-B51F-48C51264839F}"/>
              </a:ext>
            </a:extLst>
          </p:cNvPr>
          <p:cNvSpPr txBox="1"/>
          <p:nvPr/>
        </p:nvSpPr>
        <p:spPr>
          <a:xfrm>
            <a:off x="5220162" y="3079549"/>
            <a:ext cx="6311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Community · Garage · Marketplace · AI · Admin</a:t>
            </a:r>
          </a:p>
        </p:txBody>
      </p:sp>
      <p:sp>
        <p:nvSpPr>
          <p:cNvPr id="22" name="HTML Text 21">
            <a:extLst>
              <a:ext uri="{FF2B5EF4-FFF2-40B4-BE49-F238E27FC236}">
                <a16:creationId xmlns:a16="http://schemas.microsoft.com/office/drawing/2014/main" id="{48200EEF-1B01-11DF-FA28-31477E69034E}"/>
              </a:ext>
            </a:extLst>
          </p:cNvPr>
          <p:cNvSpPr txBox="1"/>
          <p:nvPr/>
        </p:nvSpPr>
        <p:spPr>
          <a:xfrm>
            <a:off x="5220162" y="3519020"/>
            <a:ext cx="63119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NEXT</a:t>
            </a:r>
          </a:p>
        </p:txBody>
      </p:sp>
      <p:sp>
        <p:nvSpPr>
          <p:cNvPr id="23" name="HTML Text 22">
            <a:extLst>
              <a:ext uri="{FF2B5EF4-FFF2-40B4-BE49-F238E27FC236}">
                <a16:creationId xmlns:a16="http://schemas.microsoft.com/office/drawing/2014/main" id="{D89FC80B-6520-A21A-E45C-2D00CEF6F5B2}"/>
              </a:ext>
            </a:extLst>
          </p:cNvPr>
          <p:cNvSpPr txBox="1"/>
          <p:nvPr/>
        </p:nvSpPr>
        <p:spPr>
          <a:xfrm>
            <a:off x="5220162" y="3643963"/>
            <a:ext cx="6311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Nâng độ tin cậy giao dịch</a:t>
            </a:r>
          </a:p>
        </p:txBody>
      </p:sp>
      <p:sp>
        <p:nvSpPr>
          <p:cNvPr id="24" name="HTML Text 23">
            <a:extLst>
              <a:ext uri="{FF2B5EF4-FFF2-40B4-BE49-F238E27FC236}">
                <a16:creationId xmlns:a16="http://schemas.microsoft.com/office/drawing/2014/main" id="{B6AB05C4-5EE6-3734-16EB-EFB8AC4496E0}"/>
              </a:ext>
            </a:extLst>
          </p:cNvPr>
          <p:cNvSpPr txBox="1"/>
          <p:nvPr/>
        </p:nvSpPr>
        <p:spPr>
          <a:xfrm>
            <a:off x="5220162" y="3853504"/>
            <a:ext cx="6311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Xác minh xe, lịch sử bảo dưỡng, kiểm định</a:t>
            </a:r>
          </a:p>
        </p:txBody>
      </p:sp>
      <p:sp>
        <p:nvSpPr>
          <p:cNvPr id="25" name="HTML Text 24">
            <a:extLst>
              <a:ext uri="{FF2B5EF4-FFF2-40B4-BE49-F238E27FC236}">
                <a16:creationId xmlns:a16="http://schemas.microsoft.com/office/drawing/2014/main" id="{F5FB0B15-6C1B-B0FF-8B59-EC03F6A63FE9}"/>
              </a:ext>
            </a:extLst>
          </p:cNvPr>
          <p:cNvSpPr txBox="1"/>
          <p:nvPr/>
        </p:nvSpPr>
        <p:spPr>
          <a:xfrm>
            <a:off x="5220162" y="4292974"/>
            <a:ext cx="6311900" cy="276999"/>
          </a:xfrm>
          <a:prstGeom prst="rect">
            <a:avLst/>
          </a:prstGeom>
          <a:noFill/>
        </p:spPr>
        <p:txBody>
          <a:bodyPr vert="horz" wrap="square" lIns="0" tIns="0" rIns="0" bIns="0" rtlCol="0">
            <a:noAutofit/>
          </a:bodyPr>
          <a:lstStyle/>
          <a:p>
            <a:r>
              <a:rPr lang="vi-VN" sz="500" b="1">
                <a:solidFill>
                  <a:srgbClr val="7AA2F7"/>
                </a:solidFill>
                <a:latin typeface="Consolas" panose="020B0609020204030204" pitchFamily="49" charset="0"/>
              </a:rPr>
              <a:t>LATER</a:t>
            </a:r>
          </a:p>
        </p:txBody>
      </p:sp>
      <p:sp>
        <p:nvSpPr>
          <p:cNvPr id="26" name="HTML Text 25">
            <a:extLst>
              <a:ext uri="{FF2B5EF4-FFF2-40B4-BE49-F238E27FC236}">
                <a16:creationId xmlns:a16="http://schemas.microsoft.com/office/drawing/2014/main" id="{E96099F9-EF15-A4B0-F245-5FC3B0D53695}"/>
              </a:ext>
            </a:extLst>
          </p:cNvPr>
          <p:cNvSpPr txBox="1"/>
          <p:nvPr/>
        </p:nvSpPr>
        <p:spPr>
          <a:xfrm>
            <a:off x="5220162" y="4417918"/>
            <a:ext cx="6311900" cy="276999"/>
          </a:xfrm>
          <a:prstGeom prst="rect">
            <a:avLst/>
          </a:prstGeom>
          <a:noFill/>
        </p:spPr>
        <p:txBody>
          <a:bodyPr vert="horz" wrap="square" lIns="0" tIns="0" rIns="0" bIns="0" rtlCol="0">
            <a:noAutofit/>
          </a:bodyPr>
          <a:lstStyle/>
          <a:p>
            <a:r>
              <a:rPr lang="vi-VN" sz="900" b="1">
                <a:solidFill>
                  <a:srgbClr val="C0CAF5"/>
                </a:solidFill>
                <a:latin typeface="Aptos" panose="020B0004020202020204" pitchFamily="34" charset="0"/>
              </a:rPr>
              <a:t>Thông minh hóa trải nghiệm</a:t>
            </a:r>
          </a:p>
        </p:txBody>
      </p:sp>
      <p:sp>
        <p:nvSpPr>
          <p:cNvPr id="27" name="HTML Text 26">
            <a:extLst>
              <a:ext uri="{FF2B5EF4-FFF2-40B4-BE49-F238E27FC236}">
                <a16:creationId xmlns:a16="http://schemas.microsoft.com/office/drawing/2014/main" id="{F2D3B82B-08E5-0BF6-B2F3-9A8D67456664}"/>
              </a:ext>
            </a:extLst>
          </p:cNvPr>
          <p:cNvSpPr txBox="1"/>
          <p:nvPr/>
        </p:nvSpPr>
        <p:spPr>
          <a:xfrm>
            <a:off x="5220162" y="4627458"/>
            <a:ext cx="6311900" cy="276999"/>
          </a:xfrm>
          <a:prstGeom prst="rect">
            <a:avLst/>
          </a:prstGeom>
          <a:noFill/>
        </p:spPr>
        <p:txBody>
          <a:bodyPr vert="horz" wrap="square" lIns="0" tIns="0" rIns="0" bIns="0" rtlCol="0">
            <a:noAutofit/>
          </a:bodyPr>
          <a:lstStyle/>
          <a:p>
            <a:r>
              <a:rPr lang="vi-VN" sz="700">
                <a:solidFill>
                  <a:srgbClr val="565F89"/>
                </a:solidFill>
                <a:latin typeface="Aptos" panose="020B0004020202020204" pitchFamily="34" charset="0"/>
              </a:rPr>
              <a:t>Realtime chat, recommendation, analytics</a:t>
            </a:r>
          </a:p>
        </p:txBody>
      </p:sp>
      <p:sp>
        <p:nvSpPr>
          <p:cNvPr id="28" name="HTML Text 27">
            <a:extLst>
              <a:ext uri="{FF2B5EF4-FFF2-40B4-BE49-F238E27FC236}">
                <a16:creationId xmlns:a16="http://schemas.microsoft.com/office/drawing/2014/main" id="{EEC837E4-BBC6-F20E-BDE6-9F0B0033469D}"/>
              </a:ext>
            </a:extLst>
          </p:cNvPr>
          <p:cNvSpPr txBox="1"/>
          <p:nvPr/>
        </p:nvSpPr>
        <p:spPr>
          <a:xfrm>
            <a:off x="565873" y="5094694"/>
            <a:ext cx="11087100" cy="276999"/>
          </a:xfrm>
          <a:prstGeom prst="rect">
            <a:avLst/>
          </a:prstGeom>
          <a:noFill/>
        </p:spPr>
        <p:txBody>
          <a:bodyPr vert="horz" wrap="square" lIns="0" tIns="0" rIns="0" bIns="0" rtlCol="0">
            <a:noAutofit/>
          </a:bodyPr>
          <a:lstStyle/>
          <a:p>
            <a:pPr algn="ctr"/>
            <a:r>
              <a:rPr lang="vi-VN" sz="1100">
                <a:solidFill>
                  <a:srgbClr val="A9B1D6"/>
                </a:solidFill>
                <a:latin typeface="Aptos" panose="020B0004020202020204" pitchFamily="34" charset="0"/>
              </a:rPr>
              <a:t>CarHub biến nội dung, tài sản xe và giao dịch thành một hành trình liền mạch.</a:t>
            </a:r>
          </a:p>
        </p:txBody>
      </p:sp>
      <p:sp>
        <p:nvSpPr>
          <p:cNvPr id="29" name="HTML Text 28">
            <a:extLst>
              <a:ext uri="{FF2B5EF4-FFF2-40B4-BE49-F238E27FC236}">
                <a16:creationId xmlns:a16="http://schemas.microsoft.com/office/drawing/2014/main" id="{C21DC3CC-CD42-C171-FA04-3D3DDEAB71A2}"/>
              </a:ext>
            </a:extLst>
          </p:cNvPr>
          <p:cNvSpPr txBox="1"/>
          <p:nvPr/>
        </p:nvSpPr>
        <p:spPr>
          <a:xfrm>
            <a:off x="257215" y="6558223"/>
            <a:ext cx="889000" cy="276999"/>
          </a:xfrm>
          <a:prstGeom prst="rect">
            <a:avLst/>
          </a:prstGeom>
          <a:noFill/>
        </p:spPr>
        <p:txBody>
          <a:bodyPr vert="horz" wrap="square" lIns="0" tIns="0" rIns="0" bIns="0" rtlCol="0">
            <a:noAutofit/>
          </a:bodyPr>
          <a:lstStyle/>
          <a:p>
            <a:r>
              <a:rPr lang="vi-VN" sz="600">
                <a:solidFill>
                  <a:srgbClr val="565F89"/>
                </a:solidFill>
                <a:latin typeface="Aptos" panose="020B0004020202020204" pitchFamily="34" charset="0"/>
              </a:rPr>
              <a:t>CARHUB GARAGE · Q&amp;A</a:t>
            </a:r>
          </a:p>
        </p:txBody>
      </p:sp>
      <p:sp>
        <p:nvSpPr>
          <p:cNvPr id="30" name="TextBox 29">
            <a:extLst>
              <a:ext uri="{FF2B5EF4-FFF2-40B4-BE49-F238E27FC236}">
                <a16:creationId xmlns:a16="http://schemas.microsoft.com/office/drawing/2014/main" id="{9092E97F-24AB-9E52-2251-8F851BDD8B1B}"/>
              </a:ext>
            </a:extLst>
          </p:cNvPr>
          <p:cNvSpPr txBox="1"/>
          <p:nvPr/>
        </p:nvSpPr>
        <p:spPr>
          <a:xfrm>
            <a:off x="11531600" y="6477000"/>
            <a:ext cx="457200" cy="276999"/>
          </a:xfrm>
          <a:prstGeom prst="rect">
            <a:avLst/>
          </a:prstGeom>
          <a:noFill/>
        </p:spPr>
        <p:txBody>
          <a:bodyPr vert="horz" rtlCol="0">
            <a:spAutoFit/>
          </a:bodyPr>
          <a:lstStyle/>
          <a:p>
            <a:pPr algn="r"/>
            <a:r>
              <a:rPr lang="vi-VN" sz="600">
                <a:solidFill>
                  <a:srgbClr val="565F89"/>
                </a:solidFill>
                <a:latin typeface="Consolas" panose="020B0609020204030204" pitchFamily="49" charset="0"/>
              </a:rPr>
              <a:t>24 / 24</a:t>
            </a:r>
          </a:p>
        </p:txBody>
      </p:sp>
    </p:spTree>
    <p:extLst>
      <p:ext uri="{BB962C8B-B14F-4D97-AF65-F5344CB8AC3E}">
        <p14:creationId xmlns:p14="http://schemas.microsoft.com/office/powerpoint/2010/main" val="3291541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5650</Words>
  <Application>Microsoft Office PowerPoint</Application>
  <PresentationFormat>Widescreen</PresentationFormat>
  <Paragraphs>655</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Pham Duy Quang</dc:creator>
  <cp:lastModifiedBy>Pham Duy Quang</cp:lastModifiedBy>
  <cp:revision>2</cp:revision>
  <dcterms:created xsi:type="dcterms:W3CDTF">2026-06-15T09:49:37Z</dcterms:created>
  <dcterms:modified xsi:type="dcterms:W3CDTF">2026-06-15T12:36:09Z</dcterms:modified>
</cp:coreProperties>
</file>